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9580db23-a610-b421-328a-aa835cda14d7}">
          <p14:sldIdLst>
            <p14:sldId id="256"/>
            <p14:sldId id="257"/>
            <p14:sldId id="258"/>
            <p14:sldId id="259"/>
          </p14:sldIdLst>
        </p14:section>
        <p14:section name="Quy trình mua hàng" id="{a8c4d878-b394-c13e-7b76-f2cee161d305}">
          <p14:sldIdLst>
            <p14:sldId id="260"/>
            <p14:sldId id="261"/>
            <p14:sldId id="262"/>
            <p14:sldId id="263"/>
            <p14:sldId id="264"/>
            <p14:sldId id="265"/>
            <p14:sldId id="266"/>
          </p14:sldIdLst>
        </p14:section>
        <p14:section name="Trợ lý ảo Bé Sen" id="{6c7ee223-a585-4c50-f6f0-f0353c8a996b}">
          <p14:sldIdLst>
            <p14:sldId id="267"/>
            <p14:sldId id="268"/>
            <p14:sldId id="269"/>
            <p14:sldId id="270"/>
            <p14:sldId id="271"/>
            <p14:sldId id="272"/>
            <p14:sldId id="273"/>
            <p14:sldId id="274"/>
            <p14:sldId id="275"/>
          </p14:sldIdLst>
        </p14:section>
        <p14:section name="Kết quả" id="{cea8d2cc-8555-3c12-a298-871394c30986}">
          <p14:sldIdLst>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Trước</c:v>
                </c:pt>
              </c:strCache>
            </c:strRef>
          </c:tx>
          <c:spPr>
            <a:solidFill>
              <a:srgbClr val="C9D3CC"/>
            </a:solidFill>
            <a:effectLst/>
          </c:spPr>
          <c:invertIfNegative val="0"/>
          <c:dLbls>
            <c:numFmt formatCode="#,##0&quot; ms&quot;" sourceLinked="0"/>
            <c:txPr>
              <a:bodyPr/>
              <a:lstStyle/>
              <a:p>
                <a:pPr>
                  <a:defRPr b="0" i="0" strike="noStrike" sz="1200" u="none">
                    <a:solidFill>
                      <a:srgbClr val="1F2A22"/>
                    </a:solidFill>
                    <a:latin typeface="+mn-lt"/>
                  </a:defRPr>
                </a:pPr>
              </a:p>
            </c:txPr>
            <c:showLegendKey val="0"/>
            <c:showVal val="1"/>
            <c:showCatName val="0"/>
            <c:showSerName val="0"/>
            <c:showPercent val="0"/>
            <c:showBubbleSize val="0"/>
            <c:showLeaderLines val="0"/>
          </c:dLbls>
          <c:cat>
            <c:multiLvlStrRef>
              <c:f>Sheet1!$A$2:$A$3</c:f>
              <c:multiLvlStrCache>
                <c:ptCount val="2"/>
                <c:lvl>
                  <c:pt idx="0">
                    <c:v>Trang chủ → Sản phẩm</c:v>
                  </c:pt>
                  <c:pt idx="1">
                    <c:v>Danh sách → Chi tiết</c:v>
                  </c:pt>
                </c:lvl>
              </c:multiLvlStrCache>
            </c:multiLvlStrRef>
          </c:cat>
          <c:val>
            <c:numRef>
              <c:f>Sheet1!$B$2:$B$3</c:f>
              <c:numCache>
                <c:formatCode>General</c:formatCode>
                <c:ptCount val="2"/>
                <c:pt idx="0">
                  <c:v>949</c:v>
                </c:pt>
                <c:pt idx="1">
                  <c:v>472</c:v>
                </c:pt>
              </c:numCache>
            </c:numRef>
          </c:val>
        </c:ser>
        <c:ser>
          <c:idx val="1"/>
          <c:order val="1"/>
          <c:tx>
            <c:strRef>
              <c:f>Sheet1!$C$1</c:f>
              <c:strCache>
                <c:ptCount val="1"/>
                <c:pt idx="0">
                  <c:v>Sau</c:v>
                </c:pt>
              </c:strCache>
            </c:strRef>
          </c:tx>
          <c:spPr>
            <a:solidFill>
              <a:srgbClr val="2F6B3A"/>
            </a:solidFill>
            <a:effectLst/>
          </c:spPr>
          <c:invertIfNegative val="0"/>
          <c:dLbls>
            <c:numFmt formatCode="#,##0&quot; ms&quot;" sourceLinked="0"/>
            <c:txPr>
              <a:bodyPr/>
              <a:lstStyle/>
              <a:p>
                <a:pPr>
                  <a:defRPr b="0" i="0" strike="noStrike" sz="1200" u="none">
                    <a:solidFill>
                      <a:srgbClr val="1F2A22"/>
                    </a:solidFill>
                    <a:latin typeface="+mn-lt"/>
                  </a:defRPr>
                </a:pPr>
              </a:p>
            </c:txPr>
            <c:showLegendKey val="0"/>
            <c:showVal val="1"/>
            <c:showCatName val="0"/>
            <c:showSerName val="0"/>
            <c:showPercent val="0"/>
            <c:showBubbleSize val="0"/>
            <c:showLeaderLines val="0"/>
          </c:dLbls>
          <c:cat>
            <c:multiLvlStrRef>
              <c:f>Sheet1!$A$2:$A$3</c:f>
              <c:multiLvlStrCache>
                <c:ptCount val="2"/>
                <c:lvl>
                  <c:pt idx="0">
                    <c:v>Trang chủ → Sản phẩm</c:v>
                  </c:pt>
                  <c:pt idx="1">
                    <c:v>Danh sách → Chi tiết</c:v>
                  </c:pt>
                </c:lvl>
              </c:multiLvlStrCache>
            </c:multiLvlStrRef>
          </c:cat>
          <c:val>
            <c:numRef>
              <c:f>Sheet1!$C$2:$C$3</c:f>
              <c:numCache>
                <c:formatCode>General</c:formatCode>
                <c:ptCount val="2"/>
                <c:pt idx="0">
                  <c:v>119</c:v>
                </c:pt>
                <c:pt idx="1">
                  <c:v>68</c:v>
                </c:pt>
              </c:numCache>
            </c:numRef>
          </c:val>
        </c:ser>
        <c:dLbls>
          <c:numFmt formatCode="#,##0&quot; ms&quot;" sourceLinked="0"/>
          <c:txPr>
            <a:bodyPr/>
            <a:lstStyle/>
            <a:p>
              <a:pPr>
                <a:defRPr b="0" i="0" strike="noStrike" sz="1200" u="none">
                  <a:solidFill>
                    <a:srgbClr val="1F2A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A22"/>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A2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22"/>
                </a:solidFill>
                <a:latin typeface="+mn-lt"/>
              </a:defRPr>
            </a:pPr>
            <a:r>
              <a:rPr sz="1400" b="0" i="0" u="none" strike="noStrike">
                <a:solidFill>
                  <a:srgbClr val="1F2A22"/>
                </a:solidFill>
                <a:latin typeface="+mn-lt"/>
              </a:rPr>
              <a:t>Doanh thu theo tháng (triệu đồng)</a:t>
            </a:r>
          </a:p>
        </c:rich>
      </c:tx>
      <c:layout/>
      <c:overlay val="0"/>
    </c:title>
    <c:autoTitleDeleted val="0"/>
    <c:plotArea>
      <c:layout/>
      <c:barChart>
        <c:barDir val="col"/>
        <c:grouping val="clustered"/>
        <c:varyColors val="0"/>
        <c:ser>
          <c:idx val="0"/>
          <c:order val="0"/>
          <c:tx>
            <c:strRef>
              <c:f>Sheet1!$B$1</c:f>
              <c:strCache>
                <c:ptCount val="1"/>
                <c:pt idx="0">
                  <c:v>Doanh thu (triệu đồng)</c:v>
                </c:pt>
              </c:strCache>
            </c:strRef>
          </c:tx>
          <c:spPr>
            <a:solidFill>
              <a:srgbClr val="4F9D69"/>
            </a:solidFill>
            <a:effectLst/>
          </c:spPr>
          <c:invertIfNegative val="0"/>
          <c:dLbls>
            <c:numFmt formatCode="0.0" sourceLinked="0"/>
            <c:txPr>
              <a:bodyPr/>
              <a:lstStyle/>
              <a:p>
                <a:pPr>
                  <a:defRPr b="0" i="0" strike="noStrike" sz="1200" u="none">
                    <a:solidFill>
                      <a:srgbClr val="1F2A22"/>
                    </a:solidFill>
                    <a:latin typeface="+mn-lt"/>
                  </a:defRPr>
                </a:pPr>
              </a:p>
            </c:txPr>
            <c:showLegendKey val="0"/>
            <c:showVal val="1"/>
            <c:showCatName val="0"/>
            <c:showSerName val="0"/>
            <c:showPercent val="0"/>
            <c:showBubbleSize val="0"/>
            <c:showLeaderLines val="0"/>
          </c:dLbls>
          <c:cat>
            <c:multiLvlStrRef>
              <c:f>Sheet1!$A$2:$A$4</c:f>
              <c:multiLvlStrCache>
                <c:ptCount val="3"/>
                <c:lvl>
                  <c:pt idx="0">
                    <c:v>07/2026</c:v>
                  </c:pt>
                  <c:pt idx="1">
                    <c:v>08/2026</c:v>
                  </c:pt>
                  <c:pt idx="2">
                    <c:v>09/2026</c:v>
                  </c:pt>
                </c:lvl>
              </c:multiLvlStrCache>
            </c:multiLvlStrRef>
          </c:cat>
          <c:val>
            <c:numRef>
              <c:f>Sheet1!$B$2:$B$4</c:f>
              <c:numCache>
                <c:formatCode>General</c:formatCode>
                <c:ptCount val="3"/>
                <c:pt idx="0">
                  <c:v>5.67</c:v>
                </c:pt>
                <c:pt idx="1">
                  <c:v>11.29</c:v>
                </c:pt>
                <c:pt idx="2">
                  <c:v>14.24</c:v>
                </c:pt>
              </c:numCache>
            </c:numRef>
          </c:val>
        </c:ser>
        <c:dLbls>
          <c:numFmt formatCode="0.0" sourceLinked="0"/>
          <c:txPr>
            <a:bodyPr/>
            <a:lstStyle/>
            <a:p>
              <a:pPr>
                <a:defRPr b="0" i="0" strike="noStrike" sz="1200" u="none">
                  <a:solidFill>
                    <a:srgbClr val="1F2A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A2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22"/>
                </a:solidFill>
                <a:latin typeface="+mn-lt"/>
              </a:defRPr>
            </a:pPr>
            <a:r>
              <a:rPr sz="1400" b="0" i="0" u="none" strike="noStrike">
                <a:solidFill>
                  <a:srgbClr val="1F2A22"/>
                </a:solidFill>
                <a:latin typeface="+mn-lt"/>
              </a:rPr>
              <a:t>Top 5 sản phẩm (nghìn đồng)</a:t>
            </a:r>
          </a:p>
        </c:rich>
      </c:tx>
      <c:layout/>
      <c:overlay val="0"/>
    </c:title>
    <c:autoTitleDeleted val="0"/>
    <c:plotArea>
      <c:layout/>
      <c:barChart>
        <c:barDir val="bar"/>
        <c:grouping val="clustered"/>
        <c:varyColors val="0"/>
        <c:ser>
          <c:idx val="0"/>
          <c:order val="0"/>
          <c:tx>
            <c:strRef>
              <c:f>Sheet1!$B$1</c:f>
              <c:strCache>
                <c:ptCount val="1"/>
                <c:pt idx="0">
                  <c:v>Doanh số (nghìn đồng)</c:v>
                </c:pt>
              </c:strCache>
            </c:strRef>
          </c:tx>
          <c:spPr>
            <a:solidFill>
              <a:srgbClr val="2F6B3A"/>
            </a:solidFill>
            <a:effectLst/>
          </c:spPr>
          <c:invertIfNegative val="0"/>
          <c:dLbls>
            <c:numFmt formatCode="#,##0" sourceLinked="0"/>
            <c:txPr>
              <a:bodyPr/>
              <a:lstStyle/>
              <a:p>
                <a:pPr>
                  <a:defRPr b="0" i="0" strike="noStrike" sz="1100" u="none">
                    <a:solidFill>
                      <a:srgbClr val="1F2A22"/>
                    </a:solidFill>
                    <a:latin typeface="+mn-lt"/>
                  </a:defRPr>
                </a:pPr>
              </a:p>
            </c:txPr>
            <c:showLegendKey val="0"/>
            <c:showVal val="1"/>
            <c:showCatName val="0"/>
            <c:showSerName val="0"/>
            <c:showPercent val="0"/>
            <c:showBubbleSize val="0"/>
            <c:showLeaderLines val="0"/>
          </c:dLbls>
          <c:cat>
            <c:multiLvlStrRef>
              <c:f>Sheet1!$A$2:$A$6</c:f>
              <c:multiLvlStrCache>
                <c:ptCount val="5"/>
                <c:lvl>
                  <c:pt idx="0">
                    <c:v>Sen đá Liên Đài</c:v>
                  </c:pt>
                  <c:pt idx="1">
                    <c:v>Tiểu cảnh Sa Mạc</c:v>
                  </c:pt>
                  <c:pt idx="2">
                    <c:v>Chuỗi Ngọc Bi</c:v>
                  </c:pt>
                  <c:pt idx="3">
                    <c:v>Sen đá Kim Cương</c:v>
                  </c:pt>
                  <c:pt idx="4">
                    <c:v>Terrarium Bình Cầu</c:v>
                  </c:pt>
                </c:lvl>
              </c:multiLvlStrCache>
            </c:multiLvlStrRef>
          </c:cat>
          <c:val>
            <c:numRef>
              <c:f>Sheet1!$B$2:$B$6</c:f>
              <c:numCache>
                <c:formatCode>General</c:formatCode>
                <c:ptCount val="5"/>
                <c:pt idx="0">
                  <c:v>1485</c:v>
                </c:pt>
                <c:pt idx="1">
                  <c:v>1750</c:v>
                </c:pt>
                <c:pt idx="2">
                  <c:v>1782</c:v>
                </c:pt>
                <c:pt idx="3">
                  <c:v>1785</c:v>
                </c:pt>
                <c:pt idx="4">
                  <c:v>8372</c:v>
                </c:pt>
              </c:numCache>
            </c:numRef>
          </c:val>
        </c:ser>
        <c:dLbls>
          <c:numFmt formatCode="#,##0" sourceLinked="0"/>
          <c:txPr>
            <a:bodyPr/>
            <a:lstStyle/>
            <a:p>
              <a:pPr>
                <a:defRPr b="0" i="0" strike="noStrike" sz="1100" u="none">
                  <a:solidFill>
                    <a:srgbClr val="1F2A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A22"/>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Thầy. Em là Trần Thị Thanh Hương, MSSV 25210281. Đề tài của em là website thương mại điện tử bán sen đá Sen Đá Xinh, tích hợp trợ lý ảo Bé Sen tư vấn cho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5 phần. Phần trọng tâm là trợ lý ảo Bé Sen – được tô đậm.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Thị trường TMĐT tăng trưởng nhanh nhưng cửa hàng nhỏ vẫn bán thủ công qua tin nhắn. Đề tài giải quyết bằng website riêng có trợ lý 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dùng Next.js App Router: trang render trên máy chủ, nghiệp vụ chạy bằng Server Actions, dữ liệu qua Prisma. Claude chỉ là tùy chọn cho chatbot.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toàn bộ hành trình của khách. Mỗi bước được tối ưu để khách mua nhanh nhất, phía admin xử lý đơn theo vòng đời trạng thái.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Tìm kiếm tiếng Việt không dấu dùng cột searchText tính sẵn. Bộ lọc dùng URL nên chia sẻ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Hiệu ứng bay vào giỏ cho phản hồi trực quan. Giỏ lưu trên trình duyệt và đồng bộ giữa nhiều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Thanh toán chỉ một trang. Máy chủ tính lại toàn bộ giá. Nếu chuyển khoản, trang cảm ơn hiện mã QR VietQR.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điểm kỹ thuật quan trọng: dùng updateMany có điều kiện stock &gt;= qty trong transaction, nên không thể bán vượt kho kể cả khi đặt đồng thời. Em đã kiểm thử với 2 request song song.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có dashboard, quản lý sản phẩm với công tắc bật tắt tức thì, xử lý đơn và cài đặt. Đổi cài đặt là website và Bé Sen cập nhật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trọng tâm của đề tài: trợ lý ảo Bé 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Bé Sen không chỉ trả lời câu hỏi cố định mà tra dữ liệu thật, tư vấn có ngân sách, tra đơn và nhận số điện thoại.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 thuần có thể bịa giá – không chấp nhận được trong bán hàng. Vì vậy em chọn kiến trúc lai: luật quyết định nội dung, AI chỉ diễn đạt.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tin nhắn đi qua server action, được lưu lại, rồi engine dùng 3 nguồn tri thức: dữ liệu shop, FAQ do admin soạn và từ điển ý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bước xử lý ngôn ngữ. Công thức chấm điểm ưu tiên cụm dài. Ví dụ: câu hỏi về thời gian giao hàng có chữ ship nhưng FAQ thắng vì khớp cụm dài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Thứ tự ưu tiên: các bước 1-3 xử lý ngữ cảnh hội thoại trước, rồi mới chấm điểm. Câu không hiểu được đánh dấu để admin bổ sung.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Tư vấn dựa trên chấm điểm sản phẩm. Hội thoại nhiều lượt nhờ lưu context; tra cứu đơn bảo mật như trang tra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bật AI, Claude nhận dữ liệu đã tra cứu và chỉ diễn đạt lại. Có cache prompt để giảm chi phí và luôn có đường lui về bộ luật.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tin nhắn đều được lưu kèm ý định và nguồn trả lời. Admin xem câu chưa hiểu và bổ sung kiến thức. Bộ 46 ca kiểm thử chạy lại sau mỗi lần sửa.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Tối ưu hiệu năng giảm thời gian chuyển trang 7-8 lần. Bảo mật đối chiếu OWASP Top 10. Kiểm thử E2E 14 kịch bản đều đạt.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sinh tự động có seed cố định, khách hư cấu. Doanh thu tăng đều; terrarium bán chạy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kết quả và các hướng phát triển, đặc biệt mở rộng Bé 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thêm giỏ, hỏi Bé Sen dưới 100k, thanh toán QR, tra đơn qua chat, admin xác nhận đơn, đổi phí ship và hỏi lại Bé 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tx1">
                    <a:alpha val="60000"/>
                  </a:schemeClr>
                </a:solidFill>
              </a:rPr>
              <a:t>Sen Đá Xinh  ·  IE104.F31.CN1.CNTT  ·  Trần Thị Thanh Hương – 25210281</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F3D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743200"/>
            <a:ext cx="7498080" cy="118872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822960" y="3977640"/>
            <a:ext cx="7498080" cy="1097280"/>
          </a:xfrm>
          <a:prstGeom prst="rect">
            <a:avLst/>
          </a:prstGeom>
          <a:noFill/>
          <a:ln/>
        </p:spPr>
        <p:txBody>
          <a:bodyPr wrap="square" rtlCol="0"/>
          <a:lstStyle>
            <a:lvl1pPr algn="l" indent="0" marL="0">
              <a:buNone/>
              <a:defRPr lang="en-US" sz="1800" dirty="0">
                <a:solidFill>
                  <a:schemeClr val="accent3"/>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_DARK">
    <p:bg>
      <p:bgPr>
        <a:solidFill>
          <a:srgbClr val="1F3D2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2.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2.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2-1.png"/><Relationship Id="rId3" Type="http://schemas.openxmlformats.org/officeDocument/2006/relationships/image" Target="../media/image-22-2.png"/><Relationship Id="rId4" Type="http://schemas.openxmlformats.org/officeDocument/2006/relationships/image" Target="../media/image-22-3.png"/><Relationship Id="rId5" Type="http://schemas.openxmlformats.org/officeDocument/2006/relationships/image" Target="../media/image-22-4.png"/><Relationship Id="rId6" Type="http://schemas.openxmlformats.org/officeDocument/2006/relationships/slideLayout" Target="../slideLayouts/slideLayout2.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slideLayout" Target="../slideLayouts/slideLayout2.xml"/><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bg"/>
          <p:cNvSpPr/>
          <p:nvPr/>
        </p:nvSpPr>
        <p:spPr>
          <a:xfrm>
            <a:off x="548640" y="457200"/>
            <a:ext cx="868680" cy="731520"/>
          </a:xfrm>
          <a:prstGeom prst="roundRect">
            <a:avLst>
              <a:gd name="adj" fmla="val 12500"/>
            </a:avLst>
          </a:prstGeom>
          <a:solidFill>
            <a:srgbClr val="FFFFFF"/>
          </a:solidFill>
          <a:ln/>
        </p:spPr>
      </p:sp>
      <p:pic>
        <p:nvPicPr>
          <p:cNvPr id="3" name="UIT logo" descr="Logo UIT">    </p:cNvPr>
          <p:cNvPicPr>
            <a:picLocks noChangeAspect="1"/>
          </p:cNvPicPr>
          <p:nvPr/>
        </p:nvPicPr>
        <p:blipFill>
          <a:blip r:embed="rId1"/>
          <a:stretch>
            <a:fillRect/>
          </a:stretch>
        </p:blipFill>
        <p:spPr>
          <a:xfrm>
            <a:off x="621792" y="527304"/>
            <a:ext cx="731520" cy="591312"/>
          </a:xfrm>
          <a:prstGeom prst="rect">
            <a:avLst/>
          </a:prstGeom>
        </p:spPr>
      </p:pic>
      <p:sp>
        <p:nvSpPr>
          <p:cNvPr id="4" name="Text 1"/>
          <p:cNvSpPr txBox="1"/>
          <p:nvPr/>
        </p:nvSpPr>
        <p:spPr>
          <a:xfrm>
            <a:off x="1600200" y="475488"/>
            <a:ext cx="5486400" cy="731520"/>
          </a:xfrm>
          <a:prstGeom prst="rect">
            <a:avLst/>
          </a:prstGeom>
          <a:noFill/>
          <a:ln/>
        </p:spPr>
        <p:txBody>
          <a:bodyPr wrap="square" lIns="0" tIns="0" rIns="0" bIns="0" rtlCol="0" anchor="ctr"/>
          <a:lstStyle/>
          <a:p>
            <a:pPr indent="0" marL="0">
              <a:buNone/>
            </a:pPr>
            <a:r>
              <a:rPr lang="en-US" sz="1300" dirty="0">
                <a:solidFill>
                  <a:schemeClr val="accent3"/>
                </a:solidFill>
              </a:rPr>
              <a:t>TRƯỜNG ĐẠI HỌC CÔNG NGHỆ THÔNG TIN – ĐHQG TP.HCM</a:t>
            </a:r>
            <a:endParaRPr lang="en-US" sz="1300" dirty="0"/>
          </a:p>
          <a:p>
            <a:pPr indent="0" marL="0">
              <a:buNone/>
            </a:pPr>
            <a:r>
              <a:rPr lang="en-US" sz="1300" dirty="0">
                <a:solidFill>
                  <a:schemeClr val="accent3"/>
                </a:solidFill>
              </a:rPr>
              <a:t>Khoa Khoa học và Kỹ thuật Thông tin</a:t>
            </a:r>
            <a:endParaRPr lang="en-US" sz="1300" dirty="0"/>
          </a:p>
        </p:txBody>
      </p:sp>
      <p:sp>
        <p:nvSpPr>
          <p:cNvPr id="5" name="Text 2"/>
          <p:cNvSpPr txBox="1"/>
          <p:nvPr/>
        </p:nvSpPr>
        <p:spPr>
          <a:xfrm>
            <a:off x="548640" y="1737360"/>
            <a:ext cx="6217920" cy="365760"/>
          </a:xfrm>
          <a:prstGeom prst="rect">
            <a:avLst/>
          </a:prstGeom>
          <a:noFill/>
          <a:ln/>
        </p:spPr>
        <p:txBody>
          <a:bodyPr wrap="square" lIns="0" tIns="0" rIns="0" bIns="0" rtlCol="0" anchor="t"/>
          <a:lstStyle/>
          <a:p>
            <a:pPr indent="0" marL="0">
              <a:buNone/>
            </a:pPr>
            <a:r>
              <a:rPr lang="en-US" sz="1400" b="1" spc="100" kern="0" dirty="0">
                <a:solidFill>
                  <a:schemeClr val="accent6"/>
                </a:solidFill>
              </a:rPr>
              <a:t>ĐỒ ÁN MÔN HỌC · INTERNET VÀ CÔNG NGHỆ WEB</a:t>
            </a:r>
            <a:endParaRPr lang="en-US" sz="1400" dirty="0"/>
          </a:p>
        </p:txBody>
      </p:sp>
      <p:sp>
        <p:nvSpPr>
          <p:cNvPr id="6" name="Text 3"/>
          <p:cNvSpPr txBox="1"/>
          <p:nvPr/>
        </p:nvSpPr>
        <p:spPr>
          <a:xfrm>
            <a:off x="548640" y="2148840"/>
            <a:ext cx="6126480" cy="1737360"/>
          </a:xfrm>
          <a:prstGeom prst="rect">
            <a:avLst/>
          </a:prstGeom>
          <a:noFill/>
          <a:ln/>
        </p:spPr>
        <p:txBody>
          <a:bodyPr wrap="square" lIns="0" tIns="0" rIns="0" bIns="0" rtlCol="0" anchor="ctr"/>
          <a:lstStyle/>
          <a:p>
            <a:pPr indent="0" marL="0">
              <a:buNone/>
            </a:pPr>
            <a:r>
              <a:rPr lang="en-US" sz="3400" b="1" dirty="0">
                <a:solidFill>
                  <a:schemeClr val="bg1"/>
                </a:solidFill>
                <a:latin typeface="Cambria" pitchFamily="34" charset="0"/>
                <a:ea typeface="Cambria" pitchFamily="34" charset="-122"/>
                <a:cs typeface="Cambria" pitchFamily="34" charset="-120"/>
              </a:rPr>
              <a:t>Website bán sen đá Sen Đá Xinh &amp; trợ lý ảo Bé Sen</a:t>
            </a:r>
            <a:endParaRPr lang="en-US" sz="3400" dirty="0"/>
          </a:p>
        </p:txBody>
      </p:sp>
      <p:sp>
        <p:nvSpPr>
          <p:cNvPr id="7" name="Text 4"/>
          <p:cNvSpPr txBox="1"/>
          <p:nvPr/>
        </p:nvSpPr>
        <p:spPr>
          <a:xfrm>
            <a:off x="548640" y="3977640"/>
            <a:ext cx="6035040" cy="640080"/>
          </a:xfrm>
          <a:prstGeom prst="rect">
            <a:avLst/>
          </a:prstGeom>
          <a:noFill/>
          <a:ln/>
        </p:spPr>
        <p:txBody>
          <a:bodyPr wrap="square" lIns="0" tIns="0" rIns="0" bIns="0" rtlCol="0" anchor="t"/>
          <a:lstStyle/>
          <a:p>
            <a:pPr indent="0" marL="0">
              <a:buNone/>
            </a:pPr>
            <a:r>
              <a:rPr lang="en-US" sz="1700" dirty="0">
                <a:solidFill>
                  <a:schemeClr val="accent3"/>
                </a:solidFill>
              </a:rPr>
              <a:t>Xây dựng website thương mại điện tử bán sen đá tích hợp trợ lý ảo tư vấn</a:t>
            </a:r>
            <a:endParaRPr lang="en-US" sz="1700" dirty="0"/>
          </a:p>
        </p:txBody>
      </p:sp>
      <p:sp>
        <p:nvSpPr>
          <p:cNvPr id="8" name="Text 5"/>
          <p:cNvSpPr txBox="1"/>
          <p:nvPr/>
        </p:nvSpPr>
        <p:spPr>
          <a:xfrm>
            <a:off x="548640" y="4892040"/>
            <a:ext cx="5852160" cy="1097280"/>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rPr>
              <a:t>GVHD:  </a:t>
            </a:r>
            <a:pPr indent="0" marL="0">
              <a:spcAft>
                <a:spcPts val="400"/>
              </a:spcAft>
              <a:buNone/>
            </a:pPr>
            <a:r>
              <a:rPr lang="en-US" sz="1500" dirty="0">
                <a:solidFill>
                  <a:schemeClr val="bg1"/>
                </a:solidFill>
              </a:rPr>
              <a:t>ThS. Mai Xuân Hùng</a:t>
            </a:r>
            <a:endParaRPr lang="en-US" sz="1500" dirty="0"/>
          </a:p>
          <a:p>
            <a:pPr indent="0" marL="0">
              <a:spcAft>
                <a:spcPts val="400"/>
              </a:spcAft>
              <a:buNone/>
            </a:pPr>
            <a:r>
              <a:rPr lang="en-US" sz="1500" b="1" dirty="0">
                <a:solidFill>
                  <a:schemeClr val="accent3"/>
                </a:solidFill>
              </a:rPr>
              <a:t>SVTH:  </a:t>
            </a:r>
            <a:pPr indent="0" marL="0">
              <a:spcAft>
                <a:spcPts val="400"/>
              </a:spcAft>
              <a:buNone/>
            </a:pPr>
            <a:r>
              <a:rPr lang="en-US" sz="1500" dirty="0">
                <a:solidFill>
                  <a:schemeClr val="bg1"/>
                </a:solidFill>
              </a:rPr>
              <a:t>Trần Thị Thanh Hương – 25210281</a:t>
            </a:r>
            <a:endParaRPr lang="en-US" sz="1500" dirty="0"/>
          </a:p>
          <a:p>
            <a:pPr indent="0" marL="0">
              <a:spcAft>
                <a:spcPts val="400"/>
              </a:spcAft>
              <a:buNone/>
            </a:pPr>
            <a:r>
              <a:rPr lang="en-US" sz="1500" b="1" dirty="0">
                <a:solidFill>
                  <a:schemeClr val="accent3"/>
                </a:solidFill>
              </a:rPr>
              <a:t>Lớp:  </a:t>
            </a:r>
            <a:pPr indent="0" marL="0">
              <a:spcAft>
                <a:spcPts val="400"/>
              </a:spcAft>
              <a:buNone/>
            </a:pPr>
            <a:r>
              <a:rPr lang="en-US" sz="1500" dirty="0">
                <a:solidFill>
                  <a:schemeClr val="bg1"/>
                </a:solidFill>
              </a:rPr>
              <a:t>IE104.F31.CN1.CNTT</a:t>
            </a:r>
            <a:endParaRPr lang="en-US" sz="1500" dirty="0"/>
          </a:p>
        </p:txBody>
      </p:sp>
      <p:sp>
        <p:nvSpPr>
          <p:cNvPr id="9" name="hero frame"/>
          <p:cNvSpPr/>
          <p:nvPr/>
        </p:nvSpPr>
        <p:spPr>
          <a:xfrm>
            <a:off x="6903720" y="1051560"/>
            <a:ext cx="4800600" cy="3108960"/>
          </a:xfrm>
          <a:prstGeom prst="roundRect">
            <a:avLst>
              <a:gd name="adj" fmla="val 4412"/>
            </a:avLst>
          </a:prstGeom>
          <a:solidFill>
            <a:srgbClr val="FFFFFF"/>
          </a:solidFill>
          <a:ln/>
          <a:effectLst>
            <a:outerShdw sx="100000" sy="100000" kx="0" ky="0" algn="bl" rotWithShape="0" blurRad="127000" dist="38100" dir="5400000">
              <a:srgbClr val="1F3D26">
                <a:alpha val="18000"/>
              </a:srgbClr>
            </a:outerShdw>
          </a:effectLst>
        </p:spPr>
      </p:sp>
      <p:pic>
        <p:nvPicPr>
          <p:cNvPr id="10" name="hero" descr="Trang chủ Sen Đá Xinh">    </p:cNvPr>
          <p:cNvPicPr>
            <a:picLocks noChangeAspect="1"/>
          </p:cNvPicPr>
          <p:nvPr/>
        </p:nvPicPr>
        <p:blipFill>
          <a:blip r:embed="rId2"/>
          <a:stretch>
            <a:fillRect/>
          </a:stretch>
        </p:blipFill>
        <p:spPr>
          <a:xfrm>
            <a:off x="6995160" y="1163003"/>
            <a:ext cx="4617720" cy="2886075"/>
          </a:xfrm>
          <a:prstGeom prst="rect">
            <a:avLst/>
          </a:prstGeom>
        </p:spPr>
      </p:pic>
      <p:sp>
        <p:nvSpPr>
          <p:cNvPr id="11" name="chat frame"/>
          <p:cNvSpPr/>
          <p:nvPr/>
        </p:nvSpPr>
        <p:spPr>
          <a:xfrm>
            <a:off x="9692640" y="3291840"/>
            <a:ext cx="1828800" cy="3108960"/>
          </a:xfrm>
          <a:prstGeom prst="roundRect">
            <a:avLst>
              <a:gd name="adj" fmla="val 7500"/>
            </a:avLst>
          </a:prstGeom>
          <a:solidFill>
            <a:srgbClr val="FFFFFF"/>
          </a:solidFill>
          <a:ln/>
          <a:effectLst>
            <a:outerShdw sx="100000" sy="100000" kx="0" ky="0" algn="bl" rotWithShape="0" blurRad="127000" dist="38100" dir="5400000">
              <a:srgbClr val="1F3D26">
                <a:alpha val="18000"/>
              </a:srgbClr>
            </a:outerShdw>
          </a:effectLst>
        </p:spPr>
      </p:sp>
      <p:pic>
        <p:nvPicPr>
          <p:cNvPr id="12" name="chat" descr="Bé Sen tư vấn">    </p:cNvPr>
          <p:cNvPicPr>
            <a:picLocks noChangeAspect="1"/>
          </p:cNvPicPr>
          <p:nvPr/>
        </p:nvPicPr>
        <p:blipFill>
          <a:blip r:embed="rId3"/>
          <a:stretch>
            <a:fillRect/>
          </a:stretch>
        </p:blipFill>
        <p:spPr>
          <a:xfrm>
            <a:off x="9738360" y="3379216"/>
            <a:ext cx="1737360" cy="2934208"/>
          </a:xfrm>
          <a:prstGeom prst="rect">
            <a:avLst/>
          </a:prstGeom>
        </p:spPr>
      </p:pic>
      <p:sp>
        <p:nvSpPr>
          <p:cNvPr id="13" name="Text 8"/>
          <p:cNvSpPr txBox="1"/>
          <p:nvPr/>
        </p:nvSpPr>
        <p:spPr>
          <a:xfrm>
            <a:off x="6949440" y="5989320"/>
            <a:ext cx="2560320" cy="320040"/>
          </a:xfrm>
          <a:prstGeom prst="rect">
            <a:avLst/>
          </a:prstGeom>
          <a:noFill/>
          <a:ln/>
        </p:spPr>
        <p:txBody>
          <a:bodyPr wrap="square" lIns="0" tIns="0" rIns="0" bIns="0" rtlCol="0" anchor="t"/>
          <a:lstStyle/>
          <a:p>
            <a:pPr indent="0" marL="0">
              <a:buNone/>
            </a:pPr>
            <a:r>
              <a:rPr lang="en-US" sz="1300" dirty="0">
                <a:solidFill>
                  <a:schemeClr val="accent3"/>
                </a:solidFill>
              </a:rPr>
              <a:t>Tháng 10/2026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Nội dung trình bày</a:t>
            </a:r>
            <a:endParaRPr lang="en-US" sz="3000" dirty="0"/>
          </a:p>
        </p:txBody>
      </p:sp>
      <p:sp>
        <p:nvSpPr>
          <p:cNvPr id="3" name="agenda 1"/>
          <p:cNvSpPr/>
          <p:nvPr/>
        </p:nvSpPr>
        <p:spPr>
          <a:xfrm>
            <a:off x="548640" y="1417320"/>
            <a:ext cx="6766560" cy="777240"/>
          </a:xfrm>
          <a:prstGeom prst="roundRect">
            <a:avLst>
              <a:gd name="adj" fmla="val 14118"/>
            </a:avLst>
          </a:prstGeom>
          <a:solidFill>
            <a:schemeClr val="bg2"/>
          </a:solidFill>
          <a:ln/>
        </p:spPr>
      </p:sp>
      <p:sp>
        <p:nvSpPr>
          <p:cNvPr id="4" name="Text 2"/>
          <p:cNvSpPr txBox="1"/>
          <p:nvPr/>
        </p:nvSpPr>
        <p:spPr>
          <a:xfrm>
            <a:off x="777240" y="1417320"/>
            <a:ext cx="731520" cy="77724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01</a:t>
            </a:r>
            <a:endParaRPr lang="en-US" sz="2600" dirty="0"/>
          </a:p>
        </p:txBody>
      </p:sp>
      <p:sp>
        <p:nvSpPr>
          <p:cNvPr id="5" name="Text 3"/>
          <p:cNvSpPr txBox="1"/>
          <p:nvPr/>
        </p:nvSpPr>
        <p:spPr>
          <a:xfrm>
            <a:off x="1600200" y="1490472"/>
            <a:ext cx="5486400" cy="365760"/>
          </a:xfrm>
          <a:prstGeom prst="rect">
            <a:avLst/>
          </a:prstGeom>
          <a:noFill/>
          <a:ln/>
        </p:spPr>
        <p:txBody>
          <a:bodyPr wrap="square" lIns="0" tIns="0" rIns="0" bIns="0" rtlCol="0" anchor="t"/>
          <a:lstStyle/>
          <a:p>
            <a:pPr indent="0" marL="0">
              <a:buNone/>
            </a:pPr>
            <a:r>
              <a:rPr lang="en-US" sz="1800" b="1" dirty="0">
                <a:solidFill>
                  <a:schemeClr val="tx2"/>
                </a:solidFill>
              </a:rPr>
              <a:t>Bài toán &amp; mục tiêu</a:t>
            </a:r>
            <a:endParaRPr lang="en-US" sz="1800" dirty="0"/>
          </a:p>
        </p:txBody>
      </p:sp>
      <p:sp>
        <p:nvSpPr>
          <p:cNvPr id="6" name="Text 4"/>
          <p:cNvSpPr txBox="1"/>
          <p:nvPr/>
        </p:nvSpPr>
        <p:spPr>
          <a:xfrm>
            <a:off x="1600200" y="1837944"/>
            <a:ext cx="5486400" cy="292608"/>
          </a:xfrm>
          <a:prstGeom prst="rect">
            <a:avLst/>
          </a:prstGeom>
          <a:noFill/>
          <a:ln/>
        </p:spPr>
        <p:txBody>
          <a:bodyPr wrap="square" lIns="0" tIns="0" rIns="0" bIns="0" rtlCol="0" anchor="t"/>
          <a:lstStyle/>
          <a:p>
            <a:pPr indent="0" marL="0">
              <a:buNone/>
            </a:pPr>
            <a:r>
              <a:rPr lang="en-US" sz="1300" dirty="0">
                <a:solidFill>
                  <a:schemeClr val="tx1"/>
                </a:solidFill>
              </a:rPr>
              <a:t>Vì sao cửa hàng sen đá nhỏ cần website riêng</a:t>
            </a:r>
            <a:endParaRPr lang="en-US" sz="1300" dirty="0"/>
          </a:p>
        </p:txBody>
      </p:sp>
      <p:sp>
        <p:nvSpPr>
          <p:cNvPr id="7" name="agenda 2"/>
          <p:cNvSpPr/>
          <p:nvPr/>
        </p:nvSpPr>
        <p:spPr>
          <a:xfrm>
            <a:off x="548640" y="2359152"/>
            <a:ext cx="6766560" cy="777240"/>
          </a:xfrm>
          <a:prstGeom prst="roundRect">
            <a:avLst>
              <a:gd name="adj" fmla="val 14118"/>
            </a:avLst>
          </a:prstGeom>
          <a:solidFill>
            <a:schemeClr val="bg2"/>
          </a:solidFill>
          <a:ln/>
        </p:spPr>
      </p:sp>
      <p:sp>
        <p:nvSpPr>
          <p:cNvPr id="8" name="Text 6"/>
          <p:cNvSpPr txBox="1"/>
          <p:nvPr/>
        </p:nvSpPr>
        <p:spPr>
          <a:xfrm>
            <a:off x="777240" y="2359152"/>
            <a:ext cx="731520" cy="77724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02</a:t>
            </a:r>
            <a:endParaRPr lang="en-US" sz="2600" dirty="0"/>
          </a:p>
        </p:txBody>
      </p:sp>
      <p:sp>
        <p:nvSpPr>
          <p:cNvPr id="9" name="Text 7"/>
          <p:cNvSpPr txBox="1"/>
          <p:nvPr/>
        </p:nvSpPr>
        <p:spPr>
          <a:xfrm>
            <a:off x="1600200" y="2432304"/>
            <a:ext cx="5486400" cy="365760"/>
          </a:xfrm>
          <a:prstGeom prst="rect">
            <a:avLst/>
          </a:prstGeom>
          <a:noFill/>
          <a:ln/>
        </p:spPr>
        <p:txBody>
          <a:bodyPr wrap="square" lIns="0" tIns="0" rIns="0" bIns="0" rtlCol="0" anchor="t"/>
          <a:lstStyle/>
          <a:p>
            <a:pPr indent="0" marL="0">
              <a:buNone/>
            </a:pPr>
            <a:r>
              <a:rPr lang="en-US" sz="1800" b="1" dirty="0">
                <a:solidFill>
                  <a:schemeClr val="tx2"/>
                </a:solidFill>
              </a:rPr>
              <a:t>Công nghệ &amp; kiến trúc</a:t>
            </a:r>
            <a:endParaRPr lang="en-US" sz="1800" dirty="0"/>
          </a:p>
        </p:txBody>
      </p:sp>
      <p:sp>
        <p:nvSpPr>
          <p:cNvPr id="10" name="Text 8"/>
          <p:cNvSpPr txBox="1"/>
          <p:nvPr/>
        </p:nvSpPr>
        <p:spPr>
          <a:xfrm>
            <a:off x="1600200" y="2779776"/>
            <a:ext cx="5486400" cy="292608"/>
          </a:xfrm>
          <a:prstGeom prst="rect">
            <a:avLst/>
          </a:prstGeom>
          <a:noFill/>
          <a:ln/>
        </p:spPr>
        <p:txBody>
          <a:bodyPr wrap="square" lIns="0" tIns="0" rIns="0" bIns="0" rtlCol="0" anchor="t"/>
          <a:lstStyle/>
          <a:p>
            <a:pPr indent="0" marL="0">
              <a:buNone/>
            </a:pPr>
            <a:r>
              <a:rPr lang="en-US" sz="1300" dirty="0">
                <a:solidFill>
                  <a:schemeClr val="tx1"/>
                </a:solidFill>
              </a:rPr>
              <a:t>Next.js 15, React 19, Prisma, Tailwind CSS</a:t>
            </a:r>
            <a:endParaRPr lang="en-US" sz="1300" dirty="0"/>
          </a:p>
        </p:txBody>
      </p:sp>
      <p:sp>
        <p:nvSpPr>
          <p:cNvPr id="11" name="agenda 3"/>
          <p:cNvSpPr/>
          <p:nvPr/>
        </p:nvSpPr>
        <p:spPr>
          <a:xfrm>
            <a:off x="548640" y="3300984"/>
            <a:ext cx="6766560" cy="777240"/>
          </a:xfrm>
          <a:prstGeom prst="roundRect">
            <a:avLst>
              <a:gd name="adj" fmla="val 14118"/>
            </a:avLst>
          </a:prstGeom>
          <a:solidFill>
            <a:schemeClr val="bg2"/>
          </a:solidFill>
          <a:ln/>
        </p:spPr>
      </p:sp>
      <p:sp>
        <p:nvSpPr>
          <p:cNvPr id="12" name="Text 10"/>
          <p:cNvSpPr txBox="1"/>
          <p:nvPr/>
        </p:nvSpPr>
        <p:spPr>
          <a:xfrm>
            <a:off x="777240" y="3300984"/>
            <a:ext cx="731520" cy="77724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03</a:t>
            </a:r>
            <a:endParaRPr lang="en-US" sz="2600" dirty="0"/>
          </a:p>
        </p:txBody>
      </p:sp>
      <p:sp>
        <p:nvSpPr>
          <p:cNvPr id="13" name="Text 11"/>
          <p:cNvSpPr txBox="1"/>
          <p:nvPr/>
        </p:nvSpPr>
        <p:spPr>
          <a:xfrm>
            <a:off x="1600200" y="3374136"/>
            <a:ext cx="5486400" cy="365760"/>
          </a:xfrm>
          <a:prstGeom prst="rect">
            <a:avLst/>
          </a:prstGeom>
          <a:noFill/>
          <a:ln/>
        </p:spPr>
        <p:txBody>
          <a:bodyPr wrap="square" lIns="0" tIns="0" rIns="0" bIns="0" rtlCol="0" anchor="t"/>
          <a:lstStyle/>
          <a:p>
            <a:pPr indent="0" marL="0">
              <a:buNone/>
            </a:pPr>
            <a:r>
              <a:rPr lang="en-US" sz="1800" b="1" dirty="0">
                <a:solidFill>
                  <a:schemeClr val="tx2"/>
                </a:solidFill>
              </a:rPr>
              <a:t>Quy trình mua hàng</a:t>
            </a:r>
            <a:endParaRPr lang="en-US" sz="1800" dirty="0"/>
          </a:p>
        </p:txBody>
      </p:sp>
      <p:sp>
        <p:nvSpPr>
          <p:cNvPr id="14" name="Text 12"/>
          <p:cNvSpPr txBox="1"/>
          <p:nvPr/>
        </p:nvSpPr>
        <p:spPr>
          <a:xfrm>
            <a:off x="1600200" y="3721608"/>
            <a:ext cx="5486400" cy="292608"/>
          </a:xfrm>
          <a:prstGeom prst="rect">
            <a:avLst/>
          </a:prstGeom>
          <a:noFill/>
          <a:ln/>
        </p:spPr>
        <p:txBody>
          <a:bodyPr wrap="square" lIns="0" tIns="0" rIns="0" bIns="0" rtlCol="0" anchor="t"/>
          <a:lstStyle/>
          <a:p>
            <a:pPr indent="0" marL="0">
              <a:buNone/>
            </a:pPr>
            <a:r>
              <a:rPr lang="en-US" sz="1300" dirty="0">
                <a:solidFill>
                  <a:schemeClr val="tx1"/>
                </a:solidFill>
              </a:rPr>
              <a:t>Từ khám phá sản phẩm đến theo dõi đơn</a:t>
            </a:r>
            <a:endParaRPr lang="en-US" sz="1300" dirty="0"/>
          </a:p>
        </p:txBody>
      </p:sp>
      <p:sp>
        <p:nvSpPr>
          <p:cNvPr id="15" name="agenda 4"/>
          <p:cNvSpPr/>
          <p:nvPr/>
        </p:nvSpPr>
        <p:spPr>
          <a:xfrm>
            <a:off x="548640" y="4242816"/>
            <a:ext cx="6766560" cy="777240"/>
          </a:xfrm>
          <a:prstGeom prst="roundRect">
            <a:avLst>
              <a:gd name="adj" fmla="val 14118"/>
            </a:avLst>
          </a:prstGeom>
          <a:solidFill>
            <a:schemeClr val="accent1"/>
          </a:solidFill>
          <a:ln/>
        </p:spPr>
      </p:sp>
      <p:sp>
        <p:nvSpPr>
          <p:cNvPr id="16" name="Text 14"/>
          <p:cNvSpPr txBox="1"/>
          <p:nvPr/>
        </p:nvSpPr>
        <p:spPr>
          <a:xfrm>
            <a:off x="777240" y="4242816"/>
            <a:ext cx="731520" cy="777240"/>
          </a:xfrm>
          <a:prstGeom prst="rect">
            <a:avLst/>
          </a:prstGeom>
          <a:noFill/>
          <a:ln/>
        </p:spPr>
        <p:txBody>
          <a:bodyPr wrap="square" lIns="0" tIns="0" rIns="0" bIns="0" rtlCol="0" anchor="ctr"/>
          <a:lstStyle/>
          <a:p>
            <a:pPr indent="0" marL="0">
              <a:buNone/>
            </a:pPr>
            <a:r>
              <a:rPr lang="en-US" sz="2600" b="1" dirty="0">
                <a:solidFill>
                  <a:schemeClr val="accent3"/>
                </a:solidFill>
                <a:latin typeface="Cambria" pitchFamily="34" charset="0"/>
                <a:ea typeface="Cambria" pitchFamily="34" charset="-122"/>
                <a:cs typeface="Cambria" pitchFamily="34" charset="-120"/>
              </a:rPr>
              <a:t>04</a:t>
            </a:r>
            <a:endParaRPr lang="en-US" sz="2600" dirty="0"/>
          </a:p>
        </p:txBody>
      </p:sp>
      <p:sp>
        <p:nvSpPr>
          <p:cNvPr id="17" name="Text 15"/>
          <p:cNvSpPr txBox="1"/>
          <p:nvPr/>
        </p:nvSpPr>
        <p:spPr>
          <a:xfrm>
            <a:off x="1600200" y="4315968"/>
            <a:ext cx="5486400" cy="365760"/>
          </a:xfrm>
          <a:prstGeom prst="rect">
            <a:avLst/>
          </a:prstGeom>
          <a:noFill/>
          <a:ln/>
        </p:spPr>
        <p:txBody>
          <a:bodyPr wrap="square" lIns="0" tIns="0" rIns="0" bIns="0" rtlCol="0" anchor="t"/>
          <a:lstStyle/>
          <a:p>
            <a:pPr indent="0" marL="0">
              <a:buNone/>
            </a:pPr>
            <a:r>
              <a:rPr lang="en-US" sz="1800" b="1" dirty="0">
                <a:solidFill>
                  <a:schemeClr val="bg1"/>
                </a:solidFill>
              </a:rPr>
              <a:t>Trợ lý ảo Bé Sen</a:t>
            </a:r>
            <a:endParaRPr lang="en-US" sz="1800" dirty="0"/>
          </a:p>
        </p:txBody>
      </p:sp>
      <p:sp>
        <p:nvSpPr>
          <p:cNvPr id="18" name="Text 16"/>
          <p:cNvSpPr txBox="1"/>
          <p:nvPr/>
        </p:nvSpPr>
        <p:spPr>
          <a:xfrm>
            <a:off x="1600200" y="4663440"/>
            <a:ext cx="5486400" cy="292608"/>
          </a:xfrm>
          <a:prstGeom prst="rect">
            <a:avLst/>
          </a:prstGeom>
          <a:noFill/>
          <a:ln/>
        </p:spPr>
        <p:txBody>
          <a:bodyPr wrap="square" lIns="0" tIns="0" rIns="0" bIns="0" rtlCol="0" anchor="t"/>
          <a:lstStyle/>
          <a:p>
            <a:pPr indent="0" marL="0">
              <a:buNone/>
            </a:pPr>
            <a:r>
              <a:rPr lang="en-US" sz="1300" dirty="0">
                <a:solidFill>
                  <a:schemeClr val="accent3"/>
                </a:solidFill>
              </a:rPr>
              <a:t>Kiến trúc lai luật + AI, hiểu tiếng Việt</a:t>
            </a:r>
            <a:endParaRPr lang="en-US" sz="1300" dirty="0"/>
          </a:p>
        </p:txBody>
      </p:sp>
      <p:sp>
        <p:nvSpPr>
          <p:cNvPr id="19" name="agenda 5"/>
          <p:cNvSpPr/>
          <p:nvPr/>
        </p:nvSpPr>
        <p:spPr>
          <a:xfrm>
            <a:off x="548640" y="5184648"/>
            <a:ext cx="6766560" cy="777240"/>
          </a:xfrm>
          <a:prstGeom prst="roundRect">
            <a:avLst>
              <a:gd name="adj" fmla="val 14118"/>
            </a:avLst>
          </a:prstGeom>
          <a:solidFill>
            <a:schemeClr val="bg2"/>
          </a:solidFill>
          <a:ln/>
        </p:spPr>
      </p:sp>
      <p:sp>
        <p:nvSpPr>
          <p:cNvPr id="20" name="Text 18"/>
          <p:cNvSpPr txBox="1"/>
          <p:nvPr/>
        </p:nvSpPr>
        <p:spPr>
          <a:xfrm>
            <a:off x="777240" y="5184648"/>
            <a:ext cx="731520" cy="77724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05</a:t>
            </a:r>
            <a:endParaRPr lang="en-US" sz="2600" dirty="0"/>
          </a:p>
        </p:txBody>
      </p:sp>
      <p:sp>
        <p:nvSpPr>
          <p:cNvPr id="21" name="Text 19"/>
          <p:cNvSpPr txBox="1"/>
          <p:nvPr/>
        </p:nvSpPr>
        <p:spPr>
          <a:xfrm>
            <a:off x="1600200" y="5257800"/>
            <a:ext cx="5486400" cy="365760"/>
          </a:xfrm>
          <a:prstGeom prst="rect">
            <a:avLst/>
          </a:prstGeom>
          <a:noFill/>
          <a:ln/>
        </p:spPr>
        <p:txBody>
          <a:bodyPr wrap="square" lIns="0" tIns="0" rIns="0" bIns="0" rtlCol="0" anchor="t"/>
          <a:lstStyle/>
          <a:p>
            <a:pPr indent="0" marL="0">
              <a:buNone/>
            </a:pPr>
            <a:r>
              <a:rPr lang="en-US" sz="1800" b="1" dirty="0">
                <a:solidFill>
                  <a:schemeClr val="tx2"/>
                </a:solidFill>
              </a:rPr>
              <a:t>Kết quả &amp; đánh giá</a:t>
            </a:r>
            <a:endParaRPr lang="en-US" sz="1800" dirty="0"/>
          </a:p>
        </p:txBody>
      </p:sp>
      <p:sp>
        <p:nvSpPr>
          <p:cNvPr id="22" name="Text 20"/>
          <p:cNvSpPr txBox="1"/>
          <p:nvPr/>
        </p:nvSpPr>
        <p:spPr>
          <a:xfrm>
            <a:off x="1600200" y="5605272"/>
            <a:ext cx="5486400" cy="292608"/>
          </a:xfrm>
          <a:prstGeom prst="rect">
            <a:avLst/>
          </a:prstGeom>
          <a:noFill/>
          <a:ln/>
        </p:spPr>
        <p:txBody>
          <a:bodyPr wrap="square" lIns="0" tIns="0" rIns="0" bIns="0" rtlCol="0" anchor="t"/>
          <a:lstStyle/>
          <a:p>
            <a:pPr indent="0" marL="0">
              <a:buNone/>
            </a:pPr>
            <a:r>
              <a:rPr lang="en-US" sz="1300" dirty="0">
                <a:solidFill>
                  <a:schemeClr val="tx1"/>
                </a:solidFill>
              </a:rPr>
              <a:t>Bảo mật, hiệu năng, kiểm thử, dữ liệu</a:t>
            </a:r>
            <a:endParaRPr lang="en-US" sz="1300" dirty="0"/>
          </a:p>
        </p:txBody>
      </p:sp>
      <p:sp>
        <p:nvSpPr>
          <p:cNvPr id="23" name="frame m02-menu.png"/>
          <p:cNvSpPr/>
          <p:nvPr/>
        </p:nvSpPr>
        <p:spPr>
          <a:xfrm>
            <a:off x="7863840" y="1325880"/>
            <a:ext cx="2743200" cy="4846320"/>
          </a:xfrm>
          <a:prstGeom prst="roundRect">
            <a:avLst>
              <a:gd name="adj" fmla="val 4000"/>
            </a:avLst>
          </a:prstGeom>
          <a:solidFill>
            <a:srgbClr val="FFFFFF"/>
          </a:solidFill>
          <a:ln w="9525">
            <a:solidFill>
              <a:srgbClr val="E3E8E4"/>
            </a:solidFill>
            <a:prstDash val="solid"/>
          </a:ln>
          <a:effectLst>
            <a:outerShdw sx="100000" sy="100000" kx="0" ky="0" algn="bl" rotWithShape="0" blurRad="127000" dist="38100" dir="5400000">
              <a:srgbClr val="1F3D26">
                <a:alpha val="18000"/>
              </a:srgbClr>
            </a:outerShdw>
          </a:effectLst>
        </p:spPr>
      </p:sp>
      <p:pic>
        <p:nvPicPr>
          <p:cNvPr id="24" name="m02-menu.png" descr="Menu trên điện thoại">    </p:cNvPr>
          <p:cNvPicPr>
            <a:picLocks noChangeAspect="1"/>
          </p:cNvPicPr>
          <p:nvPr/>
        </p:nvPicPr>
        <p:blipFill>
          <a:blip r:embed="rId1"/>
          <a:stretch>
            <a:fillRect/>
          </a:stretch>
        </p:blipFill>
        <p:spPr>
          <a:xfrm>
            <a:off x="7959893" y="1417320"/>
            <a:ext cx="2551093" cy="4343400"/>
          </a:xfrm>
          <a:prstGeom prst="rect">
            <a:avLst/>
          </a:prstGeom>
        </p:spPr>
      </p:pic>
      <p:sp>
        <p:nvSpPr>
          <p:cNvPr id="25" name="Text 22"/>
          <p:cNvSpPr txBox="1"/>
          <p:nvPr/>
        </p:nvSpPr>
        <p:spPr>
          <a:xfrm>
            <a:off x="7955280" y="5806440"/>
            <a:ext cx="2560320" cy="320040"/>
          </a:xfrm>
          <a:prstGeom prst="rect">
            <a:avLst/>
          </a:prstGeom>
          <a:noFill/>
          <a:ln/>
        </p:spPr>
        <p:txBody>
          <a:bodyPr wrap="square" lIns="0" tIns="0" rIns="0" bIns="0" rtlCol="0" anchor="ctr"/>
          <a:lstStyle/>
          <a:p>
            <a:pPr algn="ctr" indent="0" marL="0">
              <a:buNone/>
            </a:pPr>
            <a:r>
              <a:rPr lang="en-US" sz="1100" i="1" dirty="0">
                <a:solidFill>
                  <a:schemeClr val="tx1"/>
                </a:solidFill>
              </a:rPr>
              <a:t>Menu trên điện thoại</a:t>
            </a:r>
            <a:endParaRPr lang="en-US" sz="1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Bài toán: cửa hàng sen đá nhỏ bán qua tin nhắn</a:t>
            </a:r>
            <a:endParaRPr lang="en-US" sz="3000" dirty="0"/>
          </a:p>
        </p:txBody>
      </p:sp>
      <p:sp>
        <p:nvSpPr>
          <p:cNvPr id="3" name="Text 1"/>
          <p:cNvSpPr txBox="1"/>
          <p:nvPr/>
        </p:nvSpPr>
        <p:spPr>
          <a:xfrm>
            <a:off x="548640" y="1371600"/>
            <a:ext cx="2286000" cy="82296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20,5 tỷ USD</a:t>
            </a:r>
            <a:endParaRPr lang="en-US" sz="2800" dirty="0"/>
          </a:p>
        </p:txBody>
      </p:sp>
      <p:sp>
        <p:nvSpPr>
          <p:cNvPr id="4" name="Text 2"/>
          <p:cNvSpPr txBox="1"/>
          <p:nvPr/>
        </p:nvSpPr>
        <p:spPr>
          <a:xfrm>
            <a:off x="548640" y="2194560"/>
            <a:ext cx="2103120" cy="548640"/>
          </a:xfrm>
          <a:prstGeom prst="rect">
            <a:avLst/>
          </a:prstGeom>
          <a:noFill/>
          <a:ln/>
        </p:spPr>
        <p:txBody>
          <a:bodyPr wrap="square" lIns="0" tIns="0" rIns="0" bIns="0" rtlCol="0" anchor="t"/>
          <a:lstStyle/>
          <a:p>
            <a:pPr indent="0" marL="0">
              <a:buNone/>
            </a:pPr>
            <a:r>
              <a:rPr lang="en-US" sz="1300" dirty="0">
                <a:solidFill>
                  <a:schemeClr val="tx1"/>
                </a:solidFill>
              </a:rPr>
              <a:t>Doanh thu TMĐT B2C Việt Nam 2023</a:t>
            </a:r>
            <a:endParaRPr lang="en-US" sz="1300" dirty="0"/>
          </a:p>
        </p:txBody>
      </p:sp>
      <p:sp>
        <p:nvSpPr>
          <p:cNvPr id="5" name="Text 3"/>
          <p:cNvSpPr txBox="1"/>
          <p:nvPr/>
        </p:nvSpPr>
        <p:spPr>
          <a:xfrm>
            <a:off x="2880360" y="1371600"/>
            <a:ext cx="2286000" cy="82296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18–20%</a:t>
            </a:r>
            <a:endParaRPr lang="en-US" sz="2800" dirty="0"/>
          </a:p>
        </p:txBody>
      </p:sp>
      <p:sp>
        <p:nvSpPr>
          <p:cNvPr id="6" name="Text 4"/>
          <p:cNvSpPr txBox="1"/>
          <p:nvPr/>
        </p:nvSpPr>
        <p:spPr>
          <a:xfrm>
            <a:off x="2880360" y="2194560"/>
            <a:ext cx="2103120" cy="548640"/>
          </a:xfrm>
          <a:prstGeom prst="rect">
            <a:avLst/>
          </a:prstGeom>
          <a:noFill/>
          <a:ln/>
        </p:spPr>
        <p:txBody>
          <a:bodyPr wrap="square" lIns="0" tIns="0" rIns="0" bIns="0" rtlCol="0" anchor="t"/>
          <a:lstStyle/>
          <a:p>
            <a:pPr indent="0" marL="0">
              <a:buNone/>
            </a:pPr>
            <a:r>
              <a:rPr lang="en-US" sz="1300" dirty="0">
                <a:solidFill>
                  <a:schemeClr val="tx1"/>
                </a:solidFill>
              </a:rPr>
              <a:t>Tăng trưởng mỗi năm</a:t>
            </a:r>
            <a:endParaRPr lang="en-US" sz="1300" dirty="0"/>
          </a:p>
        </p:txBody>
      </p:sp>
      <p:sp>
        <p:nvSpPr>
          <p:cNvPr id="7" name="Text 5"/>
          <p:cNvSpPr txBox="1"/>
          <p:nvPr/>
        </p:nvSpPr>
        <p:spPr>
          <a:xfrm>
            <a:off x="5212080" y="1371600"/>
            <a:ext cx="2286000" cy="82296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~8%</a:t>
            </a:r>
            <a:endParaRPr lang="en-US" sz="2800" dirty="0"/>
          </a:p>
        </p:txBody>
      </p:sp>
      <p:sp>
        <p:nvSpPr>
          <p:cNvPr id="8" name="Text 6"/>
          <p:cNvSpPr txBox="1"/>
          <p:nvPr/>
        </p:nvSpPr>
        <p:spPr>
          <a:xfrm>
            <a:off x="5212080" y="2194560"/>
            <a:ext cx="2103120" cy="548640"/>
          </a:xfrm>
          <a:prstGeom prst="rect">
            <a:avLst/>
          </a:prstGeom>
          <a:noFill/>
          <a:ln/>
        </p:spPr>
        <p:txBody>
          <a:bodyPr wrap="square" lIns="0" tIns="0" rIns="0" bIns="0" rtlCol="0" anchor="t"/>
          <a:lstStyle/>
          <a:p>
            <a:pPr indent="0" marL="0">
              <a:buNone/>
            </a:pPr>
            <a:r>
              <a:rPr lang="en-US" sz="1300" dirty="0">
                <a:solidFill>
                  <a:schemeClr val="tx1"/>
                </a:solidFill>
              </a:rPr>
              <a:t>Tỉ trọng trong tổng bán lẻ</a:t>
            </a:r>
            <a:endParaRPr lang="en-US" sz="1300" dirty="0"/>
          </a:p>
        </p:txBody>
      </p:sp>
      <p:sp>
        <p:nvSpPr>
          <p:cNvPr id="9" name="Text 7"/>
          <p:cNvSpPr txBox="1"/>
          <p:nvPr/>
        </p:nvSpPr>
        <p:spPr>
          <a:xfrm>
            <a:off x="548640" y="2788920"/>
            <a:ext cx="6858000" cy="274320"/>
          </a:xfrm>
          <a:prstGeom prst="rect">
            <a:avLst/>
          </a:prstGeom>
          <a:noFill/>
          <a:ln/>
        </p:spPr>
        <p:txBody>
          <a:bodyPr wrap="square" lIns="0" tIns="0" rIns="0" bIns="0" rtlCol="0" anchor="t"/>
          <a:lstStyle/>
          <a:p>
            <a:pPr indent="0" marL="0">
              <a:buNone/>
            </a:pPr>
            <a:r>
              <a:rPr lang="en-US" sz="1100" i="1" dirty="0">
                <a:solidFill>
                  <a:schemeClr val="tx1">
                    <a:alpha val="70000"/>
                  </a:schemeClr>
                </a:solidFill>
              </a:rPr>
              <a:t>Nguồn: Sách trắng TMĐT Việt Nam 2024 – Bộ Công Thương</a:t>
            </a:r>
            <a:endParaRPr lang="en-US" sz="1100" dirty="0"/>
          </a:p>
        </p:txBody>
      </p:sp>
      <p:sp>
        <p:nvSpPr>
          <p:cNvPr id="10" name="Text 8"/>
          <p:cNvSpPr txBox="1"/>
          <p:nvPr/>
        </p:nvSpPr>
        <p:spPr>
          <a:xfrm>
            <a:off x="548640" y="3291840"/>
            <a:ext cx="6858000" cy="365760"/>
          </a:xfrm>
          <a:prstGeom prst="rect">
            <a:avLst/>
          </a:prstGeom>
          <a:noFill/>
          <a:ln/>
        </p:spPr>
        <p:txBody>
          <a:bodyPr wrap="square" lIns="0" tIns="0" rIns="0" bIns="0" rtlCol="0" anchor="t"/>
          <a:lstStyle/>
          <a:p>
            <a:pPr indent="0" marL="0">
              <a:buNone/>
            </a:pPr>
            <a:r>
              <a:rPr lang="en-US" sz="1800" b="1" dirty="0">
                <a:solidFill>
                  <a:schemeClr val="tx2"/>
                </a:solidFill>
              </a:rPr>
              <a:t>Khó khăn khi bán qua fanpage / Zalo</a:t>
            </a:r>
            <a:endParaRPr lang="en-US" sz="1800" dirty="0"/>
          </a:p>
        </p:txBody>
      </p:sp>
      <p:sp>
        <p:nvSpPr>
          <p:cNvPr id="11" name="Text 9"/>
          <p:cNvSpPr txBox="1"/>
          <p:nvPr/>
        </p:nvSpPr>
        <p:spPr>
          <a:xfrm>
            <a:off x="548640" y="3749040"/>
            <a:ext cx="6766560" cy="18288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Khách phải nhắn hỏi giá, phí ship, cách chăm cây – chủ shop trả lời thủ công, chậm vào buổi tối</a:t>
            </a:r>
            <a:endParaRPr lang="en-US" sz="1500" dirty="0"/>
          </a:p>
          <a:p>
            <a:pPr marL="203200" indent="-203200">
              <a:spcAft>
                <a:spcPts val="800"/>
              </a:spcAft>
              <a:buSzPct val="100000"/>
              <a:buChar char="•"/>
            </a:pPr>
            <a:r>
              <a:rPr lang="en-US" sz="1500" dirty="0">
                <a:solidFill>
                  <a:schemeClr val="tx1"/>
                </a:solidFill>
              </a:rPr>
              <a:t>Đơn hàng ghi chép rời rạc, dễ bán vượt tồn kho, khó thống kê doanh thu</a:t>
            </a:r>
            <a:endParaRPr lang="en-US" sz="1500" dirty="0"/>
          </a:p>
          <a:p>
            <a:pPr marL="203200" indent="-203200">
              <a:spcAft>
                <a:spcPts val="800"/>
              </a:spcAft>
              <a:buSzPct val="100000"/>
              <a:buChar char="•"/>
            </a:pPr>
            <a:r>
              <a:rPr lang="en-US" sz="1500" dirty="0">
                <a:solidFill>
                  <a:schemeClr val="tx1"/>
                </a:solidFill>
              </a:rPr>
              <a:t>Khách không tự tra cứu được tình trạng đơn hàng</a:t>
            </a:r>
            <a:endParaRPr lang="en-US" sz="1500" dirty="0"/>
          </a:p>
        </p:txBody>
      </p:sp>
      <p:sp>
        <p:nvSpPr>
          <p:cNvPr id="12" name="goal card"/>
          <p:cNvSpPr/>
          <p:nvPr/>
        </p:nvSpPr>
        <p:spPr>
          <a:xfrm>
            <a:off x="7680960" y="1371600"/>
            <a:ext cx="3977640" cy="4663440"/>
          </a:xfrm>
          <a:prstGeom prst="roundRect">
            <a:avLst>
              <a:gd name="adj" fmla="val 3448"/>
            </a:avLst>
          </a:prstGeom>
          <a:solidFill>
            <a:schemeClr val="accent1"/>
          </a:solidFill>
          <a:ln/>
        </p:spPr>
      </p:sp>
      <p:sp>
        <p:nvSpPr>
          <p:cNvPr id="13" name="icon bg Sprout"/>
          <p:cNvSpPr/>
          <p:nvPr/>
        </p:nvSpPr>
        <p:spPr>
          <a:xfrm>
            <a:off x="7955280" y="1645920"/>
            <a:ext cx="640080" cy="640080"/>
          </a:xfrm>
          <a:prstGeom prst="ellipse">
            <a:avLst/>
          </a:prstGeom>
          <a:solidFill>
            <a:schemeClr val="accent3"/>
          </a:solidFill>
          <a:ln/>
        </p:spPr>
      </p:sp>
      <p:pic>
        <p:nvPicPr>
          <p:cNvPr id="14" name="icon Sprout" descr="Sprout">    </p:cNvPr>
          <p:cNvPicPr>
            <a:picLocks noChangeAspect="1"/>
          </p:cNvPicPr>
          <p:nvPr/>
        </p:nvPicPr>
        <p:blipFill>
          <a:blip r:embed="rId1"/>
          <a:stretch>
            <a:fillRect/>
          </a:stretch>
        </p:blipFill>
        <p:spPr>
          <a:xfrm>
            <a:off x="8108899" y="1799539"/>
            <a:ext cx="332842" cy="332842"/>
          </a:xfrm>
          <a:prstGeom prst="rect">
            <a:avLst/>
          </a:prstGeom>
        </p:spPr>
      </p:pic>
      <p:sp>
        <p:nvSpPr>
          <p:cNvPr id="15" name="Text 12"/>
          <p:cNvSpPr txBox="1"/>
          <p:nvPr/>
        </p:nvSpPr>
        <p:spPr>
          <a:xfrm>
            <a:off x="8732520" y="1691640"/>
            <a:ext cx="2743200" cy="548640"/>
          </a:xfrm>
          <a:prstGeom prst="rect">
            <a:avLst/>
          </a:prstGeom>
          <a:noFill/>
          <a:ln/>
        </p:spPr>
        <p:txBody>
          <a:bodyPr wrap="square" lIns="0" tIns="0" rIns="0" bIns="0" rtlCol="0" anchor="ctr"/>
          <a:lstStyle/>
          <a:p>
            <a:pPr indent="0" marL="0">
              <a:buNone/>
            </a:pPr>
            <a:r>
              <a:rPr lang="en-US" sz="2000" b="1" dirty="0">
                <a:solidFill>
                  <a:schemeClr val="bg1"/>
                </a:solidFill>
              </a:rPr>
              <a:t>Mục tiêu đề tài</a:t>
            </a:r>
            <a:endParaRPr lang="en-US" sz="2000" dirty="0"/>
          </a:p>
        </p:txBody>
      </p:sp>
      <p:sp>
        <p:nvSpPr>
          <p:cNvPr id="16" name="Text 13"/>
          <p:cNvSpPr txBox="1"/>
          <p:nvPr/>
        </p:nvSpPr>
        <p:spPr>
          <a:xfrm>
            <a:off x="8001000" y="2514600"/>
            <a:ext cx="3474720" cy="3291840"/>
          </a:xfrm>
          <a:prstGeom prst="rect">
            <a:avLst/>
          </a:prstGeom>
          <a:noFill/>
          <a:ln/>
        </p:spPr>
        <p:txBody>
          <a:bodyPr wrap="square" lIns="0" tIns="0" rIns="0" bIns="0" rtlCol="0" anchor="t"/>
          <a:lstStyle/>
          <a:p>
            <a:pPr marL="203200" indent="-203200">
              <a:spcAft>
                <a:spcPts val="1200"/>
              </a:spcAft>
              <a:buSzPct val="100000"/>
              <a:buChar char="•"/>
            </a:pPr>
            <a:r>
              <a:rPr lang="en-US" sz="1500" dirty="0">
                <a:solidFill>
                  <a:schemeClr val="bg1"/>
                </a:solidFill>
              </a:rPr>
              <a:t>Website bán hàng đầy đủ, mua không cần tài khoản</a:t>
            </a:r>
            <a:endParaRPr lang="en-US" sz="1500" dirty="0"/>
          </a:p>
          <a:p>
            <a:pPr marL="203200" indent="-203200">
              <a:spcAft>
                <a:spcPts val="1200"/>
              </a:spcAft>
              <a:buSzPct val="100000"/>
              <a:buChar char="•"/>
            </a:pPr>
            <a:r>
              <a:rPr lang="en-US" sz="1500" dirty="0">
                <a:solidFill>
                  <a:schemeClr val="bg1"/>
                </a:solidFill>
              </a:rPr>
              <a:t>Trang quản trị: sản phẩm, đơn, nội dung, cài đặt</a:t>
            </a:r>
            <a:endParaRPr lang="en-US" sz="1500" dirty="0"/>
          </a:p>
          <a:p>
            <a:pPr marL="203200" indent="-203200">
              <a:spcAft>
                <a:spcPts val="1200"/>
              </a:spcAft>
              <a:buSzPct val="100000"/>
              <a:buChar char="•"/>
            </a:pPr>
            <a:r>
              <a:rPr lang="en-US" sz="1500" dirty="0">
                <a:solidFill>
                  <a:schemeClr val="bg1"/>
                </a:solidFill>
              </a:rPr>
              <a:t>Trợ lý ảo Bé Sen trả lời 24/7 bằng dữ liệu thật</a:t>
            </a:r>
            <a:endParaRPr lang="en-US" sz="1500" dirty="0"/>
          </a:p>
          <a:p>
            <a:pPr marL="203200" indent="-203200">
              <a:spcAft>
                <a:spcPts val="1200"/>
              </a:spcAft>
              <a:buSzPct val="100000"/>
              <a:buChar char="•"/>
            </a:pPr>
            <a:r>
              <a:rPr lang="en-US" sz="1500" dirty="0">
                <a:solidFill>
                  <a:schemeClr val="bg1"/>
                </a:solidFill>
              </a:rPr>
              <a:t>Bảo mật, nhanh, đẹp trên điện thoại</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Công nghệ và kiến trúc hệ thống</a:t>
            </a:r>
            <a:endParaRPr lang="en-US" sz="3000" dirty="0"/>
          </a:p>
        </p:txBody>
      </p:sp>
      <p:sp>
        <p:nvSpPr>
          <p:cNvPr id="3" name="frame d01-kien-truc.png"/>
          <p:cNvSpPr/>
          <p:nvPr/>
        </p:nvSpPr>
        <p:spPr>
          <a:xfrm>
            <a:off x="548640" y="1325880"/>
            <a:ext cx="6675120" cy="4800600"/>
          </a:xfrm>
          <a:prstGeom prst="roundRect">
            <a:avLst>
              <a:gd name="adj" fmla="val 2286"/>
            </a:avLst>
          </a:prstGeom>
          <a:solidFill>
            <a:srgbClr val="FFFFFF"/>
          </a:solidFill>
          <a:ln w="9525">
            <a:solidFill>
              <a:srgbClr val="E3E8E4"/>
            </a:solidFill>
            <a:prstDash val="solid"/>
          </a:ln>
          <a:effectLst>
            <a:outerShdw sx="100000" sy="100000" kx="0" ky="0" algn="bl" rotWithShape="0" blurRad="127000" dist="38100" dir="5400000">
              <a:srgbClr val="1F3D26">
                <a:alpha val="18000"/>
              </a:srgbClr>
            </a:outerShdw>
          </a:effectLst>
        </p:spPr>
      </p:sp>
      <p:pic>
        <p:nvPicPr>
          <p:cNvPr id="4" name="d01-kien-truc.png" descr="Kiến trúc nhiều tầng trên nền Next.js">    </p:cNvPr>
          <p:cNvPicPr>
            <a:picLocks noChangeAspect="1"/>
          </p:cNvPicPr>
          <p:nvPr/>
        </p:nvPicPr>
        <p:blipFill>
          <a:blip r:embed="rId1"/>
          <a:stretch>
            <a:fillRect/>
          </a:stretch>
        </p:blipFill>
        <p:spPr>
          <a:xfrm>
            <a:off x="640080" y="1479815"/>
            <a:ext cx="6492240" cy="4172690"/>
          </a:xfrm>
          <a:prstGeom prst="rect">
            <a:avLst/>
          </a:prstGeom>
        </p:spPr>
      </p:pic>
      <p:sp>
        <p:nvSpPr>
          <p:cNvPr id="5" name="Text 2"/>
          <p:cNvSpPr txBox="1"/>
          <p:nvPr/>
        </p:nvSpPr>
        <p:spPr>
          <a:xfrm>
            <a:off x="640080" y="5760720"/>
            <a:ext cx="6492240" cy="320040"/>
          </a:xfrm>
          <a:prstGeom prst="rect">
            <a:avLst/>
          </a:prstGeom>
          <a:noFill/>
          <a:ln/>
        </p:spPr>
        <p:txBody>
          <a:bodyPr wrap="square" lIns="0" tIns="0" rIns="0" bIns="0" rtlCol="0" anchor="ctr"/>
          <a:lstStyle/>
          <a:p>
            <a:pPr algn="ctr" indent="0" marL="0">
              <a:buNone/>
            </a:pPr>
            <a:r>
              <a:rPr lang="en-US" sz="1100" i="1" dirty="0">
                <a:solidFill>
                  <a:schemeClr val="tx1"/>
                </a:solidFill>
              </a:rPr>
              <a:t>Kiến trúc nhiều tầng trên nền Next.js</a:t>
            </a:r>
            <a:endParaRPr lang="en-US" sz="1100" dirty="0"/>
          </a:p>
        </p:txBody>
      </p:sp>
      <p:sp>
        <p:nvSpPr>
          <p:cNvPr id="6" name="icon bg Layers"/>
          <p:cNvSpPr/>
          <p:nvPr/>
        </p:nvSpPr>
        <p:spPr>
          <a:xfrm>
            <a:off x="7589520" y="1417320"/>
            <a:ext cx="548640" cy="548640"/>
          </a:xfrm>
          <a:prstGeom prst="ellipse">
            <a:avLst/>
          </a:prstGeom>
          <a:solidFill>
            <a:schemeClr val="accent1"/>
          </a:solidFill>
          <a:ln/>
        </p:spPr>
      </p:sp>
      <p:pic>
        <p:nvPicPr>
          <p:cNvPr id="7" name="icon Layers" descr="Layers">    </p:cNvPr>
          <p:cNvPicPr>
            <a:picLocks noChangeAspect="1"/>
          </p:cNvPicPr>
          <p:nvPr/>
        </p:nvPicPr>
        <p:blipFill>
          <a:blip r:embed="rId2"/>
          <a:stretch>
            <a:fillRect/>
          </a:stretch>
        </p:blipFill>
        <p:spPr>
          <a:xfrm>
            <a:off x="7721194" y="1548994"/>
            <a:ext cx="285293" cy="285293"/>
          </a:xfrm>
          <a:prstGeom prst="rect">
            <a:avLst/>
          </a:prstGeom>
        </p:spPr>
      </p:pic>
      <p:sp>
        <p:nvSpPr>
          <p:cNvPr id="8" name="Text 4"/>
          <p:cNvSpPr txBox="1"/>
          <p:nvPr/>
        </p:nvSpPr>
        <p:spPr>
          <a:xfrm>
            <a:off x="8321040" y="1371600"/>
            <a:ext cx="3383280" cy="347472"/>
          </a:xfrm>
          <a:prstGeom prst="rect">
            <a:avLst/>
          </a:prstGeom>
          <a:noFill/>
          <a:ln/>
        </p:spPr>
        <p:txBody>
          <a:bodyPr wrap="square" lIns="0" tIns="0" rIns="0" bIns="0" rtlCol="0" anchor="t"/>
          <a:lstStyle/>
          <a:p>
            <a:pPr indent="0" marL="0">
              <a:buNone/>
            </a:pPr>
            <a:r>
              <a:rPr lang="en-US" sz="1600" b="1" dirty="0">
                <a:solidFill>
                  <a:schemeClr val="tx2"/>
                </a:solidFill>
              </a:rPr>
              <a:t>Next.js 15 + React 19</a:t>
            </a:r>
            <a:endParaRPr lang="en-US" sz="1600" dirty="0"/>
          </a:p>
        </p:txBody>
      </p:sp>
      <p:sp>
        <p:nvSpPr>
          <p:cNvPr id="9" name="Text 5"/>
          <p:cNvSpPr txBox="1"/>
          <p:nvPr/>
        </p:nvSpPr>
        <p:spPr>
          <a:xfrm>
            <a:off x="8321040" y="1719072"/>
            <a:ext cx="3383280" cy="457200"/>
          </a:xfrm>
          <a:prstGeom prst="rect">
            <a:avLst/>
          </a:prstGeom>
          <a:noFill/>
          <a:ln/>
        </p:spPr>
        <p:txBody>
          <a:bodyPr wrap="square" lIns="0" tIns="0" rIns="0" bIns="0" rtlCol="0" anchor="t"/>
          <a:lstStyle/>
          <a:p>
            <a:pPr indent="0" marL="0">
              <a:buNone/>
            </a:pPr>
            <a:r>
              <a:rPr lang="en-US" sz="1300" dirty="0">
                <a:solidFill>
                  <a:schemeClr val="tx1"/>
                </a:solidFill>
              </a:rPr>
              <a:t>Server Components, Server Actions, ISR</a:t>
            </a:r>
            <a:endParaRPr lang="en-US" sz="1300" dirty="0"/>
          </a:p>
        </p:txBody>
      </p:sp>
      <p:sp>
        <p:nvSpPr>
          <p:cNvPr id="10" name="icon bg Database"/>
          <p:cNvSpPr/>
          <p:nvPr/>
        </p:nvSpPr>
        <p:spPr>
          <a:xfrm>
            <a:off x="7589520" y="2368296"/>
            <a:ext cx="548640" cy="548640"/>
          </a:xfrm>
          <a:prstGeom prst="ellipse">
            <a:avLst/>
          </a:prstGeom>
          <a:solidFill>
            <a:schemeClr val="accent1"/>
          </a:solidFill>
          <a:ln/>
        </p:spPr>
      </p:sp>
      <p:pic>
        <p:nvPicPr>
          <p:cNvPr id="11" name="icon Database" descr="Database">    </p:cNvPr>
          <p:cNvPicPr>
            <a:picLocks noChangeAspect="1"/>
          </p:cNvPicPr>
          <p:nvPr/>
        </p:nvPicPr>
        <p:blipFill>
          <a:blip r:embed="rId3"/>
          <a:stretch>
            <a:fillRect/>
          </a:stretch>
        </p:blipFill>
        <p:spPr>
          <a:xfrm>
            <a:off x="7721194" y="2499970"/>
            <a:ext cx="285293" cy="285293"/>
          </a:xfrm>
          <a:prstGeom prst="rect">
            <a:avLst/>
          </a:prstGeom>
        </p:spPr>
      </p:pic>
      <p:sp>
        <p:nvSpPr>
          <p:cNvPr id="12" name="Text 7"/>
          <p:cNvSpPr txBox="1"/>
          <p:nvPr/>
        </p:nvSpPr>
        <p:spPr>
          <a:xfrm>
            <a:off x="8321040" y="2322576"/>
            <a:ext cx="3383280" cy="347472"/>
          </a:xfrm>
          <a:prstGeom prst="rect">
            <a:avLst/>
          </a:prstGeom>
          <a:noFill/>
          <a:ln/>
        </p:spPr>
        <p:txBody>
          <a:bodyPr wrap="square" lIns="0" tIns="0" rIns="0" bIns="0" rtlCol="0" anchor="t"/>
          <a:lstStyle/>
          <a:p>
            <a:pPr indent="0" marL="0">
              <a:buNone/>
            </a:pPr>
            <a:r>
              <a:rPr lang="en-US" sz="1600" b="1" dirty="0">
                <a:solidFill>
                  <a:schemeClr val="tx2"/>
                </a:solidFill>
              </a:rPr>
              <a:t>Prisma + SQLite</a:t>
            </a:r>
            <a:endParaRPr lang="en-US" sz="1600" dirty="0"/>
          </a:p>
        </p:txBody>
      </p:sp>
      <p:sp>
        <p:nvSpPr>
          <p:cNvPr id="13" name="Text 8"/>
          <p:cNvSpPr txBox="1"/>
          <p:nvPr/>
        </p:nvSpPr>
        <p:spPr>
          <a:xfrm>
            <a:off x="8321040" y="2670048"/>
            <a:ext cx="3383280" cy="457200"/>
          </a:xfrm>
          <a:prstGeom prst="rect">
            <a:avLst/>
          </a:prstGeom>
          <a:noFill/>
          <a:ln/>
        </p:spPr>
        <p:txBody>
          <a:bodyPr wrap="square" lIns="0" tIns="0" rIns="0" bIns="0" rtlCol="0" anchor="t"/>
          <a:lstStyle/>
          <a:p>
            <a:pPr indent="0" marL="0">
              <a:buNone/>
            </a:pPr>
            <a:r>
              <a:rPr lang="en-US" sz="1300" dirty="0">
                <a:solidFill>
                  <a:schemeClr val="tx1"/>
                </a:solidFill>
              </a:rPr>
              <a:t>12 bảng, giao dịch an toàn tồn kho</a:t>
            </a:r>
            <a:endParaRPr lang="en-US" sz="1300" dirty="0"/>
          </a:p>
        </p:txBody>
      </p:sp>
      <p:sp>
        <p:nvSpPr>
          <p:cNvPr id="14" name="icon bg Palette"/>
          <p:cNvSpPr/>
          <p:nvPr/>
        </p:nvSpPr>
        <p:spPr>
          <a:xfrm>
            <a:off x="7589520" y="3319272"/>
            <a:ext cx="548640" cy="548640"/>
          </a:xfrm>
          <a:prstGeom prst="ellipse">
            <a:avLst/>
          </a:prstGeom>
          <a:solidFill>
            <a:schemeClr val="accent1"/>
          </a:solidFill>
          <a:ln/>
        </p:spPr>
      </p:sp>
      <p:pic>
        <p:nvPicPr>
          <p:cNvPr id="15" name="icon Palette" descr="Palette">    </p:cNvPr>
          <p:cNvPicPr>
            <a:picLocks noChangeAspect="1"/>
          </p:cNvPicPr>
          <p:nvPr/>
        </p:nvPicPr>
        <p:blipFill>
          <a:blip r:embed="rId4"/>
          <a:stretch>
            <a:fillRect/>
          </a:stretch>
        </p:blipFill>
        <p:spPr>
          <a:xfrm>
            <a:off x="7721194" y="3450946"/>
            <a:ext cx="285293" cy="285293"/>
          </a:xfrm>
          <a:prstGeom prst="rect">
            <a:avLst/>
          </a:prstGeom>
        </p:spPr>
      </p:pic>
      <p:sp>
        <p:nvSpPr>
          <p:cNvPr id="16" name="Text 10"/>
          <p:cNvSpPr txBox="1"/>
          <p:nvPr/>
        </p:nvSpPr>
        <p:spPr>
          <a:xfrm>
            <a:off x="8321040" y="3273552"/>
            <a:ext cx="3383280" cy="347472"/>
          </a:xfrm>
          <a:prstGeom prst="rect">
            <a:avLst/>
          </a:prstGeom>
          <a:noFill/>
          <a:ln/>
        </p:spPr>
        <p:txBody>
          <a:bodyPr wrap="square" lIns="0" tIns="0" rIns="0" bIns="0" rtlCol="0" anchor="t"/>
          <a:lstStyle/>
          <a:p>
            <a:pPr indent="0" marL="0">
              <a:buNone/>
            </a:pPr>
            <a:r>
              <a:rPr lang="en-US" sz="1600" b="1" dirty="0">
                <a:solidFill>
                  <a:schemeClr val="tx2"/>
                </a:solidFill>
              </a:rPr>
              <a:t>Tailwind CSS 4 + Motion</a:t>
            </a:r>
            <a:endParaRPr lang="en-US" sz="1600" dirty="0"/>
          </a:p>
        </p:txBody>
      </p:sp>
      <p:sp>
        <p:nvSpPr>
          <p:cNvPr id="17" name="Text 11"/>
          <p:cNvSpPr txBox="1"/>
          <p:nvPr/>
        </p:nvSpPr>
        <p:spPr>
          <a:xfrm>
            <a:off x="8321040" y="3621024"/>
            <a:ext cx="3383280" cy="457200"/>
          </a:xfrm>
          <a:prstGeom prst="rect">
            <a:avLst/>
          </a:prstGeom>
          <a:noFill/>
          <a:ln/>
        </p:spPr>
        <p:txBody>
          <a:bodyPr wrap="square" lIns="0" tIns="0" rIns="0" bIns="0" rtlCol="0" anchor="t"/>
          <a:lstStyle/>
          <a:p>
            <a:pPr indent="0" marL="0">
              <a:buNone/>
            </a:pPr>
            <a:r>
              <a:rPr lang="en-US" sz="1300" dirty="0">
                <a:solidFill>
                  <a:schemeClr val="tx1"/>
                </a:solidFill>
              </a:rPr>
              <a:t>Giao diện xanh lá, hiệu ứng mượt</a:t>
            </a:r>
            <a:endParaRPr lang="en-US" sz="1300" dirty="0"/>
          </a:p>
        </p:txBody>
      </p:sp>
      <p:sp>
        <p:nvSpPr>
          <p:cNvPr id="18" name="icon bg ShieldCheck"/>
          <p:cNvSpPr/>
          <p:nvPr/>
        </p:nvSpPr>
        <p:spPr>
          <a:xfrm>
            <a:off x="7589520" y="4270248"/>
            <a:ext cx="548640" cy="548640"/>
          </a:xfrm>
          <a:prstGeom prst="ellipse">
            <a:avLst/>
          </a:prstGeom>
          <a:solidFill>
            <a:schemeClr val="accent1"/>
          </a:solidFill>
          <a:ln/>
        </p:spPr>
      </p:sp>
      <p:pic>
        <p:nvPicPr>
          <p:cNvPr id="19" name="icon ShieldCheck" descr="ShieldCheck">    </p:cNvPr>
          <p:cNvPicPr>
            <a:picLocks noChangeAspect="1"/>
          </p:cNvPicPr>
          <p:nvPr/>
        </p:nvPicPr>
        <p:blipFill>
          <a:blip r:embed="rId5"/>
          <a:stretch>
            <a:fillRect/>
          </a:stretch>
        </p:blipFill>
        <p:spPr>
          <a:xfrm>
            <a:off x="7721194" y="4401922"/>
            <a:ext cx="285293" cy="285293"/>
          </a:xfrm>
          <a:prstGeom prst="rect">
            <a:avLst/>
          </a:prstGeom>
        </p:spPr>
      </p:pic>
      <p:sp>
        <p:nvSpPr>
          <p:cNvPr id="20" name="Text 13"/>
          <p:cNvSpPr txBox="1"/>
          <p:nvPr/>
        </p:nvSpPr>
        <p:spPr>
          <a:xfrm>
            <a:off x="8321040" y="4224528"/>
            <a:ext cx="3383280" cy="347472"/>
          </a:xfrm>
          <a:prstGeom prst="rect">
            <a:avLst/>
          </a:prstGeom>
          <a:noFill/>
          <a:ln/>
        </p:spPr>
        <p:txBody>
          <a:bodyPr wrap="square" lIns="0" tIns="0" rIns="0" bIns="0" rtlCol="0" anchor="t"/>
          <a:lstStyle/>
          <a:p>
            <a:pPr indent="0" marL="0">
              <a:buNone/>
            </a:pPr>
            <a:r>
              <a:rPr lang="en-US" sz="1600" b="1" dirty="0">
                <a:solidFill>
                  <a:schemeClr val="tx2"/>
                </a:solidFill>
              </a:rPr>
              <a:t>Zod · JWT · bcrypt</a:t>
            </a:r>
            <a:endParaRPr lang="en-US" sz="1600" dirty="0"/>
          </a:p>
        </p:txBody>
      </p:sp>
      <p:sp>
        <p:nvSpPr>
          <p:cNvPr id="21" name="Text 14"/>
          <p:cNvSpPr txBox="1"/>
          <p:nvPr/>
        </p:nvSpPr>
        <p:spPr>
          <a:xfrm>
            <a:off x="8321040" y="4572000"/>
            <a:ext cx="3383280" cy="457200"/>
          </a:xfrm>
          <a:prstGeom prst="rect">
            <a:avLst/>
          </a:prstGeom>
          <a:noFill/>
          <a:ln/>
        </p:spPr>
        <p:txBody>
          <a:bodyPr wrap="square" lIns="0" tIns="0" rIns="0" bIns="0" rtlCol="0" anchor="t"/>
          <a:lstStyle/>
          <a:p>
            <a:pPr indent="0" marL="0">
              <a:buNone/>
            </a:pPr>
            <a:r>
              <a:rPr lang="en-US" sz="1300" dirty="0">
                <a:solidFill>
                  <a:schemeClr val="tx1"/>
                </a:solidFill>
              </a:rPr>
              <a:t>Kiểm tra dữ liệu, phiên đăng nhập</a:t>
            </a:r>
            <a:endParaRPr lang="en-US" sz="1300" dirty="0"/>
          </a:p>
        </p:txBody>
      </p:sp>
      <p:sp>
        <p:nvSpPr>
          <p:cNvPr id="22" name="icon bg Sparkles"/>
          <p:cNvSpPr/>
          <p:nvPr/>
        </p:nvSpPr>
        <p:spPr>
          <a:xfrm>
            <a:off x="7589520" y="5221224"/>
            <a:ext cx="548640" cy="548640"/>
          </a:xfrm>
          <a:prstGeom prst="ellipse">
            <a:avLst/>
          </a:prstGeom>
          <a:solidFill>
            <a:schemeClr val="accent1"/>
          </a:solidFill>
          <a:ln/>
        </p:spPr>
      </p:sp>
      <p:pic>
        <p:nvPicPr>
          <p:cNvPr id="23" name="icon Sparkles" descr="Sparkles">    </p:cNvPr>
          <p:cNvPicPr>
            <a:picLocks noChangeAspect="1"/>
          </p:cNvPicPr>
          <p:nvPr/>
        </p:nvPicPr>
        <p:blipFill>
          <a:blip r:embed="rId6"/>
          <a:stretch>
            <a:fillRect/>
          </a:stretch>
        </p:blipFill>
        <p:spPr>
          <a:xfrm>
            <a:off x="7721194" y="5352898"/>
            <a:ext cx="285293" cy="285293"/>
          </a:xfrm>
          <a:prstGeom prst="rect">
            <a:avLst/>
          </a:prstGeom>
        </p:spPr>
      </p:pic>
      <p:sp>
        <p:nvSpPr>
          <p:cNvPr id="24" name="Text 16"/>
          <p:cNvSpPr txBox="1"/>
          <p:nvPr/>
        </p:nvSpPr>
        <p:spPr>
          <a:xfrm>
            <a:off x="8321040" y="5175504"/>
            <a:ext cx="3383280" cy="347472"/>
          </a:xfrm>
          <a:prstGeom prst="rect">
            <a:avLst/>
          </a:prstGeom>
          <a:noFill/>
          <a:ln/>
        </p:spPr>
        <p:txBody>
          <a:bodyPr wrap="square" lIns="0" tIns="0" rIns="0" bIns="0" rtlCol="0" anchor="t"/>
          <a:lstStyle/>
          <a:p>
            <a:pPr indent="0" marL="0">
              <a:buNone/>
            </a:pPr>
            <a:r>
              <a:rPr lang="en-US" sz="1600" b="1" dirty="0">
                <a:solidFill>
                  <a:schemeClr val="tx2"/>
                </a:solidFill>
              </a:rPr>
              <a:t>Claude API (tùy chọn)</a:t>
            </a:r>
            <a:endParaRPr lang="en-US" sz="1600" dirty="0"/>
          </a:p>
        </p:txBody>
      </p:sp>
      <p:sp>
        <p:nvSpPr>
          <p:cNvPr id="25" name="Text 17"/>
          <p:cNvSpPr txBox="1"/>
          <p:nvPr/>
        </p:nvSpPr>
        <p:spPr>
          <a:xfrm>
            <a:off x="8321040" y="5522976"/>
            <a:ext cx="3383280" cy="457200"/>
          </a:xfrm>
          <a:prstGeom prst="rect">
            <a:avLst/>
          </a:prstGeom>
          <a:noFill/>
          <a:ln/>
        </p:spPr>
        <p:txBody>
          <a:bodyPr wrap="square" lIns="0" tIns="0" rIns="0" bIns="0" rtlCol="0" anchor="t"/>
          <a:lstStyle/>
          <a:p>
            <a:pPr indent="0" marL="0">
              <a:buNone/>
            </a:pPr>
            <a:r>
              <a:rPr lang="en-US" sz="1300" dirty="0">
                <a:solidFill>
                  <a:schemeClr val="tx1"/>
                </a:solidFill>
              </a:rPr>
              <a:t>Bé Sen diễn đạt tự nhiên hơn</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22960" y="1280160"/>
            <a:ext cx="2743200" cy="1371600"/>
          </a:xfrm>
          <a:prstGeom prst="rect">
            <a:avLst/>
          </a:prstGeom>
          <a:noFill/>
          <a:ln/>
        </p:spPr>
        <p:txBody>
          <a:bodyPr wrap="square" lIns="0" tIns="0" rIns="0" bIns="0" rtlCol="0" anchor="ctr"/>
          <a:lstStyle/>
          <a:p>
            <a:pPr indent="0" marL="0">
              <a:buNone/>
            </a:pPr>
            <a:r>
              <a:rPr lang="en-US" sz="9600" b="1" dirty="0">
                <a:solidFill>
                  <a:schemeClr val="accent2"/>
                </a:solidFill>
                <a:latin typeface="Cambria" pitchFamily="34" charset="0"/>
                <a:ea typeface="Cambria" pitchFamily="34" charset="-122"/>
                <a:cs typeface="Cambria" pitchFamily="34" charset="-120"/>
              </a:rPr>
              <a:t>01</a:t>
            </a:r>
            <a:endParaRPr lang="en-US" sz="9600" dirty="0"/>
          </a:p>
        </p:txBody>
      </p:sp>
      <p:sp>
        <p:nvSpPr>
          <p:cNvPr id="3" name="Text 0"/>
          <p:cNvSpPr/>
          <p:nvPr>
            <p:ph idx="100" type="title" hasCustomPrompt="1"/>
          </p:nvPr>
        </p:nvSpPr>
        <p:spPr>
          <a:xfrm>
            <a:off x="822960" y="2743200"/>
            <a:ext cx="7498080" cy="118872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Quy trình mua hàng</a:t>
            </a:r>
            <a:endParaRPr lang="en-US" sz="4400" dirty="0"/>
          </a:p>
        </p:txBody>
      </p:sp>
      <p:sp>
        <p:nvSpPr>
          <p:cNvPr id="4" name="Text 0"/>
          <p:cNvSpPr/>
          <p:nvPr>
            <p:ph idx="101" type="body" hasCustomPrompt="1"/>
          </p:nvPr>
        </p:nvSpPr>
        <p:spPr>
          <a:xfrm>
            <a:off x="822960" y="3977640"/>
            <a:ext cx="7498080" cy="1097280"/>
          </a:xfrm>
          <a:prstGeom prst="rect">
            <a:avLst/>
          </a:prstGeom>
          <a:noFill/>
          <a:ln/>
        </p:spPr>
        <p:txBody>
          <a:bodyPr wrap="square" lIns="0" tIns="0" rIns="0" bIns="0" rtlCol="0" anchor="t"/>
          <a:lstStyle/>
          <a:p>
            <a:pPr algn="l" indent="0" marL="0">
              <a:buNone/>
            </a:pPr>
            <a:r>
              <a:rPr lang="en-US" sz="1800" dirty="0">
                <a:solidFill>
                  <a:schemeClr val="accent3"/>
                </a:solidFill>
              </a:rPr>
              <a:t>Năm bước từ khám phá sản phẩm đến nhận hàng – không cần đăng ký tài khoản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Hành trình mua hàng 5 bước</a:t>
            </a:r>
            <a:endParaRPr lang="en-US" sz="3000" dirty="0"/>
          </a:p>
        </p:txBody>
      </p:sp>
      <p:sp>
        <p:nvSpPr>
          <p:cNvPr id="3" name="frame s01-home.png"/>
          <p:cNvSpPr/>
          <p:nvPr/>
        </p:nvSpPr>
        <p:spPr>
          <a:xfrm>
            <a:off x="548640" y="1417320"/>
            <a:ext cx="2103120" cy="1463040"/>
          </a:xfrm>
          <a:prstGeom prst="roundRect">
            <a:avLst>
              <a:gd name="adj" fmla="val 7500"/>
            </a:avLst>
          </a:prstGeom>
          <a:solidFill>
            <a:srgbClr val="FFFFFF"/>
          </a:solidFill>
          <a:ln w="9525">
            <a:solidFill>
              <a:srgbClr val="E3E8E4"/>
            </a:solidFill>
            <a:prstDash val="solid"/>
          </a:ln>
          <a:effectLst>
            <a:outerShdw sx="100000" sy="100000" kx="0" ky="0" algn="bl" rotWithShape="0" blurRad="127000" dist="38100" dir="5400000">
              <a:srgbClr val="1F3D26">
                <a:alpha val="18000"/>
              </a:srgbClr>
            </a:outerShdw>
          </a:effectLst>
        </p:spPr>
      </p:sp>
      <p:pic>
        <p:nvPicPr>
          <p:cNvPr id="4" name="s01-home.png" descr="s01-home.png">    </p:cNvPr>
          <p:cNvPicPr>
            <a:picLocks noChangeAspect="1"/>
          </p:cNvPicPr>
          <p:nvPr/>
        </p:nvPicPr>
        <p:blipFill>
          <a:blip r:embed="rId1"/>
          <a:stretch>
            <a:fillRect/>
          </a:stretch>
        </p:blipFill>
        <p:spPr>
          <a:xfrm>
            <a:off x="640080" y="1548765"/>
            <a:ext cx="1920240" cy="1200150"/>
          </a:xfrm>
          <a:prstGeom prst="rect">
            <a:avLst/>
          </a:prstGeom>
        </p:spPr>
      </p:pic>
      <p:sp>
        <p:nvSpPr>
          <p:cNvPr id="5" name="icon bg Search"/>
          <p:cNvSpPr/>
          <p:nvPr/>
        </p:nvSpPr>
        <p:spPr>
          <a:xfrm>
            <a:off x="1280160" y="3108960"/>
            <a:ext cx="640080" cy="640080"/>
          </a:xfrm>
          <a:prstGeom prst="ellipse">
            <a:avLst/>
          </a:prstGeom>
          <a:solidFill>
            <a:schemeClr val="accent1"/>
          </a:solidFill>
          <a:ln/>
        </p:spPr>
      </p:sp>
      <p:pic>
        <p:nvPicPr>
          <p:cNvPr id="6" name="icon Search" descr="Search">    </p:cNvPr>
          <p:cNvPicPr>
            <a:picLocks noChangeAspect="1"/>
          </p:cNvPicPr>
          <p:nvPr/>
        </p:nvPicPr>
        <p:blipFill>
          <a:blip r:embed="rId2"/>
          <a:stretch>
            <a:fillRect/>
          </a:stretch>
        </p:blipFill>
        <p:spPr>
          <a:xfrm>
            <a:off x="1433779" y="3262579"/>
            <a:ext cx="332842" cy="332842"/>
          </a:xfrm>
          <a:prstGeom prst="rect">
            <a:avLst/>
          </a:prstGeom>
        </p:spPr>
      </p:pic>
      <p:sp>
        <p:nvSpPr>
          <p:cNvPr id="7" name="arrow 0"/>
          <p:cNvSpPr/>
          <p:nvPr/>
        </p:nvSpPr>
        <p:spPr>
          <a:xfrm>
            <a:off x="2103120" y="3310128"/>
            <a:ext cx="1234440" cy="237744"/>
          </a:xfrm>
          <a:prstGeom prst="rightArrow">
            <a:avLst/>
          </a:prstGeom>
          <a:solidFill>
            <a:schemeClr val="accent3"/>
          </a:solidFill>
          <a:ln/>
        </p:spPr>
      </p:sp>
      <p:sp>
        <p:nvSpPr>
          <p:cNvPr id="8" name="Text 4"/>
          <p:cNvSpPr txBox="1"/>
          <p:nvPr/>
        </p:nvSpPr>
        <p:spPr>
          <a:xfrm>
            <a:off x="548640" y="3886200"/>
            <a:ext cx="2103120" cy="384048"/>
          </a:xfrm>
          <a:prstGeom prst="rect">
            <a:avLst/>
          </a:prstGeom>
          <a:noFill/>
          <a:ln/>
        </p:spPr>
        <p:txBody>
          <a:bodyPr wrap="square" lIns="0" tIns="0" rIns="0" bIns="0" rtlCol="0" anchor="t"/>
          <a:lstStyle/>
          <a:p>
            <a:pPr algn="ctr" indent="0" marL="0">
              <a:buNone/>
            </a:pPr>
            <a:r>
              <a:rPr lang="en-US" sz="1700" b="1" dirty="0">
                <a:solidFill>
                  <a:schemeClr val="tx2"/>
                </a:solidFill>
              </a:rPr>
              <a:t>1. Khám phá</a:t>
            </a:r>
            <a:endParaRPr lang="en-US" sz="1700" dirty="0"/>
          </a:p>
        </p:txBody>
      </p:sp>
      <p:sp>
        <p:nvSpPr>
          <p:cNvPr id="9" name="Text 5"/>
          <p:cNvSpPr txBox="1"/>
          <p:nvPr/>
        </p:nvSpPr>
        <p:spPr>
          <a:xfrm>
            <a:off x="594360" y="4297680"/>
            <a:ext cx="2011680" cy="777240"/>
          </a:xfrm>
          <a:prstGeom prst="rect">
            <a:avLst/>
          </a:prstGeom>
          <a:noFill/>
          <a:ln/>
        </p:spPr>
        <p:txBody>
          <a:bodyPr wrap="square" lIns="0" tIns="0" rIns="0" bIns="0" rtlCol="0" anchor="t"/>
          <a:lstStyle/>
          <a:p>
            <a:pPr algn="ctr" indent="0" marL="0">
              <a:buNone/>
            </a:pPr>
            <a:r>
              <a:rPr lang="en-US" sz="1300" dirty="0">
                <a:solidFill>
                  <a:schemeClr val="tx1"/>
                </a:solidFill>
              </a:rPr>
              <a:t>Trang chủ, danh mục, lọc, tìm kiếm không dấu</a:t>
            </a:r>
            <a:endParaRPr lang="en-US" sz="1300" dirty="0"/>
          </a:p>
        </p:txBody>
      </p:sp>
      <p:sp>
        <p:nvSpPr>
          <p:cNvPr id="10" name="frame s07-product-detail.png"/>
          <p:cNvSpPr/>
          <p:nvPr/>
        </p:nvSpPr>
        <p:spPr>
          <a:xfrm>
            <a:off x="2788920" y="1417320"/>
            <a:ext cx="2103120" cy="1463040"/>
          </a:xfrm>
          <a:prstGeom prst="roundRect">
            <a:avLst>
              <a:gd name="adj" fmla="val 7500"/>
            </a:avLst>
          </a:prstGeom>
          <a:solidFill>
            <a:srgbClr val="FFFFFF"/>
          </a:solidFill>
          <a:ln w="9525">
            <a:solidFill>
              <a:srgbClr val="E3E8E4"/>
            </a:solidFill>
            <a:prstDash val="solid"/>
          </a:ln>
          <a:effectLst>
            <a:outerShdw sx="100000" sy="100000" kx="0" ky="0" algn="bl" rotWithShape="0" blurRad="127000" dist="38100" dir="5400000">
              <a:srgbClr val="1F3D26">
                <a:alpha val="18000"/>
              </a:srgbClr>
            </a:outerShdw>
          </a:effectLst>
        </p:spPr>
      </p:sp>
      <p:pic>
        <p:nvPicPr>
          <p:cNvPr id="11" name="s07-product-detail.png" descr="s07-product-detail.png">    </p:cNvPr>
          <p:cNvPicPr>
            <a:picLocks noChangeAspect="1"/>
          </p:cNvPicPr>
          <p:nvPr/>
        </p:nvPicPr>
        <p:blipFill>
          <a:blip r:embed="rId3"/>
          <a:stretch>
            <a:fillRect/>
          </a:stretch>
        </p:blipFill>
        <p:spPr>
          <a:xfrm>
            <a:off x="2880360" y="1548765"/>
            <a:ext cx="1920240" cy="1200150"/>
          </a:xfrm>
          <a:prstGeom prst="rect">
            <a:avLst/>
          </a:prstGeom>
        </p:spPr>
      </p:pic>
      <p:sp>
        <p:nvSpPr>
          <p:cNvPr id="12" name="icon bg Leaf"/>
          <p:cNvSpPr/>
          <p:nvPr/>
        </p:nvSpPr>
        <p:spPr>
          <a:xfrm>
            <a:off x="3520440" y="3108960"/>
            <a:ext cx="640080" cy="640080"/>
          </a:xfrm>
          <a:prstGeom prst="ellipse">
            <a:avLst/>
          </a:prstGeom>
          <a:solidFill>
            <a:schemeClr val="accent1"/>
          </a:solidFill>
          <a:ln/>
        </p:spPr>
      </p:sp>
      <p:pic>
        <p:nvPicPr>
          <p:cNvPr id="13" name="icon Leaf" descr="Leaf">    </p:cNvPr>
          <p:cNvPicPr>
            <a:picLocks noChangeAspect="1"/>
          </p:cNvPicPr>
          <p:nvPr/>
        </p:nvPicPr>
        <p:blipFill>
          <a:blip r:embed="rId4"/>
          <a:stretch>
            <a:fillRect/>
          </a:stretch>
        </p:blipFill>
        <p:spPr>
          <a:xfrm>
            <a:off x="3674059" y="3262579"/>
            <a:ext cx="332842" cy="332842"/>
          </a:xfrm>
          <a:prstGeom prst="rect">
            <a:avLst/>
          </a:prstGeom>
        </p:spPr>
      </p:pic>
      <p:sp>
        <p:nvSpPr>
          <p:cNvPr id="14" name="arrow 1"/>
          <p:cNvSpPr/>
          <p:nvPr/>
        </p:nvSpPr>
        <p:spPr>
          <a:xfrm>
            <a:off x="4343400" y="3310128"/>
            <a:ext cx="1234440" cy="237744"/>
          </a:xfrm>
          <a:prstGeom prst="rightArrow">
            <a:avLst/>
          </a:prstGeom>
          <a:solidFill>
            <a:schemeClr val="accent3"/>
          </a:solidFill>
          <a:ln/>
        </p:spPr>
      </p:sp>
      <p:sp>
        <p:nvSpPr>
          <p:cNvPr id="15" name="Text 9"/>
          <p:cNvSpPr txBox="1"/>
          <p:nvPr/>
        </p:nvSpPr>
        <p:spPr>
          <a:xfrm>
            <a:off x="2788920" y="3886200"/>
            <a:ext cx="2103120" cy="384048"/>
          </a:xfrm>
          <a:prstGeom prst="rect">
            <a:avLst/>
          </a:prstGeom>
          <a:noFill/>
          <a:ln/>
        </p:spPr>
        <p:txBody>
          <a:bodyPr wrap="square" lIns="0" tIns="0" rIns="0" bIns="0" rtlCol="0" anchor="t"/>
          <a:lstStyle/>
          <a:p>
            <a:pPr algn="ctr" indent="0" marL="0">
              <a:buNone/>
            </a:pPr>
            <a:r>
              <a:rPr lang="en-US" sz="1700" b="1" dirty="0">
                <a:solidFill>
                  <a:schemeClr val="tx2"/>
                </a:solidFill>
              </a:rPr>
              <a:t>2. Chọn cây</a:t>
            </a:r>
            <a:endParaRPr lang="en-US" sz="1700" dirty="0"/>
          </a:p>
        </p:txBody>
      </p:sp>
      <p:sp>
        <p:nvSpPr>
          <p:cNvPr id="16" name="Text 10"/>
          <p:cNvSpPr txBox="1"/>
          <p:nvPr/>
        </p:nvSpPr>
        <p:spPr>
          <a:xfrm>
            <a:off x="2834640" y="4297680"/>
            <a:ext cx="2011680" cy="777240"/>
          </a:xfrm>
          <a:prstGeom prst="rect">
            <a:avLst/>
          </a:prstGeom>
          <a:noFill/>
          <a:ln/>
        </p:spPr>
        <p:txBody>
          <a:bodyPr wrap="square" lIns="0" tIns="0" rIns="0" bIns="0" rtlCol="0" anchor="t"/>
          <a:lstStyle/>
          <a:p>
            <a:pPr algn="ctr" indent="0" marL="0">
              <a:buNone/>
            </a:pPr>
            <a:r>
              <a:rPr lang="en-US" sz="1300" dirty="0">
                <a:solidFill>
                  <a:schemeClr val="tx1"/>
                </a:solidFill>
              </a:rPr>
              <a:t>Ảnh, giá, tồn kho, cách chăm sóc</a:t>
            </a:r>
            <a:endParaRPr lang="en-US" sz="1300" dirty="0"/>
          </a:p>
        </p:txBody>
      </p:sp>
      <p:sp>
        <p:nvSpPr>
          <p:cNvPr id="17" name="frame s10-cart-drawer.png"/>
          <p:cNvSpPr/>
          <p:nvPr/>
        </p:nvSpPr>
        <p:spPr>
          <a:xfrm>
            <a:off x="5029200" y="1417320"/>
            <a:ext cx="2103120" cy="1463040"/>
          </a:xfrm>
          <a:prstGeom prst="roundRect">
            <a:avLst>
              <a:gd name="adj" fmla="val 7500"/>
            </a:avLst>
          </a:prstGeom>
          <a:solidFill>
            <a:srgbClr val="FFFFFF"/>
          </a:solidFill>
          <a:ln w="9525">
            <a:solidFill>
              <a:srgbClr val="E3E8E4"/>
            </a:solidFill>
            <a:prstDash val="solid"/>
          </a:ln>
          <a:effectLst>
            <a:outerShdw sx="100000" sy="100000" kx="0" ky="0" algn="bl" rotWithShape="0" blurRad="127000" dist="38100" dir="5400000">
              <a:srgbClr val="1F3D26">
                <a:alpha val="18000"/>
              </a:srgbClr>
            </a:outerShdw>
          </a:effectLst>
        </p:spPr>
      </p:sp>
      <p:pic>
        <p:nvPicPr>
          <p:cNvPr id="18" name="s10-cart-drawer.png" descr="s10-cart-drawer.png">    </p:cNvPr>
          <p:cNvPicPr>
            <a:picLocks noChangeAspect="1"/>
          </p:cNvPicPr>
          <p:nvPr/>
        </p:nvPicPr>
        <p:blipFill>
          <a:blip r:embed="rId5"/>
          <a:stretch>
            <a:fillRect/>
          </a:stretch>
        </p:blipFill>
        <p:spPr>
          <a:xfrm>
            <a:off x="5120640" y="1548765"/>
            <a:ext cx="1920240" cy="1200150"/>
          </a:xfrm>
          <a:prstGeom prst="rect">
            <a:avLst/>
          </a:prstGeom>
        </p:spPr>
      </p:pic>
      <p:sp>
        <p:nvSpPr>
          <p:cNvPr id="19" name="icon bg ShoppingCart"/>
          <p:cNvSpPr/>
          <p:nvPr/>
        </p:nvSpPr>
        <p:spPr>
          <a:xfrm>
            <a:off x="5760720" y="3108960"/>
            <a:ext cx="640080" cy="640080"/>
          </a:xfrm>
          <a:prstGeom prst="ellipse">
            <a:avLst/>
          </a:prstGeom>
          <a:solidFill>
            <a:schemeClr val="accent1"/>
          </a:solidFill>
          <a:ln/>
        </p:spPr>
      </p:sp>
      <p:pic>
        <p:nvPicPr>
          <p:cNvPr id="20" name="icon ShoppingCart" descr="ShoppingCart">    </p:cNvPr>
          <p:cNvPicPr>
            <a:picLocks noChangeAspect="1"/>
          </p:cNvPicPr>
          <p:nvPr/>
        </p:nvPicPr>
        <p:blipFill>
          <a:blip r:embed="rId6"/>
          <a:stretch>
            <a:fillRect/>
          </a:stretch>
        </p:blipFill>
        <p:spPr>
          <a:xfrm>
            <a:off x="5914339" y="3262579"/>
            <a:ext cx="332842" cy="332842"/>
          </a:xfrm>
          <a:prstGeom prst="rect">
            <a:avLst/>
          </a:prstGeom>
        </p:spPr>
      </p:pic>
      <p:sp>
        <p:nvSpPr>
          <p:cNvPr id="21" name="arrow 2"/>
          <p:cNvSpPr/>
          <p:nvPr/>
        </p:nvSpPr>
        <p:spPr>
          <a:xfrm>
            <a:off x="6583680" y="3310128"/>
            <a:ext cx="1234440" cy="237744"/>
          </a:xfrm>
          <a:prstGeom prst="rightArrow">
            <a:avLst/>
          </a:prstGeom>
          <a:solidFill>
            <a:schemeClr val="accent3"/>
          </a:solidFill>
          <a:ln/>
        </p:spPr>
      </p:sp>
      <p:sp>
        <p:nvSpPr>
          <p:cNvPr id="22" name="Text 14"/>
          <p:cNvSpPr txBox="1"/>
          <p:nvPr/>
        </p:nvSpPr>
        <p:spPr>
          <a:xfrm>
            <a:off x="5029200" y="3886200"/>
            <a:ext cx="2103120" cy="384048"/>
          </a:xfrm>
          <a:prstGeom prst="rect">
            <a:avLst/>
          </a:prstGeom>
          <a:noFill/>
          <a:ln/>
        </p:spPr>
        <p:txBody>
          <a:bodyPr wrap="square" lIns="0" tIns="0" rIns="0" bIns="0" rtlCol="0" anchor="t"/>
          <a:lstStyle/>
          <a:p>
            <a:pPr algn="ctr" indent="0" marL="0">
              <a:buNone/>
            </a:pPr>
            <a:r>
              <a:rPr lang="en-US" sz="1700" b="1" dirty="0">
                <a:solidFill>
                  <a:schemeClr val="tx2"/>
                </a:solidFill>
              </a:rPr>
              <a:t>3. Giỏ hàng</a:t>
            </a:r>
            <a:endParaRPr lang="en-US" sz="1700" dirty="0"/>
          </a:p>
        </p:txBody>
      </p:sp>
      <p:sp>
        <p:nvSpPr>
          <p:cNvPr id="23" name="Text 15"/>
          <p:cNvSpPr txBox="1"/>
          <p:nvPr/>
        </p:nvSpPr>
        <p:spPr>
          <a:xfrm>
            <a:off x="5074920" y="4297680"/>
            <a:ext cx="2011680" cy="777240"/>
          </a:xfrm>
          <a:prstGeom prst="rect">
            <a:avLst/>
          </a:prstGeom>
          <a:noFill/>
          <a:ln/>
        </p:spPr>
        <p:txBody>
          <a:bodyPr wrap="square" lIns="0" tIns="0" rIns="0" bIns="0" rtlCol="0" anchor="t"/>
          <a:lstStyle/>
          <a:p>
            <a:pPr algn="ctr" indent="0" marL="0">
              <a:buNone/>
            </a:pPr>
            <a:r>
              <a:rPr lang="en-US" sz="1300" dirty="0">
                <a:solidFill>
                  <a:schemeClr val="tx1"/>
                </a:solidFill>
              </a:rPr>
              <a:t>Ảnh bay vào giỏ, ngăn kéo giỏ</a:t>
            </a:r>
            <a:endParaRPr lang="en-US" sz="1300" dirty="0"/>
          </a:p>
        </p:txBody>
      </p:sp>
      <p:sp>
        <p:nvSpPr>
          <p:cNvPr id="24" name="frame s11-checkout.png"/>
          <p:cNvSpPr/>
          <p:nvPr/>
        </p:nvSpPr>
        <p:spPr>
          <a:xfrm>
            <a:off x="7269480" y="1417320"/>
            <a:ext cx="2103120" cy="1463040"/>
          </a:xfrm>
          <a:prstGeom prst="roundRect">
            <a:avLst>
              <a:gd name="adj" fmla="val 7500"/>
            </a:avLst>
          </a:prstGeom>
          <a:solidFill>
            <a:srgbClr val="FFFFFF"/>
          </a:solidFill>
          <a:ln w="9525">
            <a:solidFill>
              <a:srgbClr val="E3E8E4"/>
            </a:solidFill>
            <a:prstDash val="solid"/>
          </a:ln>
          <a:effectLst>
            <a:outerShdw sx="100000" sy="100000" kx="0" ky="0" algn="bl" rotWithShape="0" blurRad="127000" dist="38100" dir="5400000">
              <a:srgbClr val="1F3D26">
                <a:alpha val="18000"/>
              </a:srgbClr>
            </a:outerShdw>
          </a:effectLst>
        </p:spPr>
      </p:sp>
      <p:pic>
        <p:nvPicPr>
          <p:cNvPr id="25" name="s11-checkout.png" descr="s11-checkout.png">    </p:cNvPr>
          <p:cNvPicPr>
            <a:picLocks noChangeAspect="1"/>
          </p:cNvPicPr>
          <p:nvPr/>
        </p:nvPicPr>
        <p:blipFill>
          <a:blip r:embed="rId7"/>
          <a:stretch>
            <a:fillRect/>
          </a:stretch>
        </p:blipFill>
        <p:spPr>
          <a:xfrm>
            <a:off x="7360920" y="1548765"/>
            <a:ext cx="1920240" cy="1200150"/>
          </a:xfrm>
          <a:prstGeom prst="rect">
            <a:avLst/>
          </a:prstGeom>
        </p:spPr>
      </p:pic>
      <p:sp>
        <p:nvSpPr>
          <p:cNvPr id="26" name="icon bg CreditCard"/>
          <p:cNvSpPr/>
          <p:nvPr/>
        </p:nvSpPr>
        <p:spPr>
          <a:xfrm>
            <a:off x="8001000" y="3108960"/>
            <a:ext cx="640080" cy="640080"/>
          </a:xfrm>
          <a:prstGeom prst="ellipse">
            <a:avLst/>
          </a:prstGeom>
          <a:solidFill>
            <a:schemeClr val="accent1"/>
          </a:solidFill>
          <a:ln/>
        </p:spPr>
      </p:sp>
      <p:pic>
        <p:nvPicPr>
          <p:cNvPr id="27" name="icon CreditCard" descr="CreditCard">    </p:cNvPr>
          <p:cNvPicPr>
            <a:picLocks noChangeAspect="1"/>
          </p:cNvPicPr>
          <p:nvPr/>
        </p:nvPicPr>
        <p:blipFill>
          <a:blip r:embed="rId8"/>
          <a:stretch>
            <a:fillRect/>
          </a:stretch>
        </p:blipFill>
        <p:spPr>
          <a:xfrm>
            <a:off x="8154619" y="3262579"/>
            <a:ext cx="332842" cy="332842"/>
          </a:xfrm>
          <a:prstGeom prst="rect">
            <a:avLst/>
          </a:prstGeom>
        </p:spPr>
      </p:pic>
      <p:sp>
        <p:nvSpPr>
          <p:cNvPr id="28" name="arrow 3"/>
          <p:cNvSpPr/>
          <p:nvPr/>
        </p:nvSpPr>
        <p:spPr>
          <a:xfrm>
            <a:off x="8823960" y="3310128"/>
            <a:ext cx="1234440" cy="237744"/>
          </a:xfrm>
          <a:prstGeom prst="rightArrow">
            <a:avLst/>
          </a:prstGeom>
          <a:solidFill>
            <a:schemeClr val="accent3"/>
          </a:solidFill>
          <a:ln/>
        </p:spPr>
      </p:sp>
      <p:sp>
        <p:nvSpPr>
          <p:cNvPr id="29" name="Text 19"/>
          <p:cNvSpPr txBox="1"/>
          <p:nvPr/>
        </p:nvSpPr>
        <p:spPr>
          <a:xfrm>
            <a:off x="7269480" y="3886200"/>
            <a:ext cx="2103120" cy="384048"/>
          </a:xfrm>
          <a:prstGeom prst="rect">
            <a:avLst/>
          </a:prstGeom>
          <a:noFill/>
          <a:ln/>
        </p:spPr>
        <p:txBody>
          <a:bodyPr wrap="square" lIns="0" tIns="0" rIns="0" bIns="0" rtlCol="0" anchor="t"/>
          <a:lstStyle/>
          <a:p>
            <a:pPr algn="ctr" indent="0" marL="0">
              <a:buNone/>
            </a:pPr>
            <a:r>
              <a:rPr lang="en-US" sz="1700" b="1" dirty="0">
                <a:solidFill>
                  <a:schemeClr val="tx2"/>
                </a:solidFill>
              </a:rPr>
              <a:t>4. Thanh toán</a:t>
            </a:r>
            <a:endParaRPr lang="en-US" sz="1700" dirty="0"/>
          </a:p>
        </p:txBody>
      </p:sp>
      <p:sp>
        <p:nvSpPr>
          <p:cNvPr id="30" name="Text 20"/>
          <p:cNvSpPr txBox="1"/>
          <p:nvPr/>
        </p:nvSpPr>
        <p:spPr>
          <a:xfrm>
            <a:off x="7315200" y="4297680"/>
            <a:ext cx="2011680" cy="777240"/>
          </a:xfrm>
          <a:prstGeom prst="rect">
            <a:avLst/>
          </a:prstGeom>
          <a:noFill/>
          <a:ln/>
        </p:spPr>
        <p:txBody>
          <a:bodyPr wrap="square" lIns="0" tIns="0" rIns="0" bIns="0" rtlCol="0" anchor="t"/>
          <a:lstStyle/>
          <a:p>
            <a:pPr algn="ctr" indent="0" marL="0">
              <a:buNone/>
            </a:pPr>
            <a:r>
              <a:rPr lang="en-US" sz="1300" dirty="0">
                <a:solidFill>
                  <a:schemeClr val="tx1"/>
                </a:solidFill>
              </a:rPr>
              <a:t>1 bước: COD hoặc chuyển khoản QR</a:t>
            </a:r>
            <a:endParaRPr lang="en-US" sz="1300" dirty="0"/>
          </a:p>
        </p:txBody>
      </p:sp>
      <p:sp>
        <p:nvSpPr>
          <p:cNvPr id="31" name="frame s14-order-lookup.png"/>
          <p:cNvSpPr/>
          <p:nvPr/>
        </p:nvSpPr>
        <p:spPr>
          <a:xfrm>
            <a:off x="9509760" y="1417320"/>
            <a:ext cx="2103120" cy="1463040"/>
          </a:xfrm>
          <a:prstGeom prst="roundRect">
            <a:avLst>
              <a:gd name="adj" fmla="val 7500"/>
            </a:avLst>
          </a:prstGeom>
          <a:solidFill>
            <a:srgbClr val="FFFFFF"/>
          </a:solidFill>
          <a:ln w="9525">
            <a:solidFill>
              <a:srgbClr val="E3E8E4"/>
            </a:solidFill>
            <a:prstDash val="solid"/>
          </a:ln>
          <a:effectLst>
            <a:outerShdw sx="100000" sy="100000" kx="0" ky="0" algn="bl" rotWithShape="0" blurRad="127000" dist="38100" dir="5400000">
              <a:srgbClr val="1F3D26">
                <a:alpha val="18000"/>
              </a:srgbClr>
            </a:outerShdw>
          </a:effectLst>
        </p:spPr>
      </p:sp>
      <p:pic>
        <p:nvPicPr>
          <p:cNvPr id="32" name="s14-order-lookup.png" descr="s14-order-lookup.png">    </p:cNvPr>
          <p:cNvPicPr>
            <a:picLocks noChangeAspect="1"/>
          </p:cNvPicPr>
          <p:nvPr/>
        </p:nvPicPr>
        <p:blipFill>
          <a:blip r:embed="rId9"/>
          <a:stretch>
            <a:fillRect/>
          </a:stretch>
        </p:blipFill>
        <p:spPr>
          <a:xfrm>
            <a:off x="9601200" y="1548765"/>
            <a:ext cx="1920240" cy="1200150"/>
          </a:xfrm>
          <a:prstGeom prst="rect">
            <a:avLst/>
          </a:prstGeom>
        </p:spPr>
      </p:pic>
      <p:sp>
        <p:nvSpPr>
          <p:cNvPr id="33" name="icon bg PackageCheck"/>
          <p:cNvSpPr/>
          <p:nvPr/>
        </p:nvSpPr>
        <p:spPr>
          <a:xfrm>
            <a:off x="10241280" y="3108960"/>
            <a:ext cx="640080" cy="640080"/>
          </a:xfrm>
          <a:prstGeom prst="ellipse">
            <a:avLst/>
          </a:prstGeom>
          <a:solidFill>
            <a:schemeClr val="accent1"/>
          </a:solidFill>
          <a:ln/>
        </p:spPr>
      </p:sp>
      <p:pic>
        <p:nvPicPr>
          <p:cNvPr id="34" name="icon PackageCheck" descr="PackageCheck">    </p:cNvPr>
          <p:cNvPicPr>
            <a:picLocks noChangeAspect="1"/>
          </p:cNvPicPr>
          <p:nvPr/>
        </p:nvPicPr>
        <p:blipFill>
          <a:blip r:embed="rId10"/>
          <a:stretch>
            <a:fillRect/>
          </a:stretch>
        </p:blipFill>
        <p:spPr>
          <a:xfrm>
            <a:off x="10394899" y="3262579"/>
            <a:ext cx="332842" cy="332842"/>
          </a:xfrm>
          <a:prstGeom prst="rect">
            <a:avLst/>
          </a:prstGeom>
        </p:spPr>
      </p:pic>
      <p:sp>
        <p:nvSpPr>
          <p:cNvPr id="35" name="Text 23"/>
          <p:cNvSpPr txBox="1"/>
          <p:nvPr/>
        </p:nvSpPr>
        <p:spPr>
          <a:xfrm>
            <a:off x="9509760" y="3886200"/>
            <a:ext cx="2103120" cy="384048"/>
          </a:xfrm>
          <a:prstGeom prst="rect">
            <a:avLst/>
          </a:prstGeom>
          <a:noFill/>
          <a:ln/>
        </p:spPr>
        <p:txBody>
          <a:bodyPr wrap="square" lIns="0" tIns="0" rIns="0" bIns="0" rtlCol="0" anchor="t"/>
          <a:lstStyle/>
          <a:p>
            <a:pPr algn="ctr" indent="0" marL="0">
              <a:buNone/>
            </a:pPr>
            <a:r>
              <a:rPr lang="en-US" sz="1700" b="1" dirty="0">
                <a:solidFill>
                  <a:schemeClr val="tx2"/>
                </a:solidFill>
              </a:rPr>
              <a:t>5. Theo dõi đơn</a:t>
            </a:r>
            <a:endParaRPr lang="en-US" sz="1700" dirty="0"/>
          </a:p>
        </p:txBody>
      </p:sp>
      <p:sp>
        <p:nvSpPr>
          <p:cNvPr id="36" name="Text 24"/>
          <p:cNvSpPr txBox="1"/>
          <p:nvPr/>
        </p:nvSpPr>
        <p:spPr>
          <a:xfrm>
            <a:off x="9555480" y="4297680"/>
            <a:ext cx="2011680" cy="777240"/>
          </a:xfrm>
          <a:prstGeom prst="rect">
            <a:avLst/>
          </a:prstGeom>
          <a:noFill/>
          <a:ln/>
        </p:spPr>
        <p:txBody>
          <a:bodyPr wrap="square" lIns="0" tIns="0" rIns="0" bIns="0" rtlCol="0" anchor="t"/>
          <a:lstStyle/>
          <a:p>
            <a:pPr algn="ctr" indent="0" marL="0">
              <a:buNone/>
            </a:pPr>
            <a:r>
              <a:rPr lang="en-US" sz="1300" dirty="0">
                <a:solidFill>
                  <a:schemeClr val="tx1"/>
                </a:solidFill>
              </a:rPr>
              <a:t>Tra cứu bằng SĐT + mã đơn</a:t>
            </a:r>
            <a:endParaRPr lang="en-US" sz="1300" dirty="0"/>
          </a:p>
        </p:txBody>
      </p:sp>
      <p:sp>
        <p:nvSpPr>
          <p:cNvPr id="37" name="admin strip"/>
          <p:cNvSpPr/>
          <p:nvPr/>
        </p:nvSpPr>
        <p:spPr>
          <a:xfrm>
            <a:off x="548640" y="5303520"/>
            <a:ext cx="11064240" cy="822960"/>
          </a:xfrm>
          <a:prstGeom prst="roundRect">
            <a:avLst>
              <a:gd name="adj" fmla="val 13333"/>
            </a:avLst>
          </a:prstGeom>
          <a:solidFill>
            <a:schemeClr val="bg2"/>
          </a:solidFill>
          <a:ln/>
        </p:spPr>
      </p:sp>
      <p:sp>
        <p:nvSpPr>
          <p:cNvPr id="38" name="icon bg UserCog"/>
          <p:cNvSpPr/>
          <p:nvPr/>
        </p:nvSpPr>
        <p:spPr>
          <a:xfrm>
            <a:off x="777240" y="5440680"/>
            <a:ext cx="548640" cy="548640"/>
          </a:xfrm>
          <a:prstGeom prst="ellipse">
            <a:avLst/>
          </a:prstGeom>
          <a:solidFill>
            <a:schemeClr val="accent1"/>
          </a:solidFill>
          <a:ln/>
        </p:spPr>
      </p:sp>
      <p:pic>
        <p:nvPicPr>
          <p:cNvPr id="39" name="icon UserCog" descr="UserCog">    </p:cNvPr>
          <p:cNvPicPr>
            <a:picLocks noChangeAspect="1"/>
          </p:cNvPicPr>
          <p:nvPr/>
        </p:nvPicPr>
        <p:blipFill>
          <a:blip r:embed="rId11"/>
          <a:stretch>
            <a:fillRect/>
          </a:stretch>
        </p:blipFill>
        <p:spPr>
          <a:xfrm>
            <a:off x="908914" y="5572354"/>
            <a:ext cx="285293" cy="285293"/>
          </a:xfrm>
          <a:prstGeom prst="rect">
            <a:avLst/>
          </a:prstGeom>
        </p:spPr>
      </p:pic>
      <p:sp>
        <p:nvSpPr>
          <p:cNvPr id="40" name="Text 27"/>
          <p:cNvSpPr txBox="1"/>
          <p:nvPr/>
        </p:nvSpPr>
        <p:spPr>
          <a:xfrm>
            <a:off x="1508760" y="5303520"/>
            <a:ext cx="9966960" cy="822960"/>
          </a:xfrm>
          <a:prstGeom prst="rect">
            <a:avLst/>
          </a:prstGeom>
          <a:noFill/>
          <a:ln/>
        </p:spPr>
        <p:txBody>
          <a:bodyPr wrap="square" lIns="0" tIns="0" rIns="0" bIns="0" rtlCol="0" anchor="ctr"/>
          <a:lstStyle/>
          <a:p>
            <a:pPr indent="0" marL="0">
              <a:buNone/>
            </a:pPr>
            <a:r>
              <a:rPr lang="en-US" sz="1500" b="1" dirty="0">
                <a:solidFill>
                  <a:schemeClr val="tx2"/>
                </a:solidFill>
              </a:rPr>
              <a:t>Phía quản trị: </a:t>
            </a:r>
            <a:pPr indent="0" marL="0">
              <a:buNone/>
            </a:pPr>
            <a:r>
              <a:rPr lang="en-US" sz="1500" dirty="0">
                <a:solidFill>
                  <a:schemeClr val="tx1"/>
                </a:solidFill>
              </a:rPr>
              <a:t>đơn mới hiện badge → Xác nhận → Đang giao → Hoàn thành (doanh thu). Hủy ở bất kỳ bước nào → tự hoàn tồn kho.</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Bước 1–2: Khám phá và chọn sản phẩm</a:t>
            </a:r>
            <a:endParaRPr lang="en-US" sz="3000" dirty="0"/>
          </a:p>
        </p:txBody>
      </p:sp>
      <p:sp>
        <p:nvSpPr>
          <p:cNvPr id="3" name="frame s05-products-filter.png"/>
          <p:cNvSpPr/>
          <p:nvPr/>
        </p:nvSpPr>
        <p:spPr>
          <a:xfrm>
            <a:off x="548640" y="1325880"/>
            <a:ext cx="5669280" cy="3749040"/>
          </a:xfrm>
          <a:prstGeom prst="roundRect">
            <a:avLst>
              <a:gd name="adj" fmla="val 2927"/>
            </a:avLst>
          </a:prstGeom>
          <a:solidFill>
            <a:srgbClr val="FFFFFF"/>
          </a:solidFill>
          <a:ln w="9525">
            <a:solidFill>
              <a:srgbClr val="E3E8E4"/>
            </a:solidFill>
            <a:prstDash val="solid"/>
          </a:ln>
          <a:effectLst>
            <a:outerShdw sx="100000" sy="100000" kx="0" ky="0" algn="bl" rotWithShape="0" blurRad="127000" dist="38100" dir="5400000">
              <a:srgbClr val="1F3D26">
                <a:alpha val="18000"/>
              </a:srgbClr>
            </a:outerShdw>
          </a:effectLst>
        </p:spPr>
      </p:sp>
      <p:pic>
        <p:nvPicPr>
          <p:cNvPr id="4" name="s05-products-filter.png" descr="Lọc theo danh mục, khoảng giá, sắp xếp">    </p:cNvPr>
          <p:cNvPicPr>
            <a:picLocks noChangeAspect="1"/>
          </p:cNvPicPr>
          <p:nvPr/>
        </p:nvPicPr>
        <p:blipFill>
          <a:blip r:embed="rId1"/>
          <a:stretch>
            <a:fillRect/>
          </a:stretch>
        </p:blipFill>
        <p:spPr>
          <a:xfrm>
            <a:off x="786384" y="1417320"/>
            <a:ext cx="5193792" cy="3246120"/>
          </a:xfrm>
          <a:prstGeom prst="rect">
            <a:avLst/>
          </a:prstGeom>
        </p:spPr>
      </p:pic>
      <p:sp>
        <p:nvSpPr>
          <p:cNvPr id="5" name="Text 2"/>
          <p:cNvSpPr txBox="1"/>
          <p:nvPr/>
        </p:nvSpPr>
        <p:spPr>
          <a:xfrm>
            <a:off x="640080" y="4709160"/>
            <a:ext cx="5486400" cy="320040"/>
          </a:xfrm>
          <a:prstGeom prst="rect">
            <a:avLst/>
          </a:prstGeom>
          <a:noFill/>
          <a:ln/>
        </p:spPr>
        <p:txBody>
          <a:bodyPr wrap="square" lIns="0" tIns="0" rIns="0" bIns="0" rtlCol="0" anchor="ctr"/>
          <a:lstStyle/>
          <a:p>
            <a:pPr algn="ctr" indent="0" marL="0">
              <a:buNone/>
            </a:pPr>
            <a:r>
              <a:rPr lang="en-US" sz="1100" i="1" dirty="0">
                <a:solidFill>
                  <a:schemeClr val="tx1"/>
                </a:solidFill>
              </a:rPr>
              <a:t>Lọc theo danh mục, khoảng giá, sắp xếp</a:t>
            </a:r>
            <a:endParaRPr lang="en-US" sz="1100" dirty="0"/>
          </a:p>
        </p:txBody>
      </p:sp>
      <p:sp>
        <p:nvSpPr>
          <p:cNvPr id="6" name="frame s07-product-detail.png"/>
          <p:cNvSpPr/>
          <p:nvPr/>
        </p:nvSpPr>
        <p:spPr>
          <a:xfrm>
            <a:off x="6446520" y="1325880"/>
            <a:ext cx="5212080" cy="3383280"/>
          </a:xfrm>
          <a:prstGeom prst="roundRect">
            <a:avLst>
              <a:gd name="adj" fmla="val 3243"/>
            </a:avLst>
          </a:prstGeom>
          <a:solidFill>
            <a:srgbClr val="FFFFFF"/>
          </a:solidFill>
          <a:ln w="9525">
            <a:solidFill>
              <a:srgbClr val="E3E8E4"/>
            </a:solidFill>
            <a:prstDash val="solid"/>
          </a:ln>
          <a:effectLst>
            <a:outerShdw sx="100000" sy="100000" kx="0" ky="0" algn="bl" rotWithShape="0" blurRad="127000" dist="38100" dir="5400000">
              <a:srgbClr val="1F3D26">
                <a:alpha val="18000"/>
              </a:srgbClr>
            </a:outerShdw>
          </a:effectLst>
        </p:spPr>
      </p:sp>
      <p:pic>
        <p:nvPicPr>
          <p:cNvPr id="7" name="s07-product-detail.png" descr="Chi tiết sản phẩm">    </p:cNvPr>
          <p:cNvPicPr>
            <a:picLocks noChangeAspect="1"/>
          </p:cNvPicPr>
          <p:nvPr/>
        </p:nvPicPr>
        <p:blipFill>
          <a:blip r:embed="rId2"/>
          <a:stretch>
            <a:fillRect/>
          </a:stretch>
        </p:blipFill>
        <p:spPr>
          <a:xfrm>
            <a:off x="6748272" y="1417320"/>
            <a:ext cx="4608576" cy="2880360"/>
          </a:xfrm>
          <a:prstGeom prst="rect">
            <a:avLst/>
          </a:prstGeom>
        </p:spPr>
      </p:pic>
      <p:sp>
        <p:nvSpPr>
          <p:cNvPr id="8" name="Text 4"/>
          <p:cNvSpPr txBox="1"/>
          <p:nvPr/>
        </p:nvSpPr>
        <p:spPr>
          <a:xfrm>
            <a:off x="6537960" y="4343400"/>
            <a:ext cx="5029200" cy="320040"/>
          </a:xfrm>
          <a:prstGeom prst="rect">
            <a:avLst/>
          </a:prstGeom>
          <a:noFill/>
          <a:ln/>
        </p:spPr>
        <p:txBody>
          <a:bodyPr wrap="square" lIns="0" tIns="0" rIns="0" bIns="0" rtlCol="0" anchor="ctr"/>
          <a:lstStyle/>
          <a:p>
            <a:pPr algn="ctr" indent="0" marL="0">
              <a:buNone/>
            </a:pPr>
            <a:r>
              <a:rPr lang="en-US" sz="1100" i="1" dirty="0">
                <a:solidFill>
                  <a:schemeClr val="tx1"/>
                </a:solidFill>
              </a:rPr>
              <a:t>Chi tiết sản phẩm</a:t>
            </a:r>
            <a:endParaRPr lang="en-US" sz="1100" dirty="0"/>
          </a:p>
        </p:txBody>
      </p:sp>
      <p:sp>
        <p:nvSpPr>
          <p:cNvPr id="9" name="Text 5"/>
          <p:cNvSpPr txBox="1"/>
          <p:nvPr/>
        </p:nvSpPr>
        <p:spPr>
          <a:xfrm>
            <a:off x="548640" y="5257800"/>
            <a:ext cx="11064240" cy="10515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Tìm “sen da lola” hay “sen đá Lola” đều ra kết quả nhờ cột tên bỏ dấu</a:t>
            </a:r>
            <a:endParaRPr lang="en-US" sz="1500" dirty="0"/>
          </a:p>
          <a:p>
            <a:pPr marL="203200" indent="-203200">
              <a:spcAft>
                <a:spcPts val="800"/>
              </a:spcAft>
              <a:buSzPct val="100000"/>
              <a:buChar char="•"/>
            </a:pPr>
            <a:r>
              <a:rPr lang="en-US" sz="1500" dirty="0">
                <a:solidFill>
                  <a:schemeClr val="tx1"/>
                </a:solidFill>
              </a:rPr>
              <a:t>Bộ lọc lưu trên URL: chia sẻ link, bấm Back vẫn giữ kết quả</a:t>
            </a:r>
            <a:endParaRPr lang="en-US" sz="1500" dirty="0"/>
          </a:p>
          <a:p>
            <a:pPr marL="203200" indent="-203200">
              <a:spcAft>
                <a:spcPts val="800"/>
              </a:spcAft>
              <a:buSzPct val="100000"/>
              <a:buChar char="•"/>
            </a:pPr>
            <a:r>
              <a:rPr lang="en-US" sz="1500" dirty="0">
                <a:solidFill>
                  <a:schemeClr val="tx1"/>
                </a:solidFill>
              </a:rPr>
              <a:t>Hiện “Chỉ còn 3 chậu”, giá khuyến mãi, hướng dẫn chăm sóc</a:t>
            </a:r>
            <a:endParaRPr lang="en-US" sz="1500" dirty="0"/>
          </a:p>
        </p:txBody>
      </p:sp>
      <p:sp>
        <p:nvSpPr>
          <p:cNvPr id="10" name="Text 6"/>
          <p:cNvSpPr txBox="1"/>
          <p:nvPr/>
        </p:nvSpPr>
        <p:spPr>
          <a:xfrm>
            <a:off x="6492240" y="4800600"/>
            <a:ext cx="5120640" cy="365760"/>
          </a:xfrm>
          <a:prstGeom prst="rect">
            <a:avLst/>
          </a:prstGeom>
          <a:noFill/>
          <a:ln/>
        </p:spPr>
        <p:txBody>
          <a:bodyPr wrap="square" lIns="0" tIns="0" rIns="0" bIns="0" rtlCol="0" anchor="t"/>
          <a:lstStyle/>
          <a:p>
            <a:pPr indent="0" marL="0">
              <a:buNone/>
            </a:pPr>
            <a:r>
              <a:rPr lang="en-US" sz="1300" i="1" dirty="0">
                <a:solidFill>
                  <a:schemeClr val="accent1"/>
                </a:solidFill>
              </a:rPr>
              <a:t>Trang tĩnh định kỳ (ISR) + làm mới khi admin lưu → chuyển trang ~100 ms</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Bước 3: Giỏ hàng với hiệu ứng “bay vào giỏ”</a:t>
            </a:r>
            <a:endParaRPr lang="en-US" sz="3000" dirty="0"/>
          </a:p>
        </p:txBody>
      </p:sp>
      <p:sp>
        <p:nvSpPr>
          <p:cNvPr id="3" name="frame s09-fly-to-cart.png"/>
          <p:cNvSpPr/>
          <p:nvPr/>
        </p:nvSpPr>
        <p:spPr>
          <a:xfrm>
            <a:off x="548640" y="1325880"/>
            <a:ext cx="5852160" cy="3931920"/>
          </a:xfrm>
          <a:prstGeom prst="roundRect">
            <a:avLst>
              <a:gd name="adj" fmla="val 2791"/>
            </a:avLst>
          </a:prstGeom>
          <a:solidFill>
            <a:srgbClr val="FFFFFF"/>
          </a:solidFill>
          <a:ln w="9525">
            <a:solidFill>
              <a:srgbClr val="E3E8E4"/>
            </a:solidFill>
            <a:prstDash val="solid"/>
          </a:ln>
          <a:effectLst>
            <a:outerShdw sx="100000" sy="100000" kx="0" ky="0" algn="bl" rotWithShape="0" blurRad="127000" dist="38100" dir="5400000">
              <a:srgbClr val="1F3D26">
                <a:alpha val="18000"/>
              </a:srgbClr>
            </a:outerShdw>
          </a:effectLst>
        </p:spPr>
      </p:sp>
      <p:pic>
        <p:nvPicPr>
          <p:cNvPr id="4" name="s09-fly-to-cart.png" descr="Ảnh sản phẩm bay theo đường cong vào biểu tượng giỏ">    </p:cNvPr>
          <p:cNvPicPr>
            <a:picLocks noChangeAspect="1"/>
          </p:cNvPicPr>
          <p:nvPr/>
        </p:nvPicPr>
        <p:blipFill>
          <a:blip r:embed="rId1"/>
          <a:stretch>
            <a:fillRect/>
          </a:stretch>
        </p:blipFill>
        <p:spPr>
          <a:xfrm>
            <a:off x="731520" y="1417320"/>
            <a:ext cx="5486400" cy="3429000"/>
          </a:xfrm>
          <a:prstGeom prst="rect">
            <a:avLst/>
          </a:prstGeom>
        </p:spPr>
      </p:pic>
      <p:sp>
        <p:nvSpPr>
          <p:cNvPr id="5" name="Text 2"/>
          <p:cNvSpPr txBox="1"/>
          <p:nvPr/>
        </p:nvSpPr>
        <p:spPr>
          <a:xfrm>
            <a:off x="640080" y="4892040"/>
            <a:ext cx="5669280" cy="320040"/>
          </a:xfrm>
          <a:prstGeom prst="rect">
            <a:avLst/>
          </a:prstGeom>
          <a:noFill/>
          <a:ln/>
        </p:spPr>
        <p:txBody>
          <a:bodyPr wrap="square" lIns="0" tIns="0" rIns="0" bIns="0" rtlCol="0" anchor="ctr"/>
          <a:lstStyle/>
          <a:p>
            <a:pPr algn="ctr" indent="0" marL="0">
              <a:buNone/>
            </a:pPr>
            <a:r>
              <a:rPr lang="en-US" sz="1100" i="1" dirty="0">
                <a:solidFill>
                  <a:schemeClr val="tx1"/>
                </a:solidFill>
              </a:rPr>
              <a:t>Ảnh sản phẩm bay theo đường cong vào biểu tượng giỏ</a:t>
            </a:r>
            <a:endParaRPr lang="en-US" sz="1100" dirty="0"/>
          </a:p>
        </p:txBody>
      </p:sp>
      <p:sp>
        <p:nvSpPr>
          <p:cNvPr id="6" name="frame s10-cart-drawer.png"/>
          <p:cNvSpPr/>
          <p:nvPr/>
        </p:nvSpPr>
        <p:spPr>
          <a:xfrm>
            <a:off x="6629400" y="1325880"/>
            <a:ext cx="5029200" cy="3337560"/>
          </a:xfrm>
          <a:prstGeom prst="roundRect">
            <a:avLst>
              <a:gd name="adj" fmla="val 3288"/>
            </a:avLst>
          </a:prstGeom>
          <a:solidFill>
            <a:srgbClr val="FFFFFF"/>
          </a:solidFill>
          <a:ln w="9525">
            <a:solidFill>
              <a:srgbClr val="E3E8E4"/>
            </a:solidFill>
            <a:prstDash val="solid"/>
          </a:ln>
          <a:effectLst>
            <a:outerShdw sx="100000" sy="100000" kx="0" ky="0" algn="bl" rotWithShape="0" blurRad="127000" dist="38100" dir="5400000">
              <a:srgbClr val="1F3D26">
                <a:alpha val="18000"/>
              </a:srgbClr>
            </a:outerShdw>
          </a:effectLst>
        </p:spPr>
      </p:sp>
      <p:pic>
        <p:nvPicPr>
          <p:cNvPr id="7" name="s10-cart-drawer.png" descr="Ngăn kéo giỏ hàng">    </p:cNvPr>
          <p:cNvPicPr>
            <a:picLocks noChangeAspect="1"/>
          </p:cNvPicPr>
          <p:nvPr/>
        </p:nvPicPr>
        <p:blipFill>
          <a:blip r:embed="rId2"/>
          <a:stretch>
            <a:fillRect/>
          </a:stretch>
        </p:blipFill>
        <p:spPr>
          <a:xfrm>
            <a:off x="6876288" y="1417320"/>
            <a:ext cx="4535424" cy="2834640"/>
          </a:xfrm>
          <a:prstGeom prst="rect">
            <a:avLst/>
          </a:prstGeom>
        </p:spPr>
      </p:pic>
      <p:sp>
        <p:nvSpPr>
          <p:cNvPr id="8" name="Text 4"/>
          <p:cNvSpPr txBox="1"/>
          <p:nvPr/>
        </p:nvSpPr>
        <p:spPr>
          <a:xfrm>
            <a:off x="6720840" y="4297680"/>
            <a:ext cx="4846320" cy="320040"/>
          </a:xfrm>
          <a:prstGeom prst="rect">
            <a:avLst/>
          </a:prstGeom>
          <a:noFill/>
          <a:ln/>
        </p:spPr>
        <p:txBody>
          <a:bodyPr wrap="square" lIns="0" tIns="0" rIns="0" bIns="0" rtlCol="0" anchor="ctr"/>
          <a:lstStyle/>
          <a:p>
            <a:pPr algn="ctr" indent="0" marL="0">
              <a:buNone/>
            </a:pPr>
            <a:r>
              <a:rPr lang="en-US" sz="1100" i="1" dirty="0">
                <a:solidFill>
                  <a:schemeClr val="tx1"/>
                </a:solidFill>
              </a:rPr>
              <a:t>Ngăn kéo giỏ hàng</a:t>
            </a:r>
            <a:endParaRPr lang="en-US" sz="1100" dirty="0"/>
          </a:p>
        </p:txBody>
      </p:sp>
      <p:sp>
        <p:nvSpPr>
          <p:cNvPr id="9" name="card Giỏ hàng luôn đúng"/>
          <p:cNvSpPr/>
          <p:nvPr/>
        </p:nvSpPr>
        <p:spPr>
          <a:xfrm>
            <a:off x="6629400" y="4846320"/>
            <a:ext cx="5029200" cy="1325880"/>
          </a:xfrm>
          <a:prstGeom prst="roundRect">
            <a:avLst>
              <a:gd name="adj" fmla="val 8276"/>
            </a:avLst>
          </a:prstGeom>
          <a:solidFill>
            <a:schemeClr val="bg2"/>
          </a:solidFill>
          <a:ln/>
        </p:spPr>
      </p:sp>
      <p:sp>
        <p:nvSpPr>
          <p:cNvPr id="10" name="icon bg RefreshCw"/>
          <p:cNvSpPr/>
          <p:nvPr/>
        </p:nvSpPr>
        <p:spPr>
          <a:xfrm>
            <a:off x="6858000" y="5074920"/>
            <a:ext cx="502920" cy="502920"/>
          </a:xfrm>
          <a:prstGeom prst="ellipse">
            <a:avLst/>
          </a:prstGeom>
          <a:solidFill>
            <a:schemeClr val="accent1"/>
          </a:solidFill>
          <a:ln/>
        </p:spPr>
      </p:sp>
      <p:pic>
        <p:nvPicPr>
          <p:cNvPr id="11" name="icon RefreshCw" descr="RefreshCw">    </p:cNvPr>
          <p:cNvPicPr>
            <a:picLocks noChangeAspect="1"/>
          </p:cNvPicPr>
          <p:nvPr/>
        </p:nvPicPr>
        <p:blipFill>
          <a:blip r:embed="rId3"/>
          <a:stretch>
            <a:fillRect/>
          </a:stretch>
        </p:blipFill>
        <p:spPr>
          <a:xfrm>
            <a:off x="6978701" y="5195621"/>
            <a:ext cx="261518" cy="261518"/>
          </a:xfrm>
          <a:prstGeom prst="rect">
            <a:avLst/>
          </a:prstGeom>
        </p:spPr>
      </p:pic>
      <p:sp>
        <p:nvSpPr>
          <p:cNvPr id="12" name="Text 7"/>
          <p:cNvSpPr txBox="1"/>
          <p:nvPr/>
        </p:nvSpPr>
        <p:spPr>
          <a:xfrm>
            <a:off x="7498080" y="5074920"/>
            <a:ext cx="3977640" cy="502920"/>
          </a:xfrm>
          <a:prstGeom prst="rect">
            <a:avLst/>
          </a:prstGeom>
          <a:noFill/>
          <a:ln/>
        </p:spPr>
        <p:txBody>
          <a:bodyPr wrap="square" lIns="0" tIns="0" rIns="0" bIns="0" rtlCol="0" anchor="ctr"/>
          <a:lstStyle/>
          <a:p>
            <a:pPr indent="0" marL="0">
              <a:buNone/>
            </a:pPr>
            <a:r>
              <a:rPr lang="en-US" sz="1600" b="1" dirty="0">
                <a:solidFill>
                  <a:schemeClr val="tx2"/>
                </a:solidFill>
              </a:rPr>
              <a:t>Giỏ hàng luôn đúng</a:t>
            </a:r>
            <a:endParaRPr lang="en-US" sz="1600" dirty="0"/>
          </a:p>
        </p:txBody>
      </p:sp>
      <p:sp>
        <p:nvSpPr>
          <p:cNvPr id="13" name="Text 8"/>
          <p:cNvSpPr txBox="1"/>
          <p:nvPr/>
        </p:nvSpPr>
        <p:spPr>
          <a:xfrm>
            <a:off x="6858000" y="5715000"/>
            <a:ext cx="4572000" cy="320040"/>
          </a:xfrm>
          <a:prstGeom prst="rect">
            <a:avLst/>
          </a:prstGeom>
          <a:noFill/>
          <a:ln/>
        </p:spPr>
        <p:txBody>
          <a:bodyPr wrap="square" lIns="0" tIns="0" rIns="0" bIns="0" rtlCol="0" anchor="t"/>
          <a:lstStyle/>
          <a:p>
            <a:pPr indent="0" marL="0">
              <a:buNone/>
            </a:pPr>
            <a:r>
              <a:rPr lang="en-US" sz="1400" dirty="0">
                <a:solidFill>
                  <a:schemeClr val="tx1"/>
                </a:solidFill>
              </a:rPr>
              <a:t>Lưu localStorage, đồng bộ giữa các tab; tự cập nhật giá &amp; tồn kho khi mở</a:t>
            </a:r>
            <a:endParaRPr lang="en-US" sz="1400" dirty="0"/>
          </a:p>
        </p:txBody>
      </p:sp>
      <p:sp>
        <p:nvSpPr>
          <p:cNvPr id="14" name="Text 9"/>
          <p:cNvSpPr txBox="1"/>
          <p:nvPr/>
        </p:nvSpPr>
        <p:spPr>
          <a:xfrm>
            <a:off x="548640" y="5440680"/>
            <a:ext cx="5852160" cy="8229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Thanh tiến trình “còn 120.000đ để được freeship”</a:t>
            </a:r>
            <a:endParaRPr lang="en-US" sz="1500" dirty="0"/>
          </a:p>
          <a:p>
            <a:pPr marL="203200" indent="-203200">
              <a:spcAft>
                <a:spcPts val="800"/>
              </a:spcAft>
              <a:buSzPct val="100000"/>
              <a:buChar char="•"/>
            </a:pPr>
            <a:r>
              <a:rPr lang="en-US" sz="1500" dirty="0">
                <a:solidFill>
                  <a:schemeClr val="tx1"/>
                </a:solidFill>
              </a:rPr>
              <a:t>Badge rung nhẹ, toast xác nhận</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Bước 4: Thanh toán 1 bước, COD hoặc QR</a:t>
            </a:r>
            <a:endParaRPr lang="en-US" sz="3000" dirty="0"/>
          </a:p>
        </p:txBody>
      </p:sp>
      <p:sp>
        <p:nvSpPr>
          <p:cNvPr id="3" name="frame s11-checkout.png"/>
          <p:cNvSpPr/>
          <p:nvPr/>
        </p:nvSpPr>
        <p:spPr>
          <a:xfrm>
            <a:off x="548640" y="1325880"/>
            <a:ext cx="5486400" cy="3611880"/>
          </a:xfrm>
          <a:prstGeom prst="roundRect">
            <a:avLst>
              <a:gd name="adj" fmla="val 3038"/>
            </a:avLst>
          </a:prstGeom>
          <a:solidFill>
            <a:srgbClr val="FFFFFF"/>
          </a:solidFill>
          <a:ln w="9525">
            <a:solidFill>
              <a:srgbClr val="E3E8E4"/>
            </a:solidFill>
            <a:prstDash val="solid"/>
          </a:ln>
          <a:effectLst>
            <a:outerShdw sx="100000" sy="100000" kx="0" ky="0" algn="bl" rotWithShape="0" blurRad="127000" dist="38100" dir="5400000">
              <a:srgbClr val="1F3D26">
                <a:alpha val="18000"/>
              </a:srgbClr>
            </a:outerShdw>
          </a:effectLst>
        </p:spPr>
      </p:sp>
      <p:pic>
        <p:nvPicPr>
          <p:cNvPr id="4" name="s11-checkout.png" descr="Form giao hàng + tóm tắt đơn">    </p:cNvPr>
          <p:cNvPicPr>
            <a:picLocks noChangeAspect="1"/>
          </p:cNvPicPr>
          <p:nvPr/>
        </p:nvPicPr>
        <p:blipFill>
          <a:blip r:embed="rId1"/>
          <a:stretch>
            <a:fillRect/>
          </a:stretch>
        </p:blipFill>
        <p:spPr>
          <a:xfrm>
            <a:off x="804672" y="1417320"/>
            <a:ext cx="4974336" cy="3108960"/>
          </a:xfrm>
          <a:prstGeom prst="rect">
            <a:avLst/>
          </a:prstGeom>
        </p:spPr>
      </p:pic>
      <p:sp>
        <p:nvSpPr>
          <p:cNvPr id="5" name="Text 2"/>
          <p:cNvSpPr txBox="1"/>
          <p:nvPr/>
        </p:nvSpPr>
        <p:spPr>
          <a:xfrm>
            <a:off x="640080" y="4572000"/>
            <a:ext cx="5303520" cy="320040"/>
          </a:xfrm>
          <a:prstGeom prst="rect">
            <a:avLst/>
          </a:prstGeom>
          <a:noFill/>
          <a:ln/>
        </p:spPr>
        <p:txBody>
          <a:bodyPr wrap="square" lIns="0" tIns="0" rIns="0" bIns="0" rtlCol="0" anchor="ctr"/>
          <a:lstStyle/>
          <a:p>
            <a:pPr algn="ctr" indent="0" marL="0">
              <a:buNone/>
            </a:pPr>
            <a:r>
              <a:rPr lang="en-US" sz="1100" i="1" dirty="0">
                <a:solidFill>
                  <a:schemeClr val="tx1"/>
                </a:solidFill>
              </a:rPr>
              <a:t>Form giao hàng + tóm tắt đơn</a:t>
            </a:r>
            <a:endParaRPr lang="en-US" sz="1100" dirty="0"/>
          </a:p>
        </p:txBody>
      </p:sp>
      <p:sp>
        <p:nvSpPr>
          <p:cNvPr id="6" name="frame s13-order-success-qr.png"/>
          <p:cNvSpPr/>
          <p:nvPr/>
        </p:nvSpPr>
        <p:spPr>
          <a:xfrm>
            <a:off x="6263640" y="1325880"/>
            <a:ext cx="5394960" cy="3611880"/>
          </a:xfrm>
          <a:prstGeom prst="roundRect">
            <a:avLst>
              <a:gd name="adj" fmla="val 3038"/>
            </a:avLst>
          </a:prstGeom>
          <a:solidFill>
            <a:srgbClr val="FFFFFF"/>
          </a:solidFill>
          <a:ln w="9525">
            <a:solidFill>
              <a:srgbClr val="E3E8E4"/>
            </a:solidFill>
            <a:prstDash val="solid"/>
          </a:ln>
          <a:effectLst>
            <a:outerShdw sx="100000" sy="100000" kx="0" ky="0" algn="bl" rotWithShape="0" blurRad="127000" dist="38100" dir="5400000">
              <a:srgbClr val="1F3D26">
                <a:alpha val="18000"/>
              </a:srgbClr>
            </a:outerShdw>
          </a:effectLst>
        </p:spPr>
      </p:sp>
      <p:pic>
        <p:nvPicPr>
          <p:cNvPr id="7" name="s13-order-success-qr.png" descr="Mã VietQR điền sẵn số tiền &amp; mã đơn">    </p:cNvPr>
          <p:cNvPicPr>
            <a:picLocks noChangeAspect="1"/>
          </p:cNvPicPr>
          <p:nvPr/>
        </p:nvPicPr>
        <p:blipFill>
          <a:blip r:embed="rId2"/>
          <a:stretch>
            <a:fillRect/>
          </a:stretch>
        </p:blipFill>
        <p:spPr>
          <a:xfrm>
            <a:off x="6473952" y="1417320"/>
            <a:ext cx="4974336" cy="3108960"/>
          </a:xfrm>
          <a:prstGeom prst="rect">
            <a:avLst/>
          </a:prstGeom>
        </p:spPr>
      </p:pic>
      <p:sp>
        <p:nvSpPr>
          <p:cNvPr id="8" name="Text 4"/>
          <p:cNvSpPr txBox="1"/>
          <p:nvPr/>
        </p:nvSpPr>
        <p:spPr>
          <a:xfrm>
            <a:off x="6355080" y="4572000"/>
            <a:ext cx="5212080" cy="320040"/>
          </a:xfrm>
          <a:prstGeom prst="rect">
            <a:avLst/>
          </a:prstGeom>
          <a:noFill/>
          <a:ln/>
        </p:spPr>
        <p:txBody>
          <a:bodyPr wrap="square" lIns="0" tIns="0" rIns="0" bIns="0" rtlCol="0" anchor="ctr"/>
          <a:lstStyle/>
          <a:p>
            <a:pPr algn="ctr" indent="0" marL="0">
              <a:buNone/>
            </a:pPr>
            <a:r>
              <a:rPr lang="en-US" sz="1100" i="1" dirty="0">
                <a:solidFill>
                  <a:schemeClr val="tx1"/>
                </a:solidFill>
              </a:rPr>
              <a:t>Mã VietQR điền sẵn số tiền &amp; mã đơn</a:t>
            </a:r>
            <a:endParaRPr lang="en-US" sz="1100" dirty="0"/>
          </a:p>
        </p:txBody>
      </p:sp>
      <p:sp>
        <p:nvSpPr>
          <p:cNvPr id="9" name="icon bg ClipboardCheck"/>
          <p:cNvSpPr/>
          <p:nvPr/>
        </p:nvSpPr>
        <p:spPr>
          <a:xfrm>
            <a:off x="548640" y="5212080"/>
            <a:ext cx="548640" cy="548640"/>
          </a:xfrm>
          <a:prstGeom prst="ellipse">
            <a:avLst/>
          </a:prstGeom>
          <a:solidFill>
            <a:schemeClr val="accent1"/>
          </a:solidFill>
          <a:ln/>
        </p:spPr>
      </p:sp>
      <p:pic>
        <p:nvPicPr>
          <p:cNvPr id="10" name="icon ClipboardCheck" descr="ClipboardCheck">    </p:cNvPr>
          <p:cNvPicPr>
            <a:picLocks noChangeAspect="1"/>
          </p:cNvPicPr>
          <p:nvPr/>
        </p:nvPicPr>
        <p:blipFill>
          <a:blip r:embed="rId3"/>
          <a:stretch>
            <a:fillRect/>
          </a:stretch>
        </p:blipFill>
        <p:spPr>
          <a:xfrm>
            <a:off x="680314" y="5343754"/>
            <a:ext cx="285293" cy="285293"/>
          </a:xfrm>
          <a:prstGeom prst="rect">
            <a:avLst/>
          </a:prstGeom>
        </p:spPr>
      </p:pic>
      <p:sp>
        <p:nvSpPr>
          <p:cNvPr id="11" name="Text 6"/>
          <p:cNvSpPr txBox="1"/>
          <p:nvPr/>
        </p:nvSpPr>
        <p:spPr>
          <a:xfrm>
            <a:off x="1234440" y="5166360"/>
            <a:ext cx="2926080" cy="347472"/>
          </a:xfrm>
          <a:prstGeom prst="rect">
            <a:avLst/>
          </a:prstGeom>
          <a:noFill/>
          <a:ln/>
        </p:spPr>
        <p:txBody>
          <a:bodyPr wrap="square" lIns="0" tIns="0" rIns="0" bIns="0" rtlCol="0" anchor="t"/>
          <a:lstStyle/>
          <a:p>
            <a:pPr indent="0" marL="0">
              <a:buNone/>
            </a:pPr>
            <a:r>
              <a:rPr lang="en-US" sz="1600" b="1" dirty="0">
                <a:solidFill>
                  <a:schemeClr val="tx2"/>
                </a:solidFill>
              </a:rPr>
              <a:t>Kiểm tra 2 lớp</a:t>
            </a:r>
            <a:endParaRPr lang="en-US" sz="1600" dirty="0"/>
          </a:p>
        </p:txBody>
      </p:sp>
      <p:sp>
        <p:nvSpPr>
          <p:cNvPr id="12" name="Text 7"/>
          <p:cNvSpPr txBox="1"/>
          <p:nvPr/>
        </p:nvSpPr>
        <p:spPr>
          <a:xfrm>
            <a:off x="1234440" y="5513832"/>
            <a:ext cx="2926080" cy="594360"/>
          </a:xfrm>
          <a:prstGeom prst="rect">
            <a:avLst/>
          </a:prstGeom>
          <a:noFill/>
          <a:ln/>
        </p:spPr>
        <p:txBody>
          <a:bodyPr wrap="square" lIns="0" tIns="0" rIns="0" bIns="0" rtlCol="0" anchor="t"/>
          <a:lstStyle/>
          <a:p>
            <a:pPr indent="0" marL="0">
              <a:buNone/>
            </a:pPr>
            <a:r>
              <a:rPr lang="en-US" sz="1300" dirty="0">
                <a:solidFill>
                  <a:schemeClr val="tx1"/>
                </a:solidFill>
              </a:rPr>
              <a:t>Zod ở trình duyệt và máy chủ; báo lỗi ngay tại ô</a:t>
            </a:r>
            <a:endParaRPr lang="en-US" sz="1300" dirty="0"/>
          </a:p>
        </p:txBody>
      </p:sp>
      <p:sp>
        <p:nvSpPr>
          <p:cNvPr id="13" name="icon bg Calculator"/>
          <p:cNvSpPr/>
          <p:nvPr/>
        </p:nvSpPr>
        <p:spPr>
          <a:xfrm>
            <a:off x="4297680" y="5212080"/>
            <a:ext cx="548640" cy="548640"/>
          </a:xfrm>
          <a:prstGeom prst="ellipse">
            <a:avLst/>
          </a:prstGeom>
          <a:solidFill>
            <a:schemeClr val="accent1"/>
          </a:solidFill>
          <a:ln/>
        </p:spPr>
      </p:sp>
      <p:pic>
        <p:nvPicPr>
          <p:cNvPr id="14" name="icon Calculator" descr="Calculator">    </p:cNvPr>
          <p:cNvPicPr>
            <a:picLocks noChangeAspect="1"/>
          </p:cNvPicPr>
          <p:nvPr/>
        </p:nvPicPr>
        <p:blipFill>
          <a:blip r:embed="rId4"/>
          <a:stretch>
            <a:fillRect/>
          </a:stretch>
        </p:blipFill>
        <p:spPr>
          <a:xfrm>
            <a:off x="4429354" y="5343754"/>
            <a:ext cx="285293" cy="285293"/>
          </a:xfrm>
          <a:prstGeom prst="rect">
            <a:avLst/>
          </a:prstGeom>
        </p:spPr>
      </p:pic>
      <p:sp>
        <p:nvSpPr>
          <p:cNvPr id="15" name="Text 9"/>
          <p:cNvSpPr txBox="1"/>
          <p:nvPr/>
        </p:nvSpPr>
        <p:spPr>
          <a:xfrm>
            <a:off x="4983480" y="5166360"/>
            <a:ext cx="2926080" cy="347472"/>
          </a:xfrm>
          <a:prstGeom prst="rect">
            <a:avLst/>
          </a:prstGeom>
          <a:noFill/>
          <a:ln/>
        </p:spPr>
        <p:txBody>
          <a:bodyPr wrap="square" lIns="0" tIns="0" rIns="0" bIns="0" rtlCol="0" anchor="t"/>
          <a:lstStyle/>
          <a:p>
            <a:pPr indent="0" marL="0">
              <a:buNone/>
            </a:pPr>
            <a:r>
              <a:rPr lang="en-US" sz="1600" b="1" dirty="0">
                <a:solidFill>
                  <a:schemeClr val="tx2"/>
                </a:solidFill>
              </a:rPr>
              <a:t>Giá tính ở máy chủ</a:t>
            </a:r>
            <a:endParaRPr lang="en-US" sz="1600" dirty="0"/>
          </a:p>
        </p:txBody>
      </p:sp>
      <p:sp>
        <p:nvSpPr>
          <p:cNvPr id="16" name="Text 10"/>
          <p:cNvSpPr txBox="1"/>
          <p:nvPr/>
        </p:nvSpPr>
        <p:spPr>
          <a:xfrm>
            <a:off x="4983480" y="5513832"/>
            <a:ext cx="2926080" cy="594360"/>
          </a:xfrm>
          <a:prstGeom prst="rect">
            <a:avLst/>
          </a:prstGeom>
          <a:noFill/>
          <a:ln/>
        </p:spPr>
        <p:txBody>
          <a:bodyPr wrap="square" lIns="0" tIns="0" rIns="0" bIns="0" rtlCol="0" anchor="t"/>
          <a:lstStyle/>
          <a:p>
            <a:pPr indent="0" marL="0">
              <a:buNone/>
            </a:pPr>
            <a:r>
              <a:rPr lang="en-US" sz="1300" dirty="0">
                <a:solidFill>
                  <a:schemeClr val="tx1"/>
                </a:solidFill>
              </a:rPr>
              <a:t>Không tin giá gửi từ trình duyệt</a:t>
            </a:r>
            <a:endParaRPr lang="en-US" sz="1300" dirty="0"/>
          </a:p>
        </p:txBody>
      </p:sp>
      <p:sp>
        <p:nvSpPr>
          <p:cNvPr id="17" name="icon bg QrCode"/>
          <p:cNvSpPr/>
          <p:nvPr/>
        </p:nvSpPr>
        <p:spPr>
          <a:xfrm>
            <a:off x="8046720" y="5212080"/>
            <a:ext cx="548640" cy="548640"/>
          </a:xfrm>
          <a:prstGeom prst="ellipse">
            <a:avLst/>
          </a:prstGeom>
          <a:solidFill>
            <a:schemeClr val="accent1"/>
          </a:solidFill>
          <a:ln/>
        </p:spPr>
      </p:sp>
      <p:pic>
        <p:nvPicPr>
          <p:cNvPr id="18" name="icon QrCode" descr="QrCode">    </p:cNvPr>
          <p:cNvPicPr>
            <a:picLocks noChangeAspect="1"/>
          </p:cNvPicPr>
          <p:nvPr/>
        </p:nvPicPr>
        <p:blipFill>
          <a:blip r:embed="rId5"/>
          <a:stretch>
            <a:fillRect/>
          </a:stretch>
        </p:blipFill>
        <p:spPr>
          <a:xfrm>
            <a:off x="8178394" y="5343754"/>
            <a:ext cx="285293" cy="285293"/>
          </a:xfrm>
          <a:prstGeom prst="rect">
            <a:avLst/>
          </a:prstGeom>
        </p:spPr>
      </p:pic>
      <p:sp>
        <p:nvSpPr>
          <p:cNvPr id="19" name="Text 12"/>
          <p:cNvSpPr txBox="1"/>
          <p:nvPr/>
        </p:nvSpPr>
        <p:spPr>
          <a:xfrm>
            <a:off x="8732520" y="5166360"/>
            <a:ext cx="2926080" cy="347472"/>
          </a:xfrm>
          <a:prstGeom prst="rect">
            <a:avLst/>
          </a:prstGeom>
          <a:noFill/>
          <a:ln/>
        </p:spPr>
        <p:txBody>
          <a:bodyPr wrap="square" lIns="0" tIns="0" rIns="0" bIns="0" rtlCol="0" anchor="t"/>
          <a:lstStyle/>
          <a:p>
            <a:pPr indent="0" marL="0">
              <a:buNone/>
            </a:pPr>
            <a:r>
              <a:rPr lang="en-US" sz="1600" b="1" dirty="0">
                <a:solidFill>
                  <a:schemeClr val="tx2"/>
                </a:solidFill>
              </a:rPr>
              <a:t>Chuyển khoản QR</a:t>
            </a:r>
            <a:endParaRPr lang="en-US" sz="1600" dirty="0"/>
          </a:p>
        </p:txBody>
      </p:sp>
      <p:sp>
        <p:nvSpPr>
          <p:cNvPr id="20" name="Text 13"/>
          <p:cNvSpPr txBox="1"/>
          <p:nvPr/>
        </p:nvSpPr>
        <p:spPr>
          <a:xfrm>
            <a:off x="8732520" y="5513832"/>
            <a:ext cx="2926080" cy="594360"/>
          </a:xfrm>
          <a:prstGeom prst="rect">
            <a:avLst/>
          </a:prstGeom>
          <a:noFill/>
          <a:ln/>
        </p:spPr>
        <p:txBody>
          <a:bodyPr wrap="square" lIns="0" tIns="0" rIns="0" bIns="0" rtlCol="0" anchor="t"/>
          <a:lstStyle/>
          <a:p>
            <a:pPr indent="0" marL="0">
              <a:buNone/>
            </a:pPr>
            <a:r>
              <a:rPr lang="en-US" sz="1300" dirty="0">
                <a:solidFill>
                  <a:schemeClr val="tx1"/>
                </a:solidFill>
              </a:rPr>
              <a:t>Nội dung CK = mã đơn, dễ đối soát</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Không bao giờ bán vượt tồn kho</a:t>
            </a:r>
            <a:endParaRPr lang="en-US" sz="3000" dirty="0"/>
          </a:p>
        </p:txBody>
      </p:sp>
      <p:sp>
        <p:nvSpPr>
          <p:cNvPr id="3" name="Text 1"/>
          <p:cNvSpPr txBox="1"/>
          <p:nvPr/>
        </p:nvSpPr>
        <p:spPr>
          <a:xfrm>
            <a:off x="548640" y="1371600"/>
            <a:ext cx="5669280" cy="365760"/>
          </a:xfrm>
          <a:prstGeom prst="rect">
            <a:avLst/>
          </a:prstGeom>
          <a:noFill/>
          <a:ln/>
        </p:spPr>
        <p:txBody>
          <a:bodyPr wrap="square" lIns="0" tIns="0" rIns="0" bIns="0" rtlCol="0" anchor="t"/>
          <a:lstStyle/>
          <a:p>
            <a:pPr indent="0" marL="0">
              <a:buNone/>
            </a:pPr>
            <a:r>
              <a:rPr lang="en-US" sz="1800" b="1" dirty="0">
                <a:solidFill>
                  <a:schemeClr val="tx2"/>
                </a:solidFill>
              </a:rPr>
              <a:t>Trừ kho có điều kiện trong một giao dịch</a:t>
            </a:r>
            <a:endParaRPr lang="en-US" sz="1800" dirty="0"/>
          </a:p>
        </p:txBody>
      </p:sp>
      <p:sp>
        <p:nvSpPr>
          <p:cNvPr id="4" name="code"/>
          <p:cNvSpPr/>
          <p:nvPr/>
        </p:nvSpPr>
        <p:spPr>
          <a:xfrm>
            <a:off x="548640" y="1828800"/>
            <a:ext cx="5669280" cy="1600200"/>
          </a:xfrm>
          <a:prstGeom prst="roundRect">
            <a:avLst>
              <a:gd name="adj" fmla="val 5714"/>
            </a:avLst>
          </a:prstGeom>
          <a:solidFill>
            <a:srgbClr val="F3F5F4"/>
          </a:solidFill>
          <a:ln w="9525">
            <a:solidFill>
              <a:srgbClr val="E3E8E4"/>
            </a:solidFill>
            <a:prstDash val="solid"/>
          </a:ln>
        </p:spPr>
      </p:sp>
      <p:sp>
        <p:nvSpPr>
          <p:cNvPr id="5" name="Text 3"/>
          <p:cNvSpPr txBox="1"/>
          <p:nvPr/>
        </p:nvSpPr>
        <p:spPr>
          <a:xfrm>
            <a:off x="731520" y="1920240"/>
            <a:ext cx="5394960" cy="1417320"/>
          </a:xfrm>
          <a:prstGeom prst="rect">
            <a:avLst/>
          </a:prstGeom>
          <a:noFill/>
          <a:ln/>
        </p:spPr>
        <p:txBody>
          <a:bodyPr wrap="square" lIns="0" tIns="0" rIns="0" bIns="0"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await tx.product.updateMany({</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where: { id, stock: { gte: qty }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data:  { stock: { decrement: qty }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if (res.count === 0) throw "Vừa hết hàng"; // rollback</a:t>
            </a:r>
            <a:endParaRPr lang="en-US" sz="1300" dirty="0"/>
          </a:p>
        </p:txBody>
      </p:sp>
      <p:sp>
        <p:nvSpPr>
          <p:cNvPr id="6" name="Text 4"/>
          <p:cNvSpPr txBox="1"/>
          <p:nvPr/>
        </p:nvSpPr>
        <p:spPr>
          <a:xfrm>
            <a:off x="548640" y="3657600"/>
            <a:ext cx="5669280" cy="14630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Hai khách cùng mua chậu cuối cùng → chỉ 1 đơn thành công</a:t>
            </a:r>
            <a:endParaRPr lang="en-US" sz="1500" dirty="0"/>
          </a:p>
          <a:p>
            <a:pPr marL="203200" indent="-203200">
              <a:spcAft>
                <a:spcPts val="800"/>
              </a:spcAft>
              <a:buSzPct val="100000"/>
              <a:buChar char="•"/>
            </a:pPr>
            <a:r>
              <a:rPr lang="en-US" sz="1500" dirty="0">
                <a:solidFill>
                  <a:schemeClr val="tx1"/>
                </a:solidFill>
              </a:rPr>
              <a:t>Đơn lưu “ảnh chụp” tên, giá lúc mua</a:t>
            </a:r>
            <a:endParaRPr lang="en-US" sz="1500" dirty="0"/>
          </a:p>
          <a:p>
            <a:pPr marL="203200" indent="-203200">
              <a:spcAft>
                <a:spcPts val="800"/>
              </a:spcAft>
              <a:buSzPct val="100000"/>
              <a:buChar char="•"/>
            </a:pPr>
            <a:r>
              <a:rPr lang="en-US" sz="1500" dirty="0">
                <a:solidFill>
                  <a:schemeClr val="tx1"/>
                </a:solidFill>
              </a:rPr>
              <a:t>Mã đơn SD261003-7K2F: bỏ ký tự dễ nhầm 0/O, 1/I</a:t>
            </a:r>
            <a:endParaRPr lang="en-US" sz="1500" dirty="0"/>
          </a:p>
        </p:txBody>
      </p:sp>
      <p:sp>
        <p:nvSpPr>
          <p:cNvPr id="7" name="Text 5"/>
          <p:cNvSpPr txBox="1"/>
          <p:nvPr/>
        </p:nvSpPr>
        <p:spPr>
          <a:xfrm>
            <a:off x="6583680" y="1371600"/>
            <a:ext cx="5029200" cy="365760"/>
          </a:xfrm>
          <a:prstGeom prst="rect">
            <a:avLst/>
          </a:prstGeom>
          <a:noFill/>
          <a:ln/>
        </p:spPr>
        <p:txBody>
          <a:bodyPr wrap="square" lIns="0" tIns="0" rIns="0" bIns="0" rtlCol="0" anchor="t"/>
          <a:lstStyle/>
          <a:p>
            <a:pPr indent="0" marL="0">
              <a:buNone/>
            </a:pPr>
            <a:r>
              <a:rPr lang="en-US" sz="1800" b="1" dirty="0">
                <a:solidFill>
                  <a:schemeClr val="tx2"/>
                </a:solidFill>
              </a:rPr>
              <a:t>Vòng đời đơn hàng</a:t>
            </a:r>
            <a:endParaRPr lang="en-US" sz="1800" dirty="0"/>
          </a:p>
        </p:txBody>
      </p:sp>
      <p:sp>
        <p:nvSpPr>
          <p:cNvPr id="8" name="frame d05-trang-thai-don.png"/>
          <p:cNvSpPr/>
          <p:nvPr/>
        </p:nvSpPr>
        <p:spPr>
          <a:xfrm>
            <a:off x="6583680" y="1828800"/>
            <a:ext cx="5074920" cy="1600200"/>
          </a:xfrm>
          <a:prstGeom prst="roundRect">
            <a:avLst>
              <a:gd name="adj" fmla="val 6857"/>
            </a:avLst>
          </a:prstGeom>
          <a:solidFill>
            <a:srgbClr val="FFFFFF"/>
          </a:solidFill>
          <a:ln w="9525">
            <a:solidFill>
              <a:srgbClr val="E3E8E4"/>
            </a:solidFill>
            <a:prstDash val="solid"/>
          </a:ln>
          <a:effectLst>
            <a:outerShdw sx="100000" sy="100000" kx="0" ky="0" algn="bl" rotWithShape="0" blurRad="127000" dist="38100" dir="5400000">
              <a:srgbClr val="1F3D26">
                <a:alpha val="18000"/>
              </a:srgbClr>
            </a:outerShdw>
          </a:effectLst>
        </p:spPr>
      </p:sp>
      <p:pic>
        <p:nvPicPr>
          <p:cNvPr id="9" name="d05-trang-thai-don.png" descr="d05-trang-thai-don.png">    </p:cNvPr>
          <p:cNvPicPr>
            <a:picLocks noChangeAspect="1"/>
          </p:cNvPicPr>
          <p:nvPr/>
        </p:nvPicPr>
        <p:blipFill>
          <a:blip r:embed="rId1"/>
          <a:stretch>
            <a:fillRect/>
          </a:stretch>
        </p:blipFill>
        <p:spPr>
          <a:xfrm>
            <a:off x="6675120" y="2093522"/>
            <a:ext cx="4892040" cy="1070756"/>
          </a:xfrm>
          <a:prstGeom prst="rect">
            <a:avLst/>
          </a:prstGeom>
        </p:spPr>
      </p:pic>
      <p:sp>
        <p:nvSpPr>
          <p:cNvPr id="10" name="card Hủy đơn tự hoàn kho"/>
          <p:cNvSpPr/>
          <p:nvPr/>
        </p:nvSpPr>
        <p:spPr>
          <a:xfrm>
            <a:off x="6583680" y="3657600"/>
            <a:ext cx="5074920" cy="1463040"/>
          </a:xfrm>
          <a:prstGeom prst="roundRect">
            <a:avLst>
              <a:gd name="adj" fmla="val 7500"/>
            </a:avLst>
          </a:prstGeom>
          <a:solidFill>
            <a:schemeClr val="bg2"/>
          </a:solidFill>
          <a:ln/>
        </p:spPr>
      </p:sp>
      <p:sp>
        <p:nvSpPr>
          <p:cNvPr id="11" name="icon bg Undo2"/>
          <p:cNvSpPr/>
          <p:nvPr/>
        </p:nvSpPr>
        <p:spPr>
          <a:xfrm>
            <a:off x="6812280" y="3886200"/>
            <a:ext cx="502920" cy="502920"/>
          </a:xfrm>
          <a:prstGeom prst="ellipse">
            <a:avLst/>
          </a:prstGeom>
          <a:solidFill>
            <a:schemeClr val="accent1"/>
          </a:solidFill>
          <a:ln/>
        </p:spPr>
      </p:sp>
      <p:pic>
        <p:nvPicPr>
          <p:cNvPr id="12" name="icon Undo2" descr="Undo2">    </p:cNvPr>
          <p:cNvPicPr>
            <a:picLocks noChangeAspect="1"/>
          </p:cNvPicPr>
          <p:nvPr/>
        </p:nvPicPr>
        <p:blipFill>
          <a:blip r:embed="rId2"/>
          <a:stretch>
            <a:fillRect/>
          </a:stretch>
        </p:blipFill>
        <p:spPr>
          <a:xfrm>
            <a:off x="6932981" y="4006901"/>
            <a:ext cx="261518" cy="261518"/>
          </a:xfrm>
          <a:prstGeom prst="rect">
            <a:avLst/>
          </a:prstGeom>
        </p:spPr>
      </p:pic>
      <p:sp>
        <p:nvSpPr>
          <p:cNvPr id="13" name="Text 9"/>
          <p:cNvSpPr txBox="1"/>
          <p:nvPr/>
        </p:nvSpPr>
        <p:spPr>
          <a:xfrm>
            <a:off x="7452360" y="3886200"/>
            <a:ext cx="4023360" cy="502920"/>
          </a:xfrm>
          <a:prstGeom prst="rect">
            <a:avLst/>
          </a:prstGeom>
          <a:noFill/>
          <a:ln/>
        </p:spPr>
        <p:txBody>
          <a:bodyPr wrap="square" lIns="0" tIns="0" rIns="0" bIns="0" rtlCol="0" anchor="ctr"/>
          <a:lstStyle/>
          <a:p>
            <a:pPr indent="0" marL="0">
              <a:buNone/>
            </a:pPr>
            <a:r>
              <a:rPr lang="en-US" sz="1600" b="1" dirty="0">
                <a:solidFill>
                  <a:schemeClr val="tx2"/>
                </a:solidFill>
              </a:rPr>
              <a:t>Hủy đơn tự hoàn kho</a:t>
            </a:r>
            <a:endParaRPr lang="en-US" sz="1600" dirty="0"/>
          </a:p>
        </p:txBody>
      </p:sp>
      <p:sp>
        <p:nvSpPr>
          <p:cNvPr id="14" name="Text 10"/>
          <p:cNvSpPr txBox="1"/>
          <p:nvPr/>
        </p:nvSpPr>
        <p:spPr>
          <a:xfrm>
            <a:off x="6812280" y="4526280"/>
            <a:ext cx="4617720" cy="457200"/>
          </a:xfrm>
          <a:prstGeom prst="rect">
            <a:avLst/>
          </a:prstGeom>
          <a:noFill/>
          <a:ln/>
        </p:spPr>
        <p:txBody>
          <a:bodyPr wrap="square" lIns="0" tIns="0" rIns="0" bIns="0" rtlCol="0" anchor="t"/>
          <a:lstStyle/>
          <a:p>
            <a:pPr indent="0" marL="0">
              <a:buNone/>
            </a:pPr>
            <a:r>
              <a:rPr lang="en-US" sz="1400" dirty="0">
                <a:solidFill>
                  <a:schemeClr val="tx1"/>
                </a:solidFill>
              </a:rPr>
              <a:t>Chỉ cho chuyển trạng thái theo chiều mũi tên; hai admin cùng thao tác → người sau được báo</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Trang quản trị: vận hành cửa hàng</a:t>
            </a:r>
            <a:endParaRPr lang="en-US" sz="3000" dirty="0"/>
          </a:p>
        </p:txBody>
      </p:sp>
      <p:sp>
        <p:nvSpPr>
          <p:cNvPr id="3" name="frame a02-dashboard.png"/>
          <p:cNvSpPr/>
          <p:nvPr/>
        </p:nvSpPr>
        <p:spPr>
          <a:xfrm>
            <a:off x="548640" y="1325880"/>
            <a:ext cx="5760720" cy="3657600"/>
          </a:xfrm>
          <a:prstGeom prst="roundRect">
            <a:avLst>
              <a:gd name="adj" fmla="val 3000"/>
            </a:avLst>
          </a:prstGeom>
          <a:solidFill>
            <a:srgbClr val="FFFFFF"/>
          </a:solidFill>
          <a:ln w="9525">
            <a:solidFill>
              <a:srgbClr val="E3E8E4"/>
            </a:solidFill>
            <a:prstDash val="solid"/>
          </a:ln>
          <a:effectLst>
            <a:outerShdw sx="100000" sy="100000" kx="0" ky="0" algn="bl" rotWithShape="0" blurRad="127000" dist="38100" dir="5400000">
              <a:srgbClr val="1F3D26">
                <a:alpha val="18000"/>
              </a:srgbClr>
            </a:outerShdw>
          </a:effectLst>
        </p:spPr>
      </p:sp>
      <p:pic>
        <p:nvPicPr>
          <p:cNvPr id="4" name="a02-dashboard.png" descr="Tổng quan: doanh thu, đơn mới, sắp hết hàng">    </p:cNvPr>
          <p:cNvPicPr>
            <a:picLocks noChangeAspect="1"/>
          </p:cNvPicPr>
          <p:nvPr/>
        </p:nvPicPr>
        <p:blipFill>
          <a:blip r:embed="rId1"/>
          <a:stretch>
            <a:fillRect/>
          </a:stretch>
        </p:blipFill>
        <p:spPr>
          <a:xfrm>
            <a:off x="905256" y="1417320"/>
            <a:ext cx="5047488" cy="3154680"/>
          </a:xfrm>
          <a:prstGeom prst="rect">
            <a:avLst/>
          </a:prstGeom>
        </p:spPr>
      </p:pic>
      <p:sp>
        <p:nvSpPr>
          <p:cNvPr id="5" name="Text 2"/>
          <p:cNvSpPr txBox="1"/>
          <p:nvPr/>
        </p:nvSpPr>
        <p:spPr>
          <a:xfrm>
            <a:off x="640080" y="4617720"/>
            <a:ext cx="5577840" cy="320040"/>
          </a:xfrm>
          <a:prstGeom prst="rect">
            <a:avLst/>
          </a:prstGeom>
          <a:noFill/>
          <a:ln/>
        </p:spPr>
        <p:txBody>
          <a:bodyPr wrap="square" lIns="0" tIns="0" rIns="0" bIns="0" rtlCol="0" anchor="ctr"/>
          <a:lstStyle/>
          <a:p>
            <a:pPr algn="ctr" indent="0" marL="0">
              <a:buNone/>
            </a:pPr>
            <a:r>
              <a:rPr lang="en-US" sz="1100" i="1" dirty="0">
                <a:solidFill>
                  <a:schemeClr val="tx1"/>
                </a:solidFill>
              </a:rPr>
              <a:t>Tổng quan: doanh thu, đơn mới, sắp hết hàng</a:t>
            </a:r>
            <a:endParaRPr lang="en-US" sz="1100" dirty="0"/>
          </a:p>
        </p:txBody>
      </p:sp>
      <p:sp>
        <p:nvSpPr>
          <p:cNvPr id="6" name="frame a04-products.png"/>
          <p:cNvSpPr/>
          <p:nvPr/>
        </p:nvSpPr>
        <p:spPr>
          <a:xfrm>
            <a:off x="6492240" y="1325880"/>
            <a:ext cx="5166360" cy="3291840"/>
          </a:xfrm>
          <a:prstGeom prst="roundRect">
            <a:avLst>
              <a:gd name="adj" fmla="val 3333"/>
            </a:avLst>
          </a:prstGeom>
          <a:solidFill>
            <a:srgbClr val="FFFFFF"/>
          </a:solidFill>
          <a:ln w="9525">
            <a:solidFill>
              <a:srgbClr val="E3E8E4"/>
            </a:solidFill>
            <a:prstDash val="solid"/>
          </a:ln>
          <a:effectLst>
            <a:outerShdw sx="100000" sy="100000" kx="0" ky="0" algn="bl" rotWithShape="0" blurRad="127000" dist="38100" dir="5400000">
              <a:srgbClr val="1F3D26">
                <a:alpha val="18000"/>
              </a:srgbClr>
            </a:outerShdw>
          </a:effectLst>
        </p:spPr>
      </p:sp>
      <p:pic>
        <p:nvPicPr>
          <p:cNvPr id="7" name="a04-products.png" descr="Bật/tắt 4 cờ ngay trong bảng">    </p:cNvPr>
          <p:cNvPicPr>
            <a:picLocks noChangeAspect="1"/>
          </p:cNvPicPr>
          <p:nvPr/>
        </p:nvPicPr>
        <p:blipFill>
          <a:blip r:embed="rId2"/>
          <a:stretch>
            <a:fillRect/>
          </a:stretch>
        </p:blipFill>
        <p:spPr>
          <a:xfrm>
            <a:off x="6844284" y="1417320"/>
            <a:ext cx="4462272" cy="2788920"/>
          </a:xfrm>
          <a:prstGeom prst="rect">
            <a:avLst/>
          </a:prstGeom>
        </p:spPr>
      </p:pic>
      <p:sp>
        <p:nvSpPr>
          <p:cNvPr id="8" name="Text 4"/>
          <p:cNvSpPr txBox="1"/>
          <p:nvPr/>
        </p:nvSpPr>
        <p:spPr>
          <a:xfrm>
            <a:off x="6583680" y="4251960"/>
            <a:ext cx="4983480" cy="320040"/>
          </a:xfrm>
          <a:prstGeom prst="rect">
            <a:avLst/>
          </a:prstGeom>
          <a:noFill/>
          <a:ln/>
        </p:spPr>
        <p:txBody>
          <a:bodyPr wrap="square" lIns="0" tIns="0" rIns="0" bIns="0" rtlCol="0" anchor="ctr"/>
          <a:lstStyle/>
          <a:p>
            <a:pPr algn="ctr" indent="0" marL="0">
              <a:buNone/>
            </a:pPr>
            <a:r>
              <a:rPr lang="en-US" sz="1100" i="1" dirty="0">
                <a:solidFill>
                  <a:schemeClr val="tx1"/>
                </a:solidFill>
              </a:rPr>
              <a:t>Bật/tắt 4 cờ ngay trong bảng</a:t>
            </a:r>
            <a:endParaRPr lang="en-US" sz="1100" dirty="0"/>
          </a:p>
        </p:txBody>
      </p:sp>
      <p:sp>
        <p:nvSpPr>
          <p:cNvPr id="9" name="icon bg Package"/>
          <p:cNvSpPr/>
          <p:nvPr/>
        </p:nvSpPr>
        <p:spPr>
          <a:xfrm>
            <a:off x="548640" y="5349240"/>
            <a:ext cx="548640" cy="548640"/>
          </a:xfrm>
          <a:prstGeom prst="ellipse">
            <a:avLst/>
          </a:prstGeom>
          <a:solidFill>
            <a:schemeClr val="accent1"/>
          </a:solidFill>
          <a:ln/>
        </p:spPr>
      </p:sp>
      <p:pic>
        <p:nvPicPr>
          <p:cNvPr id="10" name="icon Package" descr="Package">    </p:cNvPr>
          <p:cNvPicPr>
            <a:picLocks noChangeAspect="1"/>
          </p:cNvPicPr>
          <p:nvPr/>
        </p:nvPicPr>
        <p:blipFill>
          <a:blip r:embed="rId3"/>
          <a:stretch>
            <a:fillRect/>
          </a:stretch>
        </p:blipFill>
        <p:spPr>
          <a:xfrm>
            <a:off x="680314" y="5480914"/>
            <a:ext cx="285293" cy="285293"/>
          </a:xfrm>
          <a:prstGeom prst="rect">
            <a:avLst/>
          </a:prstGeom>
        </p:spPr>
      </p:pic>
      <p:sp>
        <p:nvSpPr>
          <p:cNvPr id="11" name="Text 6"/>
          <p:cNvSpPr txBox="1"/>
          <p:nvPr/>
        </p:nvSpPr>
        <p:spPr>
          <a:xfrm>
            <a:off x="1234440" y="5303520"/>
            <a:ext cx="2926080" cy="347472"/>
          </a:xfrm>
          <a:prstGeom prst="rect">
            <a:avLst/>
          </a:prstGeom>
          <a:noFill/>
          <a:ln/>
        </p:spPr>
        <p:txBody>
          <a:bodyPr wrap="square" lIns="0" tIns="0" rIns="0" bIns="0" rtlCol="0" anchor="t"/>
          <a:lstStyle/>
          <a:p>
            <a:pPr indent="0" marL="0">
              <a:buNone/>
            </a:pPr>
            <a:r>
              <a:rPr lang="en-US" sz="1600" b="1" dirty="0">
                <a:solidFill>
                  <a:schemeClr val="tx2"/>
                </a:solidFill>
              </a:rPr>
              <a:t>Sản phẩm</a:t>
            </a:r>
            <a:endParaRPr lang="en-US" sz="1600" dirty="0"/>
          </a:p>
        </p:txBody>
      </p:sp>
      <p:sp>
        <p:nvSpPr>
          <p:cNvPr id="12" name="Text 7"/>
          <p:cNvSpPr txBox="1"/>
          <p:nvPr/>
        </p:nvSpPr>
        <p:spPr>
          <a:xfrm>
            <a:off x="1234440" y="5650992"/>
            <a:ext cx="2971800" cy="548640"/>
          </a:xfrm>
          <a:prstGeom prst="rect">
            <a:avLst/>
          </a:prstGeom>
          <a:noFill/>
          <a:ln/>
        </p:spPr>
        <p:txBody>
          <a:bodyPr wrap="square" lIns="0" tIns="0" rIns="0" bIns="0" rtlCol="0" anchor="t"/>
          <a:lstStyle/>
          <a:p>
            <a:pPr indent="0" marL="0">
              <a:buNone/>
            </a:pPr>
            <a:r>
              <a:rPr lang="en-US" sz="1300" dirty="0">
                <a:solidFill>
                  <a:schemeClr val="tx1"/>
                </a:solidFill>
              </a:rPr>
              <a:t>Nhiều ảnh kéo thả, rich text, SEO</a:t>
            </a:r>
            <a:endParaRPr lang="en-US" sz="1300" dirty="0"/>
          </a:p>
        </p:txBody>
      </p:sp>
      <p:sp>
        <p:nvSpPr>
          <p:cNvPr id="13" name="icon bg Receipt"/>
          <p:cNvSpPr/>
          <p:nvPr/>
        </p:nvSpPr>
        <p:spPr>
          <a:xfrm>
            <a:off x="4297680" y="5349240"/>
            <a:ext cx="548640" cy="548640"/>
          </a:xfrm>
          <a:prstGeom prst="ellipse">
            <a:avLst/>
          </a:prstGeom>
          <a:solidFill>
            <a:schemeClr val="accent1"/>
          </a:solidFill>
          <a:ln/>
        </p:spPr>
      </p:sp>
      <p:pic>
        <p:nvPicPr>
          <p:cNvPr id="14" name="icon Receipt" descr="Receipt">    </p:cNvPr>
          <p:cNvPicPr>
            <a:picLocks noChangeAspect="1"/>
          </p:cNvPicPr>
          <p:nvPr/>
        </p:nvPicPr>
        <p:blipFill>
          <a:blip r:embed="rId4"/>
          <a:stretch>
            <a:fillRect/>
          </a:stretch>
        </p:blipFill>
        <p:spPr>
          <a:xfrm>
            <a:off x="4429354" y="5480914"/>
            <a:ext cx="285293" cy="285293"/>
          </a:xfrm>
          <a:prstGeom prst="rect">
            <a:avLst/>
          </a:prstGeom>
        </p:spPr>
      </p:pic>
      <p:sp>
        <p:nvSpPr>
          <p:cNvPr id="15" name="Text 9"/>
          <p:cNvSpPr txBox="1"/>
          <p:nvPr/>
        </p:nvSpPr>
        <p:spPr>
          <a:xfrm>
            <a:off x="4983480" y="5303520"/>
            <a:ext cx="2926080" cy="347472"/>
          </a:xfrm>
          <a:prstGeom prst="rect">
            <a:avLst/>
          </a:prstGeom>
          <a:noFill/>
          <a:ln/>
        </p:spPr>
        <p:txBody>
          <a:bodyPr wrap="square" lIns="0" tIns="0" rIns="0" bIns="0" rtlCol="0" anchor="t"/>
          <a:lstStyle/>
          <a:p>
            <a:pPr indent="0" marL="0">
              <a:buNone/>
            </a:pPr>
            <a:r>
              <a:rPr lang="en-US" sz="1600" b="1" dirty="0">
                <a:solidFill>
                  <a:schemeClr val="tx2"/>
                </a:solidFill>
              </a:rPr>
              <a:t>Đơn hàng</a:t>
            </a:r>
            <a:endParaRPr lang="en-US" sz="1600" dirty="0"/>
          </a:p>
        </p:txBody>
      </p:sp>
      <p:sp>
        <p:nvSpPr>
          <p:cNvPr id="16" name="Text 10"/>
          <p:cNvSpPr txBox="1"/>
          <p:nvPr/>
        </p:nvSpPr>
        <p:spPr>
          <a:xfrm>
            <a:off x="4983480" y="5650992"/>
            <a:ext cx="2971800" cy="548640"/>
          </a:xfrm>
          <a:prstGeom prst="rect">
            <a:avLst/>
          </a:prstGeom>
          <a:noFill/>
          <a:ln/>
        </p:spPr>
        <p:txBody>
          <a:bodyPr wrap="square" lIns="0" tIns="0" rIns="0" bIns="0" rtlCol="0" anchor="t"/>
          <a:lstStyle/>
          <a:p>
            <a:pPr indent="0" marL="0">
              <a:buNone/>
            </a:pPr>
            <a:r>
              <a:rPr lang="en-US" sz="1300" dirty="0">
                <a:solidFill>
                  <a:schemeClr val="tx1"/>
                </a:solidFill>
              </a:rPr>
              <a:t>Lọc, chuyển trạng thái, xuất CSV</a:t>
            </a:r>
            <a:endParaRPr lang="en-US" sz="1300" dirty="0"/>
          </a:p>
        </p:txBody>
      </p:sp>
      <p:sp>
        <p:nvSpPr>
          <p:cNvPr id="17" name="icon bg Settings"/>
          <p:cNvSpPr/>
          <p:nvPr/>
        </p:nvSpPr>
        <p:spPr>
          <a:xfrm>
            <a:off x="8046720" y="5349240"/>
            <a:ext cx="548640" cy="548640"/>
          </a:xfrm>
          <a:prstGeom prst="ellipse">
            <a:avLst/>
          </a:prstGeom>
          <a:solidFill>
            <a:schemeClr val="accent1"/>
          </a:solidFill>
          <a:ln/>
        </p:spPr>
      </p:sp>
      <p:pic>
        <p:nvPicPr>
          <p:cNvPr id="18" name="icon Settings" descr="Settings">    </p:cNvPr>
          <p:cNvPicPr>
            <a:picLocks noChangeAspect="1"/>
          </p:cNvPicPr>
          <p:nvPr/>
        </p:nvPicPr>
        <p:blipFill>
          <a:blip r:embed="rId5"/>
          <a:stretch>
            <a:fillRect/>
          </a:stretch>
        </p:blipFill>
        <p:spPr>
          <a:xfrm>
            <a:off x="8178394" y="5480914"/>
            <a:ext cx="285293" cy="285293"/>
          </a:xfrm>
          <a:prstGeom prst="rect">
            <a:avLst/>
          </a:prstGeom>
        </p:spPr>
      </p:pic>
      <p:sp>
        <p:nvSpPr>
          <p:cNvPr id="19" name="Text 12"/>
          <p:cNvSpPr txBox="1"/>
          <p:nvPr/>
        </p:nvSpPr>
        <p:spPr>
          <a:xfrm>
            <a:off x="8732520" y="5303520"/>
            <a:ext cx="2926080" cy="347472"/>
          </a:xfrm>
          <a:prstGeom prst="rect">
            <a:avLst/>
          </a:prstGeom>
          <a:noFill/>
          <a:ln/>
        </p:spPr>
        <p:txBody>
          <a:bodyPr wrap="square" lIns="0" tIns="0" rIns="0" bIns="0" rtlCol="0" anchor="t"/>
          <a:lstStyle/>
          <a:p>
            <a:pPr indent="0" marL="0">
              <a:buNone/>
            </a:pPr>
            <a:r>
              <a:rPr lang="en-US" sz="1600" b="1" dirty="0">
                <a:solidFill>
                  <a:schemeClr val="tx2"/>
                </a:solidFill>
              </a:rPr>
              <a:t>Cài đặt</a:t>
            </a:r>
            <a:endParaRPr lang="en-US" sz="1600" dirty="0"/>
          </a:p>
        </p:txBody>
      </p:sp>
      <p:sp>
        <p:nvSpPr>
          <p:cNvPr id="20" name="Text 13"/>
          <p:cNvSpPr txBox="1"/>
          <p:nvPr/>
        </p:nvSpPr>
        <p:spPr>
          <a:xfrm>
            <a:off x="8732520" y="5650992"/>
            <a:ext cx="2971800" cy="548640"/>
          </a:xfrm>
          <a:prstGeom prst="rect">
            <a:avLst/>
          </a:prstGeom>
          <a:noFill/>
          <a:ln/>
        </p:spPr>
        <p:txBody>
          <a:bodyPr wrap="square" lIns="0" tIns="0" rIns="0" bIns="0" rtlCol="0" anchor="t"/>
          <a:lstStyle/>
          <a:p>
            <a:pPr indent="0" marL="0">
              <a:buNone/>
            </a:pPr>
            <a:r>
              <a:rPr lang="en-US" sz="1300" dirty="0">
                <a:solidFill>
                  <a:schemeClr val="tx1"/>
                </a:solidFill>
              </a:rPr>
              <a:t>Phí ship, STK, banner – có hiệu lực ngay</a:t>
            </a:r>
            <a:endParaRPr lang="en-US" sz="1300" dirty="0"/>
          </a:p>
        </p:txBody>
      </p:sp>
      <p:sp>
        <p:nvSpPr>
          <p:cNvPr id="21" name="Text 14"/>
          <p:cNvSpPr txBox="1"/>
          <p:nvPr/>
        </p:nvSpPr>
        <p:spPr>
          <a:xfrm>
            <a:off x="6492240" y="4709160"/>
            <a:ext cx="5166360" cy="320040"/>
          </a:xfrm>
          <a:prstGeom prst="rect">
            <a:avLst/>
          </a:prstGeom>
          <a:noFill/>
          <a:ln/>
        </p:spPr>
        <p:txBody>
          <a:bodyPr wrap="square" lIns="0" tIns="0" rIns="0" bIns="0" rtlCol="0" anchor="t"/>
          <a:lstStyle/>
          <a:p>
            <a:pPr indent="0" marL="0">
              <a:buNone/>
            </a:pPr>
            <a:r>
              <a:rPr lang="en-US" sz="1300" i="1" dirty="0">
                <a:solidFill>
                  <a:schemeClr val="accent1"/>
                </a:solidFill>
              </a:rPr>
              <a:t>Cập nhật lạc quan: đổi ngay, lỗi thì tự hoàn tác</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822960" y="1280160"/>
            <a:ext cx="2743200" cy="1371600"/>
          </a:xfrm>
          <a:prstGeom prst="rect">
            <a:avLst/>
          </a:prstGeom>
          <a:noFill/>
          <a:ln/>
        </p:spPr>
        <p:txBody>
          <a:bodyPr wrap="square" lIns="0" tIns="0" rIns="0" bIns="0" rtlCol="0" anchor="ctr"/>
          <a:lstStyle/>
          <a:p>
            <a:pPr indent="0" marL="0">
              <a:buNone/>
            </a:pPr>
            <a:r>
              <a:rPr lang="en-US" sz="9600" b="1" dirty="0">
                <a:solidFill>
                  <a:schemeClr val="accent2"/>
                </a:solidFill>
                <a:latin typeface="Cambria" pitchFamily="34" charset="0"/>
                <a:ea typeface="Cambria" pitchFamily="34" charset="-122"/>
                <a:cs typeface="Cambria" pitchFamily="34" charset="-120"/>
              </a:rPr>
              <a:t>02</a:t>
            </a:r>
            <a:endParaRPr lang="en-US" sz="9600" dirty="0"/>
          </a:p>
        </p:txBody>
      </p:sp>
      <p:sp>
        <p:nvSpPr>
          <p:cNvPr id="3" name="Text 0"/>
          <p:cNvSpPr/>
          <p:nvPr>
            <p:ph idx="100" type="title" hasCustomPrompt="1"/>
          </p:nvPr>
        </p:nvSpPr>
        <p:spPr>
          <a:xfrm>
            <a:off x="822960" y="2743200"/>
            <a:ext cx="7498080" cy="118872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Trợ lý ảo Bé Sen</a:t>
            </a:r>
            <a:endParaRPr lang="en-US" sz="4400" dirty="0"/>
          </a:p>
        </p:txBody>
      </p:sp>
      <p:sp>
        <p:nvSpPr>
          <p:cNvPr id="4" name="Text 0"/>
          <p:cNvSpPr/>
          <p:nvPr>
            <p:ph idx="101" type="body" hasCustomPrompt="1"/>
          </p:nvPr>
        </p:nvSpPr>
        <p:spPr>
          <a:xfrm>
            <a:off x="822960" y="3977640"/>
            <a:ext cx="7498080" cy="1097280"/>
          </a:xfrm>
          <a:prstGeom prst="rect">
            <a:avLst/>
          </a:prstGeom>
          <a:noFill/>
          <a:ln/>
        </p:spPr>
        <p:txBody>
          <a:bodyPr wrap="square" lIns="0" tIns="0" rIns="0" bIns="0" rtlCol="0" anchor="t"/>
          <a:lstStyle/>
          <a:p>
            <a:pPr algn="l" indent="0" marL="0">
              <a:buNone/>
            </a:pPr>
            <a:r>
              <a:rPr lang="en-US" sz="1800" dirty="0">
                <a:solidFill>
                  <a:schemeClr val="accent3"/>
                </a:solidFill>
              </a:rPr>
              <a:t>Chatbot tiếng Việt kiến trúc lai: bộ luật tra dữ liệu thật + AI tùy chọn</a:t>
            </a:r>
            <a:endParaRPr lang="en-US" sz="1800" dirty="0"/>
          </a:p>
        </p:txBody>
      </p:sp>
      <p:sp>
        <p:nvSpPr>
          <p:cNvPr id="5" name="phone"/>
          <p:cNvSpPr/>
          <p:nvPr/>
        </p:nvSpPr>
        <p:spPr>
          <a:xfrm>
            <a:off x="8869680" y="822960"/>
            <a:ext cx="2743200" cy="5212080"/>
          </a:xfrm>
          <a:prstGeom prst="roundRect">
            <a:avLst>
              <a:gd name="adj" fmla="val 6667"/>
            </a:avLst>
          </a:prstGeom>
          <a:solidFill>
            <a:srgbClr val="FFFFFF"/>
          </a:solidFill>
          <a:ln/>
        </p:spPr>
      </p:sp>
      <p:pic>
        <p:nvPicPr>
          <p:cNvPr id="6" name="Bé Sen mobile" descr="Bé Sen trên điện thoại">    </p:cNvPr>
          <p:cNvPicPr>
            <a:picLocks noChangeAspect="1"/>
          </p:cNvPicPr>
          <p:nvPr/>
        </p:nvPicPr>
        <p:blipFill>
          <a:blip r:embed="rId1"/>
          <a:stretch>
            <a:fillRect/>
          </a:stretch>
        </p:blipFill>
        <p:spPr>
          <a:xfrm>
            <a:off x="8961120" y="1249446"/>
            <a:ext cx="2560320" cy="435910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Bé Sen làm được gì?</a:t>
            </a:r>
            <a:endParaRPr lang="en-US" sz="3000" dirty="0"/>
          </a:p>
        </p:txBody>
      </p:sp>
      <p:sp>
        <p:nvSpPr>
          <p:cNvPr id="3" name="frame c01-chat-welcome.png"/>
          <p:cNvSpPr/>
          <p:nvPr/>
        </p:nvSpPr>
        <p:spPr>
          <a:xfrm>
            <a:off x="548640" y="1325880"/>
            <a:ext cx="2926080" cy="4892040"/>
          </a:xfrm>
          <a:prstGeom prst="roundRect">
            <a:avLst>
              <a:gd name="adj" fmla="val 3750"/>
            </a:avLst>
          </a:prstGeom>
          <a:solidFill>
            <a:srgbClr val="FFFFFF"/>
          </a:solidFill>
          <a:ln w="9525">
            <a:solidFill>
              <a:srgbClr val="E3E8E4"/>
            </a:solidFill>
            <a:prstDash val="solid"/>
          </a:ln>
          <a:effectLst>
            <a:outerShdw sx="100000" sy="100000" kx="0" ky="0" algn="bl" rotWithShape="0" blurRad="127000" dist="38100" dir="5400000">
              <a:srgbClr val="1F3D26">
                <a:alpha val="18000"/>
              </a:srgbClr>
            </a:outerShdw>
          </a:effectLst>
        </p:spPr>
      </p:sp>
      <p:pic>
        <p:nvPicPr>
          <p:cNvPr id="4" name="c01-chat-welcome.png" descr="c01-chat-welcome.png">    </p:cNvPr>
          <p:cNvPicPr>
            <a:picLocks noChangeAspect="1"/>
          </p:cNvPicPr>
          <p:nvPr/>
        </p:nvPicPr>
        <p:blipFill>
          <a:blip r:embed="rId1"/>
          <a:stretch>
            <a:fillRect/>
          </a:stretch>
        </p:blipFill>
        <p:spPr>
          <a:xfrm>
            <a:off x="640080" y="1455420"/>
            <a:ext cx="2743200" cy="4632960"/>
          </a:xfrm>
          <a:prstGeom prst="rect">
            <a:avLst/>
          </a:prstGeom>
        </p:spPr>
      </p:pic>
      <p:sp>
        <p:nvSpPr>
          <p:cNvPr id="5" name="card 12 chủ đề dữ liệu thật"/>
          <p:cNvSpPr/>
          <p:nvPr/>
        </p:nvSpPr>
        <p:spPr>
          <a:xfrm>
            <a:off x="3749040" y="1325880"/>
            <a:ext cx="3840480" cy="1508760"/>
          </a:xfrm>
          <a:prstGeom prst="roundRect">
            <a:avLst>
              <a:gd name="adj" fmla="val 7273"/>
            </a:avLst>
          </a:prstGeom>
          <a:solidFill>
            <a:schemeClr val="bg2"/>
          </a:solidFill>
          <a:ln/>
        </p:spPr>
      </p:sp>
      <p:sp>
        <p:nvSpPr>
          <p:cNvPr id="6" name="icon bg Truck"/>
          <p:cNvSpPr/>
          <p:nvPr/>
        </p:nvSpPr>
        <p:spPr>
          <a:xfrm>
            <a:off x="3977640" y="1554480"/>
            <a:ext cx="502920" cy="502920"/>
          </a:xfrm>
          <a:prstGeom prst="ellipse">
            <a:avLst/>
          </a:prstGeom>
          <a:solidFill>
            <a:schemeClr val="accent1"/>
          </a:solidFill>
          <a:ln/>
        </p:spPr>
      </p:sp>
      <p:pic>
        <p:nvPicPr>
          <p:cNvPr id="7" name="icon Truck" descr="Truck">    </p:cNvPr>
          <p:cNvPicPr>
            <a:picLocks noChangeAspect="1"/>
          </p:cNvPicPr>
          <p:nvPr/>
        </p:nvPicPr>
        <p:blipFill>
          <a:blip r:embed="rId2"/>
          <a:stretch>
            <a:fillRect/>
          </a:stretch>
        </p:blipFill>
        <p:spPr>
          <a:xfrm>
            <a:off x="4098341" y="1675181"/>
            <a:ext cx="261518" cy="261518"/>
          </a:xfrm>
          <a:prstGeom prst="rect">
            <a:avLst/>
          </a:prstGeom>
        </p:spPr>
      </p:pic>
      <p:sp>
        <p:nvSpPr>
          <p:cNvPr id="8" name="Text 4"/>
          <p:cNvSpPr txBox="1"/>
          <p:nvPr/>
        </p:nvSpPr>
        <p:spPr>
          <a:xfrm>
            <a:off x="4617720" y="1554480"/>
            <a:ext cx="2788920" cy="502920"/>
          </a:xfrm>
          <a:prstGeom prst="rect">
            <a:avLst/>
          </a:prstGeom>
          <a:noFill/>
          <a:ln/>
        </p:spPr>
        <p:txBody>
          <a:bodyPr wrap="square" lIns="0" tIns="0" rIns="0" bIns="0" rtlCol="0" anchor="ctr"/>
          <a:lstStyle/>
          <a:p>
            <a:pPr indent="0" marL="0">
              <a:buNone/>
            </a:pPr>
            <a:r>
              <a:rPr lang="en-US" sz="1600" b="1" dirty="0">
                <a:solidFill>
                  <a:schemeClr val="tx2"/>
                </a:solidFill>
              </a:rPr>
              <a:t>12 chủ đề dữ liệu thật</a:t>
            </a:r>
            <a:endParaRPr lang="en-US" sz="1600" dirty="0"/>
          </a:p>
        </p:txBody>
      </p:sp>
      <p:sp>
        <p:nvSpPr>
          <p:cNvPr id="9" name="Text 5"/>
          <p:cNvSpPr txBox="1"/>
          <p:nvPr/>
        </p:nvSpPr>
        <p:spPr>
          <a:xfrm>
            <a:off x="3977640" y="2194560"/>
            <a:ext cx="3383280" cy="502920"/>
          </a:xfrm>
          <a:prstGeom prst="rect">
            <a:avLst/>
          </a:prstGeom>
          <a:noFill/>
          <a:ln/>
        </p:spPr>
        <p:txBody>
          <a:bodyPr wrap="square" lIns="0" tIns="0" rIns="0" bIns="0" rtlCol="0" anchor="t"/>
          <a:lstStyle/>
          <a:p>
            <a:pPr indent="0" marL="0">
              <a:buNone/>
            </a:pPr>
            <a:r>
              <a:rPr lang="en-US" sz="1400" dirty="0">
                <a:solidFill>
                  <a:schemeClr val="tx1"/>
                </a:solidFill>
              </a:rPr>
              <a:t>Phí ship, giờ mở cửa, STK, giá &amp; tồn kho – đổi trong admin là bot trả lời số mới</a:t>
            </a:r>
            <a:endParaRPr lang="en-US" sz="1400" dirty="0"/>
          </a:p>
        </p:txBody>
      </p:sp>
      <p:sp>
        <p:nvSpPr>
          <p:cNvPr id="10" name="card Tư vấn chọn cây"/>
          <p:cNvSpPr/>
          <p:nvPr/>
        </p:nvSpPr>
        <p:spPr>
          <a:xfrm>
            <a:off x="7772400" y="1325880"/>
            <a:ext cx="3840480" cy="1508760"/>
          </a:xfrm>
          <a:prstGeom prst="roundRect">
            <a:avLst>
              <a:gd name="adj" fmla="val 7273"/>
            </a:avLst>
          </a:prstGeom>
          <a:solidFill>
            <a:schemeClr val="bg2"/>
          </a:solidFill>
          <a:ln/>
        </p:spPr>
      </p:sp>
      <p:sp>
        <p:nvSpPr>
          <p:cNvPr id="11" name="icon bg Sprout"/>
          <p:cNvSpPr/>
          <p:nvPr/>
        </p:nvSpPr>
        <p:spPr>
          <a:xfrm>
            <a:off x="8001000" y="1554480"/>
            <a:ext cx="502920" cy="502920"/>
          </a:xfrm>
          <a:prstGeom prst="ellipse">
            <a:avLst/>
          </a:prstGeom>
          <a:solidFill>
            <a:schemeClr val="accent1"/>
          </a:solidFill>
          <a:ln/>
        </p:spPr>
      </p:sp>
      <p:pic>
        <p:nvPicPr>
          <p:cNvPr id="12" name="icon Sprout" descr="Sprout">    </p:cNvPr>
          <p:cNvPicPr>
            <a:picLocks noChangeAspect="1"/>
          </p:cNvPicPr>
          <p:nvPr/>
        </p:nvPicPr>
        <p:blipFill>
          <a:blip r:embed="rId3"/>
          <a:stretch>
            <a:fillRect/>
          </a:stretch>
        </p:blipFill>
        <p:spPr>
          <a:xfrm>
            <a:off x="8121701" y="1675181"/>
            <a:ext cx="261518" cy="261518"/>
          </a:xfrm>
          <a:prstGeom prst="rect">
            <a:avLst/>
          </a:prstGeom>
        </p:spPr>
      </p:pic>
      <p:sp>
        <p:nvSpPr>
          <p:cNvPr id="13" name="Text 8"/>
          <p:cNvSpPr txBox="1"/>
          <p:nvPr/>
        </p:nvSpPr>
        <p:spPr>
          <a:xfrm>
            <a:off x="8641080" y="1554480"/>
            <a:ext cx="2788920" cy="502920"/>
          </a:xfrm>
          <a:prstGeom prst="rect">
            <a:avLst/>
          </a:prstGeom>
          <a:noFill/>
          <a:ln/>
        </p:spPr>
        <p:txBody>
          <a:bodyPr wrap="square" lIns="0" tIns="0" rIns="0" bIns="0" rtlCol="0" anchor="ctr"/>
          <a:lstStyle/>
          <a:p>
            <a:pPr indent="0" marL="0">
              <a:buNone/>
            </a:pPr>
            <a:r>
              <a:rPr lang="en-US" sz="1600" b="1" dirty="0">
                <a:solidFill>
                  <a:schemeClr val="tx2"/>
                </a:solidFill>
              </a:rPr>
              <a:t>Tư vấn chọn cây</a:t>
            </a:r>
            <a:endParaRPr lang="en-US" sz="1600" dirty="0"/>
          </a:p>
        </p:txBody>
      </p:sp>
      <p:sp>
        <p:nvSpPr>
          <p:cNvPr id="14" name="Text 9"/>
          <p:cNvSpPr txBox="1"/>
          <p:nvPr/>
        </p:nvSpPr>
        <p:spPr>
          <a:xfrm>
            <a:off x="8001000" y="2194560"/>
            <a:ext cx="3383280" cy="502920"/>
          </a:xfrm>
          <a:prstGeom prst="rect">
            <a:avLst/>
          </a:prstGeom>
          <a:noFill/>
          <a:ln/>
        </p:spPr>
        <p:txBody>
          <a:bodyPr wrap="square" lIns="0" tIns="0" rIns="0" bIns="0" rtlCol="0" anchor="t"/>
          <a:lstStyle/>
          <a:p>
            <a:pPr indent="0" marL="0">
              <a:buNone/>
            </a:pPr>
            <a:r>
              <a:rPr lang="en-US" sz="1400" dirty="0">
                <a:solidFill>
                  <a:schemeClr val="tx1"/>
                </a:solidFill>
              </a:rPr>
              <a:t>11 đặc điểm + ngân sách “dưới 100k”, gợi ý kèm nút thêm vào giỏ</a:t>
            </a:r>
            <a:endParaRPr lang="en-US" sz="1400" dirty="0"/>
          </a:p>
        </p:txBody>
      </p:sp>
      <p:sp>
        <p:nvSpPr>
          <p:cNvPr id="15" name="card Tra cứu đơn an toàn"/>
          <p:cNvSpPr/>
          <p:nvPr/>
        </p:nvSpPr>
        <p:spPr>
          <a:xfrm>
            <a:off x="3749040" y="2990088"/>
            <a:ext cx="3840480" cy="1508760"/>
          </a:xfrm>
          <a:prstGeom prst="roundRect">
            <a:avLst>
              <a:gd name="adj" fmla="val 7273"/>
            </a:avLst>
          </a:prstGeom>
          <a:solidFill>
            <a:schemeClr val="bg2"/>
          </a:solidFill>
          <a:ln/>
        </p:spPr>
      </p:sp>
      <p:sp>
        <p:nvSpPr>
          <p:cNvPr id="16" name="icon bg PackageSearch"/>
          <p:cNvSpPr/>
          <p:nvPr/>
        </p:nvSpPr>
        <p:spPr>
          <a:xfrm>
            <a:off x="3977640" y="3218688"/>
            <a:ext cx="502920" cy="502920"/>
          </a:xfrm>
          <a:prstGeom prst="ellipse">
            <a:avLst/>
          </a:prstGeom>
          <a:solidFill>
            <a:schemeClr val="accent1"/>
          </a:solidFill>
          <a:ln/>
        </p:spPr>
      </p:sp>
      <p:pic>
        <p:nvPicPr>
          <p:cNvPr id="17" name="icon PackageSearch" descr="PackageSearch">    </p:cNvPr>
          <p:cNvPicPr>
            <a:picLocks noChangeAspect="1"/>
          </p:cNvPicPr>
          <p:nvPr/>
        </p:nvPicPr>
        <p:blipFill>
          <a:blip r:embed="rId4"/>
          <a:stretch>
            <a:fillRect/>
          </a:stretch>
        </p:blipFill>
        <p:spPr>
          <a:xfrm>
            <a:off x="4098341" y="3339389"/>
            <a:ext cx="261518" cy="261518"/>
          </a:xfrm>
          <a:prstGeom prst="rect">
            <a:avLst/>
          </a:prstGeom>
        </p:spPr>
      </p:pic>
      <p:sp>
        <p:nvSpPr>
          <p:cNvPr id="18" name="Text 12"/>
          <p:cNvSpPr txBox="1"/>
          <p:nvPr/>
        </p:nvSpPr>
        <p:spPr>
          <a:xfrm>
            <a:off x="4617720" y="3218688"/>
            <a:ext cx="2788920" cy="502920"/>
          </a:xfrm>
          <a:prstGeom prst="rect">
            <a:avLst/>
          </a:prstGeom>
          <a:noFill/>
          <a:ln/>
        </p:spPr>
        <p:txBody>
          <a:bodyPr wrap="square" lIns="0" tIns="0" rIns="0" bIns="0" rtlCol="0" anchor="ctr"/>
          <a:lstStyle/>
          <a:p>
            <a:pPr indent="0" marL="0">
              <a:buNone/>
            </a:pPr>
            <a:r>
              <a:rPr lang="en-US" sz="1600" b="1" dirty="0">
                <a:solidFill>
                  <a:schemeClr val="tx2"/>
                </a:solidFill>
              </a:rPr>
              <a:t>Tra cứu đơn an toàn</a:t>
            </a:r>
            <a:endParaRPr lang="en-US" sz="1600" dirty="0"/>
          </a:p>
        </p:txBody>
      </p:sp>
      <p:sp>
        <p:nvSpPr>
          <p:cNvPr id="19" name="Text 13"/>
          <p:cNvSpPr txBox="1"/>
          <p:nvPr/>
        </p:nvSpPr>
        <p:spPr>
          <a:xfrm>
            <a:off x="3977640" y="3858768"/>
            <a:ext cx="3383280" cy="502920"/>
          </a:xfrm>
          <a:prstGeom prst="rect">
            <a:avLst/>
          </a:prstGeom>
          <a:noFill/>
          <a:ln/>
        </p:spPr>
        <p:txBody>
          <a:bodyPr wrap="square" lIns="0" tIns="0" rIns="0" bIns="0" rtlCol="0" anchor="t"/>
          <a:lstStyle/>
          <a:p>
            <a:pPr indent="0" marL="0">
              <a:buNone/>
            </a:pPr>
            <a:r>
              <a:rPr lang="en-US" sz="1400" dirty="0">
                <a:solidFill>
                  <a:schemeClr val="tx1"/>
                </a:solidFill>
              </a:rPr>
              <a:t>Cần đủ mã đơn + SĐT, giới hạn 8 lần/15 phút</a:t>
            </a:r>
            <a:endParaRPr lang="en-US" sz="1400" dirty="0"/>
          </a:p>
        </p:txBody>
      </p:sp>
      <p:sp>
        <p:nvSpPr>
          <p:cNvPr id="20" name="card 25 câu FAQ"/>
          <p:cNvSpPr/>
          <p:nvPr/>
        </p:nvSpPr>
        <p:spPr>
          <a:xfrm>
            <a:off x="7772400" y="2990088"/>
            <a:ext cx="3840480" cy="1508760"/>
          </a:xfrm>
          <a:prstGeom prst="roundRect">
            <a:avLst>
              <a:gd name="adj" fmla="val 7273"/>
            </a:avLst>
          </a:prstGeom>
          <a:solidFill>
            <a:schemeClr val="bg2"/>
          </a:solidFill>
          <a:ln/>
        </p:spPr>
      </p:sp>
      <p:sp>
        <p:nvSpPr>
          <p:cNvPr id="21" name="icon bg BookOpen"/>
          <p:cNvSpPr/>
          <p:nvPr/>
        </p:nvSpPr>
        <p:spPr>
          <a:xfrm>
            <a:off x="8001000" y="3218688"/>
            <a:ext cx="502920" cy="502920"/>
          </a:xfrm>
          <a:prstGeom prst="ellipse">
            <a:avLst/>
          </a:prstGeom>
          <a:solidFill>
            <a:schemeClr val="accent1"/>
          </a:solidFill>
          <a:ln/>
        </p:spPr>
      </p:sp>
      <p:pic>
        <p:nvPicPr>
          <p:cNvPr id="22" name="icon BookOpen" descr="BookOpen">    </p:cNvPr>
          <p:cNvPicPr>
            <a:picLocks noChangeAspect="1"/>
          </p:cNvPicPr>
          <p:nvPr/>
        </p:nvPicPr>
        <p:blipFill>
          <a:blip r:embed="rId5"/>
          <a:stretch>
            <a:fillRect/>
          </a:stretch>
        </p:blipFill>
        <p:spPr>
          <a:xfrm>
            <a:off x="8121701" y="3339389"/>
            <a:ext cx="261518" cy="261518"/>
          </a:xfrm>
          <a:prstGeom prst="rect">
            <a:avLst/>
          </a:prstGeom>
        </p:spPr>
      </p:pic>
      <p:sp>
        <p:nvSpPr>
          <p:cNvPr id="23" name="Text 16"/>
          <p:cNvSpPr txBox="1"/>
          <p:nvPr/>
        </p:nvSpPr>
        <p:spPr>
          <a:xfrm>
            <a:off x="8641080" y="3218688"/>
            <a:ext cx="2788920" cy="502920"/>
          </a:xfrm>
          <a:prstGeom prst="rect">
            <a:avLst/>
          </a:prstGeom>
          <a:noFill/>
          <a:ln/>
        </p:spPr>
        <p:txBody>
          <a:bodyPr wrap="square" lIns="0" tIns="0" rIns="0" bIns="0" rtlCol="0" anchor="ctr"/>
          <a:lstStyle/>
          <a:p>
            <a:pPr indent="0" marL="0">
              <a:buNone/>
            </a:pPr>
            <a:r>
              <a:rPr lang="en-US" sz="1600" b="1" dirty="0">
                <a:solidFill>
                  <a:schemeClr val="tx2"/>
                </a:solidFill>
              </a:rPr>
              <a:t>25 câu FAQ</a:t>
            </a:r>
            <a:endParaRPr lang="en-US" sz="1600" dirty="0"/>
          </a:p>
        </p:txBody>
      </p:sp>
      <p:sp>
        <p:nvSpPr>
          <p:cNvPr id="24" name="Text 17"/>
          <p:cNvSpPr txBox="1"/>
          <p:nvPr/>
        </p:nvSpPr>
        <p:spPr>
          <a:xfrm>
            <a:off x="8001000" y="3858768"/>
            <a:ext cx="3383280" cy="502920"/>
          </a:xfrm>
          <a:prstGeom prst="rect">
            <a:avLst/>
          </a:prstGeom>
          <a:noFill/>
          <a:ln/>
        </p:spPr>
        <p:txBody>
          <a:bodyPr wrap="square" lIns="0" tIns="0" rIns="0" bIns="0" rtlCol="0" anchor="t"/>
          <a:lstStyle/>
          <a:p>
            <a:pPr indent="0" marL="0">
              <a:buNone/>
            </a:pPr>
            <a:r>
              <a:rPr lang="en-US" sz="1400" dirty="0">
                <a:solidFill>
                  <a:schemeClr val="tx1"/>
                </a:solidFill>
              </a:rPr>
              <a:t>Vận chuyển, đổi trả, chăm sóc cây… admin tự sửa, thêm</a:t>
            </a:r>
            <a:endParaRPr lang="en-US" sz="1400" dirty="0"/>
          </a:p>
        </p:txBody>
      </p:sp>
      <p:sp>
        <p:nvSpPr>
          <p:cNvPr id="25" name="card Để lại SĐT"/>
          <p:cNvSpPr/>
          <p:nvPr/>
        </p:nvSpPr>
        <p:spPr>
          <a:xfrm>
            <a:off x="3749040" y="4654296"/>
            <a:ext cx="3840480" cy="1508760"/>
          </a:xfrm>
          <a:prstGeom prst="roundRect">
            <a:avLst>
              <a:gd name="adj" fmla="val 7273"/>
            </a:avLst>
          </a:prstGeom>
          <a:solidFill>
            <a:schemeClr val="bg2"/>
          </a:solidFill>
          <a:ln/>
        </p:spPr>
      </p:sp>
      <p:sp>
        <p:nvSpPr>
          <p:cNvPr id="26" name="icon bg PhoneCall"/>
          <p:cNvSpPr/>
          <p:nvPr/>
        </p:nvSpPr>
        <p:spPr>
          <a:xfrm>
            <a:off x="3977640" y="4882896"/>
            <a:ext cx="502920" cy="502920"/>
          </a:xfrm>
          <a:prstGeom prst="ellipse">
            <a:avLst/>
          </a:prstGeom>
          <a:solidFill>
            <a:schemeClr val="accent1"/>
          </a:solidFill>
          <a:ln/>
        </p:spPr>
      </p:sp>
      <p:pic>
        <p:nvPicPr>
          <p:cNvPr id="27" name="icon PhoneCall" descr="PhoneCall">    </p:cNvPr>
          <p:cNvPicPr>
            <a:picLocks noChangeAspect="1"/>
          </p:cNvPicPr>
          <p:nvPr/>
        </p:nvPicPr>
        <p:blipFill>
          <a:blip r:embed="rId6"/>
          <a:stretch>
            <a:fillRect/>
          </a:stretch>
        </p:blipFill>
        <p:spPr>
          <a:xfrm>
            <a:off x="4098341" y="5003597"/>
            <a:ext cx="261518" cy="261518"/>
          </a:xfrm>
          <a:prstGeom prst="rect">
            <a:avLst/>
          </a:prstGeom>
        </p:spPr>
      </p:pic>
      <p:sp>
        <p:nvSpPr>
          <p:cNvPr id="28" name="Text 20"/>
          <p:cNvSpPr txBox="1"/>
          <p:nvPr/>
        </p:nvSpPr>
        <p:spPr>
          <a:xfrm>
            <a:off x="4617720" y="4882896"/>
            <a:ext cx="2788920" cy="502920"/>
          </a:xfrm>
          <a:prstGeom prst="rect">
            <a:avLst/>
          </a:prstGeom>
          <a:noFill/>
          <a:ln/>
        </p:spPr>
        <p:txBody>
          <a:bodyPr wrap="square" lIns="0" tIns="0" rIns="0" bIns="0" rtlCol="0" anchor="ctr"/>
          <a:lstStyle/>
          <a:p>
            <a:pPr indent="0" marL="0">
              <a:buNone/>
            </a:pPr>
            <a:r>
              <a:rPr lang="en-US" sz="1600" b="1" dirty="0">
                <a:solidFill>
                  <a:schemeClr val="tx2"/>
                </a:solidFill>
              </a:rPr>
              <a:t>Để lại SĐT</a:t>
            </a:r>
            <a:endParaRPr lang="en-US" sz="1600" dirty="0"/>
          </a:p>
        </p:txBody>
      </p:sp>
      <p:sp>
        <p:nvSpPr>
          <p:cNvPr id="29" name="Text 21"/>
          <p:cNvSpPr txBox="1"/>
          <p:nvPr/>
        </p:nvSpPr>
        <p:spPr>
          <a:xfrm>
            <a:off x="3977640" y="5522976"/>
            <a:ext cx="3383280" cy="502920"/>
          </a:xfrm>
          <a:prstGeom prst="rect">
            <a:avLst/>
          </a:prstGeom>
          <a:noFill/>
          <a:ln/>
        </p:spPr>
        <p:txBody>
          <a:bodyPr wrap="square" lIns="0" tIns="0" rIns="0" bIns="0" rtlCol="0" anchor="t"/>
          <a:lstStyle/>
          <a:p>
            <a:pPr indent="0" marL="0">
              <a:buNone/>
            </a:pPr>
            <a:r>
              <a:rPr lang="en-US" sz="1400" dirty="0">
                <a:solidFill>
                  <a:schemeClr val="tx1"/>
                </a:solidFill>
              </a:rPr>
              <a:t>Tạo mục Liên hệ để nhân viên gọi lại</a:t>
            </a:r>
            <a:endParaRPr lang="en-US" sz="1400" dirty="0"/>
          </a:p>
        </p:txBody>
      </p:sp>
      <p:sp>
        <p:nvSpPr>
          <p:cNvPr id="30" name="card Hiểu có/không dấu"/>
          <p:cNvSpPr/>
          <p:nvPr/>
        </p:nvSpPr>
        <p:spPr>
          <a:xfrm>
            <a:off x="7772400" y="4654296"/>
            <a:ext cx="3840480" cy="1508760"/>
          </a:xfrm>
          <a:prstGeom prst="roundRect">
            <a:avLst>
              <a:gd name="adj" fmla="val 7273"/>
            </a:avLst>
          </a:prstGeom>
          <a:solidFill>
            <a:schemeClr val="bg2"/>
          </a:solidFill>
          <a:ln/>
        </p:spPr>
      </p:sp>
      <p:sp>
        <p:nvSpPr>
          <p:cNvPr id="31" name="icon bg MessagesSquare"/>
          <p:cNvSpPr/>
          <p:nvPr/>
        </p:nvSpPr>
        <p:spPr>
          <a:xfrm>
            <a:off x="8001000" y="4882896"/>
            <a:ext cx="502920" cy="502920"/>
          </a:xfrm>
          <a:prstGeom prst="ellipse">
            <a:avLst/>
          </a:prstGeom>
          <a:solidFill>
            <a:schemeClr val="accent1"/>
          </a:solidFill>
          <a:ln/>
        </p:spPr>
      </p:sp>
      <p:pic>
        <p:nvPicPr>
          <p:cNvPr id="32" name="icon MessagesSquare" descr="MessagesSquare">    </p:cNvPr>
          <p:cNvPicPr>
            <a:picLocks noChangeAspect="1"/>
          </p:cNvPicPr>
          <p:nvPr/>
        </p:nvPicPr>
        <p:blipFill>
          <a:blip r:embed="rId7"/>
          <a:stretch>
            <a:fillRect/>
          </a:stretch>
        </p:blipFill>
        <p:spPr>
          <a:xfrm>
            <a:off x="8121701" y="5003597"/>
            <a:ext cx="261518" cy="261518"/>
          </a:xfrm>
          <a:prstGeom prst="rect">
            <a:avLst/>
          </a:prstGeom>
        </p:spPr>
      </p:pic>
      <p:sp>
        <p:nvSpPr>
          <p:cNvPr id="33" name="Text 24"/>
          <p:cNvSpPr txBox="1"/>
          <p:nvPr/>
        </p:nvSpPr>
        <p:spPr>
          <a:xfrm>
            <a:off x="8641080" y="4882896"/>
            <a:ext cx="2788920" cy="502920"/>
          </a:xfrm>
          <a:prstGeom prst="rect">
            <a:avLst/>
          </a:prstGeom>
          <a:noFill/>
          <a:ln/>
        </p:spPr>
        <p:txBody>
          <a:bodyPr wrap="square" lIns="0" tIns="0" rIns="0" bIns="0" rtlCol="0" anchor="ctr"/>
          <a:lstStyle/>
          <a:p>
            <a:pPr indent="0" marL="0">
              <a:buNone/>
            </a:pPr>
            <a:r>
              <a:rPr lang="en-US" sz="1600" b="1" dirty="0">
                <a:solidFill>
                  <a:schemeClr val="tx2"/>
                </a:solidFill>
              </a:rPr>
              <a:t>Hiểu có/không dấu</a:t>
            </a:r>
            <a:endParaRPr lang="en-US" sz="1600" dirty="0"/>
          </a:p>
        </p:txBody>
      </p:sp>
      <p:sp>
        <p:nvSpPr>
          <p:cNvPr id="34" name="Text 25"/>
          <p:cNvSpPr txBox="1"/>
          <p:nvPr/>
        </p:nvSpPr>
        <p:spPr>
          <a:xfrm>
            <a:off x="8001000" y="5522976"/>
            <a:ext cx="3383280" cy="502920"/>
          </a:xfrm>
          <a:prstGeom prst="rect">
            <a:avLst/>
          </a:prstGeom>
          <a:noFill/>
          <a:ln/>
        </p:spPr>
        <p:txBody>
          <a:bodyPr wrap="square" lIns="0" tIns="0" rIns="0" bIns="0" rtlCol="0" anchor="t"/>
          <a:lstStyle/>
          <a:p>
            <a:pPr indent="0" marL="0">
              <a:buNone/>
            </a:pPr>
            <a:r>
              <a:rPr lang="en-US" sz="1400" dirty="0">
                <a:solidFill>
                  <a:schemeClr val="tx1"/>
                </a:solidFill>
              </a:rPr>
              <a:t>“phi ship” = “phí ship”, phân biệt “đỏ” / “đồ”</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Vì sao chọn kiến trúc lai luật + AI?</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675120" cy="914400"/>
        </p:xfrm>
        <a:graphic>
          <a:graphicData uri="http://schemas.openxmlformats.org/drawingml/2006/table">
            <a:tbl>
              <a:tblPr/>
              <a:tblGrid>
                <a:gridCol w="1463040"/>
                <a:gridCol w="1554480"/>
                <a:gridCol w="1645920"/>
                <a:gridCol w="2011680"/>
              </a:tblGrid>
              <a:tr h="5486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Tiêu chí</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2F6B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Chỉ dùng luật</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2F6B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Chỉ dùng LLM</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2F6B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Lai – Bé Sen</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2F6B3A"/>
                    </a:solidFill>
                  </a:tcPr>
                </a:tc>
              </a:tr>
              <a:tr h="548640">
                <a:tc>
                  <a:txBody>
                    <a:bodyPr/>
                    <a:lstStyle/>
                    <a:p>
                      <a:pPr indent="0" marL="0">
                        <a:buNone/>
                      </a:pPr>
                      <a:r>
                        <a:rPr lang="en-US" sz="1400" dirty="0">
                          <a:solidFill>
                            <a:srgbClr val="1F2A22"/>
                          </a:solidFill>
                          <a:latin typeface="Calibri" pitchFamily="34" charset="0"/>
                          <a:ea typeface="Calibri" pitchFamily="34" charset="-122"/>
                          <a:cs typeface="Calibri" pitchFamily="34" charset="-120"/>
                        </a:rPr>
                        <a:t>Chi phí</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tcPr>
                </a:tc>
                <a:tc>
                  <a:txBody>
                    <a:bodyPr/>
                    <a:lstStyle/>
                    <a:p>
                      <a:pPr indent="0" marL="0">
                        <a:buNone/>
                      </a:pPr>
                      <a:r>
                        <a:rPr lang="en-US" sz="1400" dirty="0">
                          <a:solidFill>
                            <a:srgbClr val="1F2A22"/>
                          </a:solidFill>
                          <a:latin typeface="Calibri" pitchFamily="34" charset="0"/>
                          <a:ea typeface="Calibri" pitchFamily="34" charset="-122"/>
                          <a:cs typeface="Calibri" pitchFamily="34" charset="-120"/>
                        </a:rPr>
                        <a:t>Miễn phí</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tcPr>
                </a:tc>
                <a:tc>
                  <a:txBody>
                    <a:bodyPr/>
                    <a:lstStyle/>
                    <a:p>
                      <a:pPr indent="0" marL="0">
                        <a:buNone/>
                      </a:pPr>
                      <a:r>
                        <a:rPr lang="en-US" sz="1400" dirty="0">
                          <a:solidFill>
                            <a:srgbClr val="1F2A22"/>
                          </a:solidFill>
                          <a:latin typeface="Calibri" pitchFamily="34" charset="0"/>
                          <a:ea typeface="Calibri" pitchFamily="34" charset="-122"/>
                          <a:cs typeface="Calibri" pitchFamily="34" charset="-120"/>
                        </a:rPr>
                        <a:t>Tính theo token</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tcPr>
                </a:tc>
                <a:tc>
                  <a:txBody>
                    <a:bodyPr/>
                    <a:lstStyle/>
                    <a:p>
                      <a:pPr indent="0" marL="0">
                        <a:buNone/>
                      </a:pPr>
                      <a:r>
                        <a:rPr lang="en-US" sz="1400" b="1" dirty="0">
                          <a:solidFill>
                            <a:srgbClr val="2F6B3A"/>
                          </a:solidFill>
                          <a:latin typeface="Calibri" pitchFamily="34" charset="0"/>
                          <a:ea typeface="Calibri" pitchFamily="34" charset="-122"/>
                          <a:cs typeface="Calibri" pitchFamily="34" charset="-120"/>
                        </a:rPr>
                        <a:t>Miễn phí, AI tùy chọn</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EEF6F0"/>
                    </a:solidFill>
                  </a:tcPr>
                </a:tc>
              </a:tr>
              <a:tr h="548640">
                <a:tc>
                  <a:txBody>
                    <a:bodyPr/>
                    <a:lstStyle/>
                    <a:p>
                      <a:pPr indent="0" marL="0">
                        <a:buNone/>
                      </a:pPr>
                      <a:r>
                        <a:rPr lang="en-US" sz="1400" dirty="0">
                          <a:solidFill>
                            <a:srgbClr val="1F2A22"/>
                          </a:solidFill>
                          <a:latin typeface="Calibri" pitchFamily="34" charset="0"/>
                          <a:ea typeface="Calibri" pitchFamily="34" charset="-122"/>
                          <a:cs typeface="Calibri" pitchFamily="34" charset="-120"/>
                        </a:rPr>
                        <a:t>Đúng dữ liệu</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tcPr>
                </a:tc>
                <a:tc>
                  <a:txBody>
                    <a:bodyPr/>
                    <a:lstStyle/>
                    <a:p>
                      <a:pPr indent="0" marL="0">
                        <a:buNone/>
                      </a:pPr>
                      <a:r>
                        <a:rPr lang="en-US" sz="1400" dirty="0">
                          <a:solidFill>
                            <a:srgbClr val="1F2A22"/>
                          </a:solidFill>
                          <a:latin typeface="Calibri" pitchFamily="34" charset="0"/>
                          <a:ea typeface="Calibri" pitchFamily="34" charset="-122"/>
                          <a:cs typeface="Calibri" pitchFamily="34" charset="-120"/>
                        </a:rPr>
                        <a:t>Cao</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tcPr>
                </a:tc>
                <a:tc>
                  <a:txBody>
                    <a:bodyPr/>
                    <a:lstStyle/>
                    <a:p>
                      <a:pPr indent="0" marL="0">
                        <a:buNone/>
                      </a:pPr>
                      <a:r>
                        <a:rPr lang="en-US" sz="1400" dirty="0">
                          <a:solidFill>
                            <a:srgbClr val="1F2A22"/>
                          </a:solidFill>
                          <a:latin typeface="Calibri" pitchFamily="34" charset="0"/>
                          <a:ea typeface="Calibri" pitchFamily="34" charset="-122"/>
                          <a:cs typeface="Calibri" pitchFamily="34" charset="-120"/>
                        </a:rPr>
                        <a:t>Có thể “bịa”</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tcPr>
                </a:tc>
                <a:tc>
                  <a:txBody>
                    <a:bodyPr/>
                    <a:lstStyle/>
                    <a:p>
                      <a:pPr indent="0" marL="0">
                        <a:buNone/>
                      </a:pPr>
                      <a:r>
                        <a:rPr lang="en-US" sz="1400" b="1" dirty="0">
                          <a:solidFill>
                            <a:srgbClr val="2F6B3A"/>
                          </a:solidFill>
                          <a:latin typeface="Calibri" pitchFamily="34" charset="0"/>
                          <a:ea typeface="Calibri" pitchFamily="34" charset="-122"/>
                          <a:cs typeface="Calibri" pitchFamily="34" charset="-120"/>
                        </a:rPr>
                        <a:t>Cao – luật tra dữ liệu</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EEF6F0"/>
                    </a:solidFill>
                  </a:tcPr>
                </a:tc>
              </a:tr>
              <a:tr h="548640">
                <a:tc>
                  <a:txBody>
                    <a:bodyPr/>
                    <a:lstStyle/>
                    <a:p>
                      <a:pPr indent="0" marL="0">
                        <a:buNone/>
                      </a:pPr>
                      <a:r>
                        <a:rPr lang="en-US" sz="1400" dirty="0">
                          <a:solidFill>
                            <a:srgbClr val="1F2A22"/>
                          </a:solidFill>
                          <a:latin typeface="Calibri" pitchFamily="34" charset="0"/>
                          <a:ea typeface="Calibri" pitchFamily="34" charset="-122"/>
                          <a:cs typeface="Calibri" pitchFamily="34" charset="-120"/>
                        </a:rPr>
                        <a:t>Hiểu câu lạ</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tcPr>
                </a:tc>
                <a:tc>
                  <a:txBody>
                    <a:bodyPr/>
                    <a:lstStyle/>
                    <a:p>
                      <a:pPr indent="0" marL="0">
                        <a:buNone/>
                      </a:pPr>
                      <a:r>
                        <a:rPr lang="en-US" sz="1400" dirty="0">
                          <a:solidFill>
                            <a:srgbClr val="1F2A22"/>
                          </a:solidFill>
                          <a:latin typeface="Calibri" pitchFamily="34" charset="0"/>
                          <a:ea typeface="Calibri" pitchFamily="34" charset="-122"/>
                          <a:cs typeface="Calibri" pitchFamily="34" charset="-120"/>
                        </a:rPr>
                        <a:t>Thấp</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tcPr>
                </a:tc>
                <a:tc>
                  <a:txBody>
                    <a:bodyPr/>
                    <a:lstStyle/>
                    <a:p>
                      <a:pPr indent="0" marL="0">
                        <a:buNone/>
                      </a:pPr>
                      <a:r>
                        <a:rPr lang="en-US" sz="1400" dirty="0">
                          <a:solidFill>
                            <a:srgbClr val="1F2A22"/>
                          </a:solidFill>
                          <a:latin typeface="Calibri" pitchFamily="34" charset="0"/>
                          <a:ea typeface="Calibri" pitchFamily="34" charset="-122"/>
                          <a:cs typeface="Calibri" pitchFamily="34" charset="-120"/>
                        </a:rPr>
                        <a:t>Cao</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tcPr>
                </a:tc>
                <a:tc>
                  <a:txBody>
                    <a:bodyPr/>
                    <a:lstStyle/>
                    <a:p>
                      <a:pPr indent="0" marL="0">
                        <a:buNone/>
                      </a:pPr>
                      <a:r>
                        <a:rPr lang="en-US" sz="1400" b="1" dirty="0">
                          <a:solidFill>
                            <a:srgbClr val="2F6B3A"/>
                          </a:solidFill>
                          <a:latin typeface="Calibri" pitchFamily="34" charset="0"/>
                          <a:ea typeface="Calibri" pitchFamily="34" charset="-122"/>
                          <a:cs typeface="Calibri" pitchFamily="34" charset="-120"/>
                        </a:rPr>
                        <a:t>Khá → cao khi bật AI</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EEF6F0"/>
                    </a:solidFill>
                  </a:tcPr>
                </a:tc>
              </a:tr>
              <a:tr h="548640">
                <a:tc>
                  <a:txBody>
                    <a:bodyPr/>
                    <a:lstStyle/>
                    <a:p>
                      <a:pPr indent="0" marL="0">
                        <a:buNone/>
                      </a:pPr>
                      <a:r>
                        <a:rPr lang="en-US" sz="1400" dirty="0">
                          <a:solidFill>
                            <a:srgbClr val="1F2A22"/>
                          </a:solidFill>
                          <a:latin typeface="Calibri" pitchFamily="34" charset="0"/>
                          <a:ea typeface="Calibri" pitchFamily="34" charset="-122"/>
                          <a:cs typeface="Calibri" pitchFamily="34" charset="-120"/>
                        </a:rPr>
                        <a:t>Kiểm thử</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tcPr>
                </a:tc>
                <a:tc>
                  <a:txBody>
                    <a:bodyPr/>
                    <a:lstStyle/>
                    <a:p>
                      <a:pPr indent="0" marL="0">
                        <a:buNone/>
                      </a:pPr>
                      <a:r>
                        <a:rPr lang="en-US" sz="1400" dirty="0">
                          <a:solidFill>
                            <a:srgbClr val="1F2A22"/>
                          </a:solidFill>
                          <a:latin typeface="Calibri" pitchFamily="34" charset="0"/>
                          <a:ea typeface="Calibri" pitchFamily="34" charset="-122"/>
                          <a:cs typeface="Calibri" pitchFamily="34" charset="-120"/>
                        </a:rPr>
                        <a:t>Dễ</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tcPr>
                </a:tc>
                <a:tc>
                  <a:txBody>
                    <a:bodyPr/>
                    <a:lstStyle/>
                    <a:p>
                      <a:pPr indent="0" marL="0">
                        <a:buNone/>
                      </a:pPr>
                      <a:r>
                        <a:rPr lang="en-US" sz="1400" dirty="0">
                          <a:solidFill>
                            <a:srgbClr val="1F2A22"/>
                          </a:solidFill>
                          <a:latin typeface="Calibri" pitchFamily="34" charset="0"/>
                          <a:ea typeface="Calibri" pitchFamily="34" charset="-122"/>
                          <a:cs typeface="Calibri" pitchFamily="34" charset="-120"/>
                        </a:rPr>
                        <a:t>Khó</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tcPr>
                </a:tc>
                <a:tc>
                  <a:txBody>
                    <a:bodyPr/>
                    <a:lstStyle/>
                    <a:p>
                      <a:pPr indent="0" marL="0">
                        <a:buNone/>
                      </a:pPr>
                      <a:r>
                        <a:rPr lang="en-US" sz="1400" b="1" dirty="0">
                          <a:solidFill>
                            <a:srgbClr val="2F6B3A"/>
                          </a:solidFill>
                          <a:latin typeface="Calibri" pitchFamily="34" charset="0"/>
                          <a:ea typeface="Calibri" pitchFamily="34" charset="-122"/>
                          <a:cs typeface="Calibri" pitchFamily="34" charset="-120"/>
                        </a:rPr>
                        <a:t>46 ca tự động</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EEF6F0"/>
                    </a:solidFill>
                  </a:tcPr>
                </a:tc>
              </a:tr>
              <a:tr h="548640">
                <a:tc>
                  <a:txBody>
                    <a:bodyPr/>
                    <a:lstStyle/>
                    <a:p>
                      <a:pPr indent="0" marL="0">
                        <a:buNone/>
                      </a:pPr>
                      <a:r>
                        <a:rPr lang="en-US" sz="1400" dirty="0">
                          <a:solidFill>
                            <a:srgbClr val="1F2A22"/>
                          </a:solidFill>
                          <a:latin typeface="Calibri" pitchFamily="34" charset="0"/>
                          <a:ea typeface="Calibri" pitchFamily="34" charset="-122"/>
                          <a:cs typeface="Calibri" pitchFamily="34" charset="-120"/>
                        </a:rPr>
                        <a:t>Chạy offline</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tcPr>
                </a:tc>
                <a:tc>
                  <a:txBody>
                    <a:bodyPr/>
                    <a:lstStyle/>
                    <a:p>
                      <a:pPr indent="0" marL="0">
                        <a:buNone/>
                      </a:pPr>
                      <a:r>
                        <a:rPr lang="en-US" sz="1400" dirty="0">
                          <a:solidFill>
                            <a:srgbClr val="1F2A22"/>
                          </a:solidFill>
                          <a:latin typeface="Calibri" pitchFamily="34" charset="0"/>
                          <a:ea typeface="Calibri" pitchFamily="34" charset="-122"/>
                          <a:cs typeface="Calibri" pitchFamily="34" charset="-120"/>
                        </a:rPr>
                        <a:t>Có</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tcPr>
                </a:tc>
                <a:tc>
                  <a:txBody>
                    <a:bodyPr/>
                    <a:lstStyle/>
                    <a:p>
                      <a:pPr indent="0" marL="0">
                        <a:buNone/>
                      </a:pPr>
                      <a:r>
                        <a:rPr lang="en-US" sz="1400" dirty="0">
                          <a:solidFill>
                            <a:srgbClr val="1F2A22"/>
                          </a:solidFill>
                          <a:latin typeface="Calibri" pitchFamily="34" charset="0"/>
                          <a:ea typeface="Calibri" pitchFamily="34" charset="-122"/>
                          <a:cs typeface="Calibri" pitchFamily="34" charset="-120"/>
                        </a:rPr>
                        <a:t>Không</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tcPr>
                </a:tc>
                <a:tc>
                  <a:txBody>
                    <a:bodyPr/>
                    <a:lstStyle/>
                    <a:p>
                      <a:pPr indent="0" marL="0">
                        <a:buNone/>
                      </a:pPr>
                      <a:r>
                        <a:rPr lang="en-US" sz="1400" b="1" dirty="0">
                          <a:solidFill>
                            <a:srgbClr val="2F6B3A"/>
                          </a:solidFill>
                          <a:latin typeface="Calibri" pitchFamily="34" charset="0"/>
                          <a:ea typeface="Calibri" pitchFamily="34" charset="-122"/>
                          <a:cs typeface="Calibri" pitchFamily="34" charset="-120"/>
                        </a:rPr>
                        <a:t>Có</a:t>
                      </a:r>
                      <a:endParaRPr lang="en-US" sz="1400" dirty="0">
                        <a:latin typeface="Calibri" charset="0"/>
                        <a:ea typeface="Calibri" charset="0"/>
                        <a:cs typeface="Calibri" charset="0"/>
                      </a:endParaRPr>
                    </a:p>
                  </a:txBody>
                  <a:tcPr marL="73152" marR="73152" marT="73152" marB="73152"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EEF6F0"/>
                    </a:solidFill>
                  </a:tcPr>
                </a:tc>
              </a:tr>
            </a:tbl>
          </a:graphicData>
        </a:graphic>
      </p:graphicFrame>
      <p:sp>
        <p:nvSpPr>
          <p:cNvPr id="4" name="example"/>
          <p:cNvSpPr/>
          <p:nvPr/>
        </p:nvSpPr>
        <p:spPr>
          <a:xfrm>
            <a:off x="548640" y="4892040"/>
            <a:ext cx="6675120" cy="1234440"/>
          </a:xfrm>
          <a:prstGeom prst="roundRect">
            <a:avLst>
              <a:gd name="adj" fmla="val 8889"/>
            </a:avLst>
          </a:prstGeom>
          <a:solidFill>
            <a:schemeClr val="bg2"/>
          </a:solidFill>
          <a:ln/>
        </p:spPr>
      </p:sp>
      <p:sp>
        <p:nvSpPr>
          <p:cNvPr id="5" name="icon bg MessageCircle"/>
          <p:cNvSpPr/>
          <p:nvPr/>
        </p:nvSpPr>
        <p:spPr>
          <a:xfrm>
            <a:off x="777240" y="5230368"/>
            <a:ext cx="548640" cy="548640"/>
          </a:xfrm>
          <a:prstGeom prst="ellipse">
            <a:avLst/>
          </a:prstGeom>
          <a:solidFill>
            <a:schemeClr val="accent1"/>
          </a:solidFill>
          <a:ln/>
        </p:spPr>
      </p:sp>
      <p:pic>
        <p:nvPicPr>
          <p:cNvPr id="6" name="icon MessageCircle" descr="MessageCircle">    </p:cNvPr>
          <p:cNvPicPr>
            <a:picLocks noChangeAspect="1"/>
          </p:cNvPicPr>
          <p:nvPr/>
        </p:nvPicPr>
        <p:blipFill>
          <a:blip r:embed="rId1"/>
          <a:stretch>
            <a:fillRect/>
          </a:stretch>
        </p:blipFill>
        <p:spPr>
          <a:xfrm>
            <a:off x="908914" y="5362042"/>
            <a:ext cx="285293" cy="285293"/>
          </a:xfrm>
          <a:prstGeom prst="rect">
            <a:avLst/>
          </a:prstGeom>
        </p:spPr>
      </p:pic>
      <p:sp>
        <p:nvSpPr>
          <p:cNvPr id="7" name="Text 3"/>
          <p:cNvSpPr txBox="1"/>
          <p:nvPr/>
        </p:nvSpPr>
        <p:spPr>
          <a:xfrm>
            <a:off x="1508760" y="4937760"/>
            <a:ext cx="5577840" cy="1143000"/>
          </a:xfrm>
          <a:prstGeom prst="rect">
            <a:avLst/>
          </a:prstGeom>
          <a:noFill/>
          <a:ln/>
        </p:spPr>
        <p:txBody>
          <a:bodyPr wrap="square" lIns="0" tIns="0" rIns="0" bIns="0" rtlCol="0" anchor="ctr"/>
          <a:lstStyle/>
          <a:p>
            <a:pPr indent="0" marL="0">
              <a:buNone/>
            </a:pPr>
            <a:r>
              <a:rPr lang="en-US" sz="1400" b="1" dirty="0">
                <a:solidFill>
                  <a:schemeClr val="tx2"/>
                </a:solidFill>
              </a:rPr>
              <a:t>Ví dụ: </a:t>
            </a:r>
            <a:pPr indent="0" marL="0">
              <a:buNone/>
            </a:pPr>
            <a:r>
              <a:rPr lang="en-US" sz="1400" dirty="0">
                <a:solidFill>
                  <a:schemeClr val="tx1"/>
                </a:solidFill>
              </a:rPr>
              <a:t>“phí ship bao nhiêu?” → luật đọc Cài đặt: phí cố định, miễn phí từ ngưỡng giá trị đơn → AI (nếu bật) chỉ viết lại cho tự nhiên, con số giữ nguyên.</a:t>
            </a:r>
            <a:endParaRPr lang="en-US" sz="1400" dirty="0"/>
          </a:p>
        </p:txBody>
      </p:sp>
      <p:sp>
        <p:nvSpPr>
          <p:cNvPr id="8" name="idea"/>
          <p:cNvSpPr/>
          <p:nvPr/>
        </p:nvSpPr>
        <p:spPr>
          <a:xfrm>
            <a:off x="7589520" y="1371600"/>
            <a:ext cx="4069080" cy="4754880"/>
          </a:xfrm>
          <a:prstGeom prst="roundRect">
            <a:avLst>
              <a:gd name="adj" fmla="val 3371"/>
            </a:avLst>
          </a:prstGeom>
          <a:solidFill>
            <a:schemeClr val="accent1"/>
          </a:solidFill>
          <a:ln/>
        </p:spPr>
      </p:sp>
      <p:sp>
        <p:nvSpPr>
          <p:cNvPr id="9" name="icon bg Brain"/>
          <p:cNvSpPr/>
          <p:nvPr/>
        </p:nvSpPr>
        <p:spPr>
          <a:xfrm>
            <a:off x="7863840" y="1645920"/>
            <a:ext cx="640080" cy="640080"/>
          </a:xfrm>
          <a:prstGeom prst="ellipse">
            <a:avLst/>
          </a:prstGeom>
          <a:solidFill>
            <a:schemeClr val="accent3"/>
          </a:solidFill>
          <a:ln/>
        </p:spPr>
      </p:sp>
      <p:pic>
        <p:nvPicPr>
          <p:cNvPr id="10" name="icon Brain" descr="Brain">    </p:cNvPr>
          <p:cNvPicPr>
            <a:picLocks noChangeAspect="1"/>
          </p:cNvPicPr>
          <p:nvPr/>
        </p:nvPicPr>
        <p:blipFill>
          <a:blip r:embed="rId2"/>
          <a:stretch>
            <a:fillRect/>
          </a:stretch>
        </p:blipFill>
        <p:spPr>
          <a:xfrm>
            <a:off x="8017459" y="1799539"/>
            <a:ext cx="332842" cy="332842"/>
          </a:xfrm>
          <a:prstGeom prst="rect">
            <a:avLst/>
          </a:prstGeom>
        </p:spPr>
      </p:pic>
      <p:sp>
        <p:nvSpPr>
          <p:cNvPr id="11" name="Text 6"/>
          <p:cNvSpPr txBox="1"/>
          <p:nvPr/>
        </p:nvSpPr>
        <p:spPr>
          <a:xfrm>
            <a:off x="8641080" y="1691640"/>
            <a:ext cx="2834640" cy="548640"/>
          </a:xfrm>
          <a:prstGeom prst="rect">
            <a:avLst/>
          </a:prstGeom>
          <a:noFill/>
          <a:ln/>
        </p:spPr>
        <p:txBody>
          <a:bodyPr wrap="square" lIns="0" tIns="0" rIns="0" bIns="0" rtlCol="0" anchor="ctr"/>
          <a:lstStyle/>
          <a:p>
            <a:pPr indent="0" marL="0">
              <a:buNone/>
            </a:pPr>
            <a:r>
              <a:rPr lang="en-US" sz="2000" b="1" dirty="0">
                <a:solidFill>
                  <a:schemeClr val="bg1"/>
                </a:solidFill>
              </a:rPr>
              <a:t>Ý tưởng cốt lõi</a:t>
            </a:r>
            <a:endParaRPr lang="en-US" sz="2000" dirty="0"/>
          </a:p>
        </p:txBody>
      </p:sp>
      <p:sp>
        <p:nvSpPr>
          <p:cNvPr id="12" name="Text 7"/>
          <p:cNvSpPr txBox="1"/>
          <p:nvPr/>
        </p:nvSpPr>
        <p:spPr>
          <a:xfrm>
            <a:off x="7909560" y="2514600"/>
            <a:ext cx="3520440" cy="3474720"/>
          </a:xfrm>
          <a:prstGeom prst="rect">
            <a:avLst/>
          </a:prstGeom>
          <a:noFill/>
          <a:ln/>
        </p:spPr>
        <p:txBody>
          <a:bodyPr wrap="square" lIns="0" tIns="0" rIns="0" bIns="0" rtlCol="0" anchor="t"/>
          <a:lstStyle/>
          <a:p>
            <a:pPr indent="0" marL="0">
              <a:buNone/>
            </a:pPr>
            <a:r>
              <a:rPr lang="en-US" sz="1500" b="1" dirty="0">
                <a:solidFill>
                  <a:schemeClr val="accent3"/>
                </a:solidFill>
              </a:rPr>
              <a:t>Bộ luật là “bộ não”</a:t>
            </a:r>
            <a:endParaRPr lang="en-US" sz="1500" dirty="0"/>
          </a:p>
          <a:p>
            <a:pPr indent="0" marL="0">
              <a:buNone/>
            </a:pPr>
            <a:r>
              <a:rPr lang="en-US" sz="1500" dirty="0">
                <a:solidFill>
                  <a:schemeClr val="bg1"/>
                </a:solidFill>
              </a:rPr>
              <a:t>quyết định nội dung, tra dữ liệu thật đã xác minh</a:t>
            </a:r>
            <a:endParaRPr lang="en-US" sz="1500" dirty="0"/>
          </a:p>
          <a:p>
            <a:pPr indent="0" marL="0">
              <a:buNone/>
            </a:pPr>
            <a:r>
              <a:rPr lang="en-US" sz="800" dirty="0">
                <a:solidFill>
                  <a:schemeClr val="bg1"/>
                </a:solidFill>
              </a:rPr>
              <a:t> </a:t>
            </a:r>
            <a:endParaRPr lang="en-US" sz="1500" dirty="0"/>
          </a:p>
          <a:p>
            <a:pPr indent="0" marL="0">
              <a:buNone/>
            </a:pPr>
            <a:r>
              <a:rPr lang="en-US" sz="1500" b="1" dirty="0">
                <a:solidFill>
                  <a:schemeClr val="accent3"/>
                </a:solidFill>
              </a:rPr>
              <a:t>AI chỉ là “giọng nói”</a:t>
            </a:r>
            <a:endParaRPr lang="en-US" sz="1500" dirty="0"/>
          </a:p>
          <a:p>
            <a:pPr indent="0" marL="0">
              <a:buNone/>
            </a:pPr>
            <a:r>
              <a:rPr lang="en-US" sz="1500" dirty="0">
                <a:solidFill>
                  <a:schemeClr val="bg1"/>
                </a:solidFill>
              </a:rPr>
              <a:t>diễn đạt lại tự nhiên, chỉ dùng dữ liệu được cung cấp – không bịa giá hay trạng thái đơn</a:t>
            </a:r>
            <a:endParaRPr lang="en-US" sz="1500" dirty="0"/>
          </a:p>
          <a:p>
            <a:pPr indent="0" marL="0">
              <a:buNone/>
            </a:pPr>
            <a:r>
              <a:rPr lang="en-US" sz="800" dirty="0">
                <a:solidFill>
                  <a:schemeClr val="bg1"/>
                </a:solidFill>
              </a:rPr>
              <a:t> </a:t>
            </a:r>
            <a:endParaRPr lang="en-US" sz="1500" dirty="0"/>
          </a:p>
          <a:p>
            <a:pPr indent="0" marL="0">
              <a:buNone/>
            </a:pPr>
            <a:r>
              <a:rPr lang="en-US" sz="1500" b="1" dirty="0">
                <a:solidFill>
                  <a:schemeClr val="accent6"/>
                </a:solidFill>
              </a:rPr>
              <a:t>AI lỗi → tự quay về câu của bộ luật</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Kiến trúc thành phần của Bé Sen</a:t>
            </a:r>
            <a:endParaRPr lang="en-US" sz="3000" dirty="0"/>
          </a:p>
        </p:txBody>
      </p:sp>
      <p:sp>
        <p:nvSpPr>
          <p:cNvPr id="3" name="arch Widget chat (trình duyệt)"/>
          <p:cNvSpPr/>
          <p:nvPr/>
        </p:nvSpPr>
        <p:spPr>
          <a:xfrm>
            <a:off x="548640" y="1325880"/>
            <a:ext cx="3840480" cy="566928"/>
          </a:xfrm>
          <a:prstGeom prst="roundRect">
            <a:avLst>
              <a:gd name="adj" fmla="val 12903"/>
            </a:avLst>
          </a:prstGeom>
          <a:solidFill>
            <a:schemeClr val="bg2"/>
          </a:solidFill>
          <a:ln/>
        </p:spPr>
      </p:sp>
      <p:sp>
        <p:nvSpPr>
          <p:cNvPr id="4" name="Text 2"/>
          <p:cNvSpPr txBox="1"/>
          <p:nvPr/>
        </p:nvSpPr>
        <p:spPr>
          <a:xfrm>
            <a:off x="548640" y="1325880"/>
            <a:ext cx="3840480" cy="566928"/>
          </a:xfrm>
          <a:prstGeom prst="rect">
            <a:avLst/>
          </a:prstGeom>
          <a:noFill/>
          <a:ln/>
        </p:spPr>
        <p:txBody>
          <a:bodyPr wrap="square" lIns="0" tIns="0" rIns="0" bIns="0" rtlCol="0" anchor="ctr"/>
          <a:lstStyle/>
          <a:p>
            <a:pPr algn="ctr" indent="0" marL="0">
              <a:buNone/>
            </a:pPr>
            <a:r>
              <a:rPr lang="en-US" sz="1200" b="1" dirty="0">
                <a:solidFill>
                  <a:schemeClr val="tx2"/>
                </a:solidFill>
              </a:rPr>
              <a:t>Widget chat (trình duyệt)</a:t>
            </a:r>
            <a:endParaRPr lang="en-US" sz="1200" dirty="0"/>
          </a:p>
        </p:txBody>
      </p:sp>
      <p:sp>
        <p:nvSpPr>
          <p:cNvPr id="5" name="down 2.1"/>
          <p:cNvSpPr/>
          <p:nvPr/>
        </p:nvSpPr>
        <p:spPr>
          <a:xfrm>
            <a:off x="2331720" y="1920240"/>
            <a:ext cx="274320" cy="228600"/>
          </a:xfrm>
          <a:prstGeom prst="downArrow">
            <a:avLst/>
          </a:prstGeom>
          <a:solidFill>
            <a:schemeClr val="accent3"/>
          </a:solidFill>
          <a:ln/>
        </p:spPr>
      </p:sp>
      <p:sp>
        <p:nvSpPr>
          <p:cNvPr id="6" name="arch Server Action: giới hạn tần suất, lưu DB"/>
          <p:cNvSpPr/>
          <p:nvPr/>
        </p:nvSpPr>
        <p:spPr>
          <a:xfrm>
            <a:off x="548640" y="2176272"/>
            <a:ext cx="3840480" cy="566928"/>
          </a:xfrm>
          <a:prstGeom prst="roundRect">
            <a:avLst>
              <a:gd name="adj" fmla="val 12903"/>
            </a:avLst>
          </a:prstGeom>
          <a:solidFill>
            <a:schemeClr val="bg2"/>
          </a:solidFill>
          <a:ln/>
        </p:spPr>
      </p:sp>
      <p:sp>
        <p:nvSpPr>
          <p:cNvPr id="7" name="Text 5"/>
          <p:cNvSpPr txBox="1"/>
          <p:nvPr/>
        </p:nvSpPr>
        <p:spPr>
          <a:xfrm>
            <a:off x="548640" y="2176272"/>
            <a:ext cx="3840480" cy="566928"/>
          </a:xfrm>
          <a:prstGeom prst="rect">
            <a:avLst/>
          </a:prstGeom>
          <a:noFill/>
          <a:ln/>
        </p:spPr>
        <p:txBody>
          <a:bodyPr wrap="square" lIns="0" tIns="0" rIns="0" bIns="0" rtlCol="0" anchor="ctr"/>
          <a:lstStyle/>
          <a:p>
            <a:pPr algn="ctr" indent="0" marL="0">
              <a:buNone/>
            </a:pPr>
            <a:r>
              <a:rPr lang="en-US" sz="1200" b="1" dirty="0">
                <a:solidFill>
                  <a:schemeClr val="tx2"/>
                </a:solidFill>
              </a:rPr>
              <a:t>Server Action: giới hạn tần suất, lưu DB</a:t>
            </a:r>
            <a:endParaRPr lang="en-US" sz="1200" dirty="0"/>
          </a:p>
        </p:txBody>
      </p:sp>
      <p:sp>
        <p:nvSpPr>
          <p:cNvPr id="8" name="down 3.03"/>
          <p:cNvSpPr/>
          <p:nvPr/>
        </p:nvSpPr>
        <p:spPr>
          <a:xfrm>
            <a:off x="2331720" y="2770632"/>
            <a:ext cx="274320" cy="228600"/>
          </a:xfrm>
          <a:prstGeom prst="downArrow">
            <a:avLst/>
          </a:prstGeom>
          <a:solidFill>
            <a:schemeClr val="accent3"/>
          </a:solidFill>
          <a:ln/>
        </p:spPr>
      </p:sp>
      <p:sp>
        <p:nvSpPr>
          <p:cNvPr id="9" name="arch Engine – bộ luật Bé Sen"/>
          <p:cNvSpPr/>
          <p:nvPr/>
        </p:nvSpPr>
        <p:spPr>
          <a:xfrm>
            <a:off x="548640" y="3026664"/>
            <a:ext cx="3840480" cy="566928"/>
          </a:xfrm>
          <a:prstGeom prst="roundRect">
            <a:avLst>
              <a:gd name="adj" fmla="val 12903"/>
            </a:avLst>
          </a:prstGeom>
          <a:solidFill>
            <a:schemeClr val="accent1"/>
          </a:solidFill>
          <a:ln/>
        </p:spPr>
      </p:sp>
      <p:sp>
        <p:nvSpPr>
          <p:cNvPr id="10" name="Text 8"/>
          <p:cNvSpPr txBox="1"/>
          <p:nvPr/>
        </p:nvSpPr>
        <p:spPr>
          <a:xfrm>
            <a:off x="548640" y="3026664"/>
            <a:ext cx="3840480" cy="566928"/>
          </a:xfrm>
          <a:prstGeom prst="rect">
            <a:avLst/>
          </a:prstGeom>
          <a:noFill/>
          <a:ln/>
        </p:spPr>
        <p:txBody>
          <a:bodyPr wrap="square" lIns="0" tIns="0" rIns="0" bIns="0" rtlCol="0" anchor="ctr"/>
          <a:lstStyle/>
          <a:p>
            <a:pPr algn="ctr" indent="0" marL="0">
              <a:buNone/>
            </a:pPr>
            <a:r>
              <a:rPr lang="en-US" sz="1200" b="1" dirty="0">
                <a:solidFill>
                  <a:schemeClr val="bg1"/>
                </a:solidFill>
              </a:rPr>
              <a:t>Engine – bộ luật Bé Sen</a:t>
            </a:r>
            <a:endParaRPr lang="en-US" sz="1200" dirty="0"/>
          </a:p>
        </p:txBody>
      </p:sp>
      <p:sp>
        <p:nvSpPr>
          <p:cNvPr id="11" name="down 3.96"/>
          <p:cNvSpPr/>
          <p:nvPr/>
        </p:nvSpPr>
        <p:spPr>
          <a:xfrm>
            <a:off x="2331720" y="3621024"/>
            <a:ext cx="274320" cy="228600"/>
          </a:xfrm>
          <a:prstGeom prst="downArrow">
            <a:avLst/>
          </a:prstGeom>
          <a:solidFill>
            <a:schemeClr val="accent3"/>
          </a:solidFill>
          <a:ln/>
        </p:spPr>
      </p:sp>
      <p:sp>
        <p:nvSpPr>
          <p:cNvPr id="12" name="arch Dữ liệu shop"/>
          <p:cNvSpPr/>
          <p:nvPr/>
        </p:nvSpPr>
        <p:spPr>
          <a:xfrm>
            <a:off x="548640" y="3877056"/>
            <a:ext cx="1216152" cy="566928"/>
          </a:xfrm>
          <a:prstGeom prst="roundRect">
            <a:avLst>
              <a:gd name="adj" fmla="val 12903"/>
            </a:avLst>
          </a:prstGeom>
          <a:solidFill>
            <a:schemeClr val="bg2"/>
          </a:solidFill>
          <a:ln/>
        </p:spPr>
      </p:sp>
      <p:sp>
        <p:nvSpPr>
          <p:cNvPr id="13" name="Text 11"/>
          <p:cNvSpPr txBox="1"/>
          <p:nvPr/>
        </p:nvSpPr>
        <p:spPr>
          <a:xfrm>
            <a:off x="548640" y="3877056"/>
            <a:ext cx="1216152" cy="566928"/>
          </a:xfrm>
          <a:prstGeom prst="rect">
            <a:avLst/>
          </a:prstGeom>
          <a:noFill/>
          <a:ln/>
        </p:spPr>
        <p:txBody>
          <a:bodyPr wrap="square" lIns="0" tIns="0" rIns="0" bIns="0" rtlCol="0" anchor="ctr"/>
          <a:lstStyle/>
          <a:p>
            <a:pPr algn="ctr" indent="0" marL="0">
              <a:buNone/>
            </a:pPr>
            <a:r>
              <a:rPr lang="en-US" sz="1200" b="1" dirty="0">
                <a:solidFill>
                  <a:schemeClr val="tx2"/>
                </a:solidFill>
              </a:rPr>
              <a:t>Dữ liệu shop</a:t>
            </a:r>
            <a:endParaRPr lang="en-US" sz="1200" dirty="0"/>
          </a:p>
        </p:txBody>
      </p:sp>
      <p:sp>
        <p:nvSpPr>
          <p:cNvPr id="14" name="arch FAQ admin"/>
          <p:cNvSpPr/>
          <p:nvPr/>
        </p:nvSpPr>
        <p:spPr>
          <a:xfrm>
            <a:off x="1856232" y="3877056"/>
            <a:ext cx="1216152" cy="566928"/>
          </a:xfrm>
          <a:prstGeom prst="roundRect">
            <a:avLst>
              <a:gd name="adj" fmla="val 12903"/>
            </a:avLst>
          </a:prstGeom>
          <a:solidFill>
            <a:schemeClr val="bg2"/>
          </a:solidFill>
          <a:ln/>
        </p:spPr>
      </p:sp>
      <p:sp>
        <p:nvSpPr>
          <p:cNvPr id="15" name="Text 13"/>
          <p:cNvSpPr txBox="1"/>
          <p:nvPr/>
        </p:nvSpPr>
        <p:spPr>
          <a:xfrm>
            <a:off x="1856232" y="3877056"/>
            <a:ext cx="1216152" cy="566928"/>
          </a:xfrm>
          <a:prstGeom prst="rect">
            <a:avLst/>
          </a:prstGeom>
          <a:noFill/>
          <a:ln/>
        </p:spPr>
        <p:txBody>
          <a:bodyPr wrap="square" lIns="0" tIns="0" rIns="0" bIns="0" rtlCol="0" anchor="ctr"/>
          <a:lstStyle/>
          <a:p>
            <a:pPr algn="ctr" indent="0" marL="0">
              <a:buNone/>
            </a:pPr>
            <a:r>
              <a:rPr lang="en-US" sz="1200" b="1" dirty="0">
                <a:solidFill>
                  <a:schemeClr val="tx2"/>
                </a:solidFill>
              </a:rPr>
              <a:t>FAQ admin</a:t>
            </a:r>
            <a:endParaRPr lang="en-US" sz="1200" dirty="0"/>
          </a:p>
        </p:txBody>
      </p:sp>
      <p:sp>
        <p:nvSpPr>
          <p:cNvPr id="16" name="arch Từ điển ý định"/>
          <p:cNvSpPr/>
          <p:nvPr/>
        </p:nvSpPr>
        <p:spPr>
          <a:xfrm>
            <a:off x="3163824" y="3877056"/>
            <a:ext cx="1225296" cy="566928"/>
          </a:xfrm>
          <a:prstGeom prst="roundRect">
            <a:avLst>
              <a:gd name="adj" fmla="val 12903"/>
            </a:avLst>
          </a:prstGeom>
          <a:solidFill>
            <a:schemeClr val="bg2"/>
          </a:solidFill>
          <a:ln/>
        </p:spPr>
      </p:sp>
      <p:sp>
        <p:nvSpPr>
          <p:cNvPr id="17" name="Text 15"/>
          <p:cNvSpPr txBox="1"/>
          <p:nvPr/>
        </p:nvSpPr>
        <p:spPr>
          <a:xfrm>
            <a:off x="3163824" y="3877056"/>
            <a:ext cx="1225296" cy="566928"/>
          </a:xfrm>
          <a:prstGeom prst="rect">
            <a:avLst/>
          </a:prstGeom>
          <a:noFill/>
          <a:ln/>
        </p:spPr>
        <p:txBody>
          <a:bodyPr wrap="square" lIns="0" tIns="0" rIns="0" bIns="0" rtlCol="0" anchor="ctr"/>
          <a:lstStyle/>
          <a:p>
            <a:pPr algn="ctr" indent="0" marL="0">
              <a:buNone/>
            </a:pPr>
            <a:r>
              <a:rPr lang="en-US" sz="1200" b="1" dirty="0">
                <a:solidFill>
                  <a:schemeClr val="tx2"/>
                </a:solidFill>
              </a:rPr>
              <a:t>Từ điển ý định</a:t>
            </a:r>
            <a:endParaRPr lang="en-US" sz="1200" dirty="0"/>
          </a:p>
        </p:txBody>
      </p:sp>
      <p:sp>
        <p:nvSpPr>
          <p:cNvPr id="18" name="down 4.89"/>
          <p:cNvSpPr/>
          <p:nvPr/>
        </p:nvSpPr>
        <p:spPr>
          <a:xfrm>
            <a:off x="2331720" y="4471416"/>
            <a:ext cx="274320" cy="228600"/>
          </a:xfrm>
          <a:prstGeom prst="downArrow">
            <a:avLst/>
          </a:prstGeom>
          <a:solidFill>
            <a:schemeClr val="accent3"/>
          </a:solidFill>
          <a:ln/>
        </p:spPr>
      </p:sp>
      <p:sp>
        <p:nvSpPr>
          <p:cNvPr id="19" name="arch Claude diễn đạt (tùy chọn)"/>
          <p:cNvSpPr/>
          <p:nvPr/>
        </p:nvSpPr>
        <p:spPr>
          <a:xfrm>
            <a:off x="548640" y="4727448"/>
            <a:ext cx="3840480" cy="566928"/>
          </a:xfrm>
          <a:prstGeom prst="roundRect">
            <a:avLst>
              <a:gd name="adj" fmla="val 12903"/>
            </a:avLst>
          </a:prstGeom>
          <a:solidFill>
            <a:schemeClr val="accent6"/>
          </a:solidFill>
          <a:ln/>
        </p:spPr>
      </p:sp>
      <p:sp>
        <p:nvSpPr>
          <p:cNvPr id="20" name="Text 18"/>
          <p:cNvSpPr txBox="1"/>
          <p:nvPr/>
        </p:nvSpPr>
        <p:spPr>
          <a:xfrm>
            <a:off x="548640" y="4727448"/>
            <a:ext cx="3840480" cy="566928"/>
          </a:xfrm>
          <a:prstGeom prst="rect">
            <a:avLst/>
          </a:prstGeom>
          <a:noFill/>
          <a:ln/>
        </p:spPr>
        <p:txBody>
          <a:bodyPr wrap="square" lIns="0" tIns="0" rIns="0" bIns="0" rtlCol="0" anchor="ctr"/>
          <a:lstStyle/>
          <a:p>
            <a:pPr algn="ctr" indent="0" marL="0">
              <a:buNone/>
            </a:pPr>
            <a:r>
              <a:rPr lang="en-US" sz="1200" b="1" dirty="0">
                <a:solidFill>
                  <a:schemeClr val="tx1"/>
                </a:solidFill>
              </a:rPr>
              <a:t>Claude diễn đạt (tùy chọn)</a:t>
            </a:r>
            <a:endParaRPr lang="en-US" sz="1200" dirty="0"/>
          </a:p>
        </p:txBody>
      </p:sp>
      <p:sp>
        <p:nvSpPr>
          <p:cNvPr id="21" name="down 5.82"/>
          <p:cNvSpPr/>
          <p:nvPr/>
        </p:nvSpPr>
        <p:spPr>
          <a:xfrm>
            <a:off x="2331720" y="5321808"/>
            <a:ext cx="274320" cy="228600"/>
          </a:xfrm>
          <a:prstGeom prst="downArrow">
            <a:avLst/>
          </a:prstGeom>
          <a:solidFill>
            <a:schemeClr val="accent3"/>
          </a:solidFill>
          <a:ln/>
        </p:spPr>
      </p:sp>
      <p:sp>
        <p:nvSpPr>
          <p:cNvPr id="22" name="arch Trả lời + thẻ SP + nút nhanh"/>
          <p:cNvSpPr/>
          <p:nvPr/>
        </p:nvSpPr>
        <p:spPr>
          <a:xfrm>
            <a:off x="548640" y="5577840"/>
            <a:ext cx="3840480" cy="566928"/>
          </a:xfrm>
          <a:prstGeom prst="roundRect">
            <a:avLst>
              <a:gd name="adj" fmla="val 12903"/>
            </a:avLst>
          </a:prstGeom>
          <a:solidFill>
            <a:schemeClr val="accent1"/>
          </a:solidFill>
          <a:ln/>
        </p:spPr>
      </p:sp>
      <p:sp>
        <p:nvSpPr>
          <p:cNvPr id="23" name="Text 21"/>
          <p:cNvSpPr txBox="1"/>
          <p:nvPr/>
        </p:nvSpPr>
        <p:spPr>
          <a:xfrm>
            <a:off x="548640" y="5577840"/>
            <a:ext cx="3840480" cy="566928"/>
          </a:xfrm>
          <a:prstGeom prst="rect">
            <a:avLst/>
          </a:prstGeom>
          <a:noFill/>
          <a:ln/>
        </p:spPr>
        <p:txBody>
          <a:bodyPr wrap="square" lIns="0" tIns="0" rIns="0" bIns="0" rtlCol="0" anchor="ctr"/>
          <a:lstStyle/>
          <a:p>
            <a:pPr algn="ctr" indent="0" marL="0">
              <a:buNone/>
            </a:pPr>
            <a:r>
              <a:rPr lang="en-US" sz="1200" b="1" dirty="0">
                <a:solidFill>
                  <a:schemeClr val="bg1"/>
                </a:solidFill>
              </a:rPr>
              <a:t>Trả lời + thẻ SP + nút nhanh</a:t>
            </a:r>
            <a:endParaRPr lang="en-US" sz="1200" dirty="0"/>
          </a:p>
        </p:txBody>
      </p:sp>
      <p:sp>
        <p:nvSpPr>
          <p:cNvPr id="24" name="file text.ts"/>
          <p:cNvSpPr/>
          <p:nvPr/>
        </p:nvSpPr>
        <p:spPr>
          <a:xfrm>
            <a:off x="4754880" y="1371600"/>
            <a:ext cx="6903720" cy="685800"/>
          </a:xfrm>
          <a:prstGeom prst="roundRect">
            <a:avLst>
              <a:gd name="adj" fmla="val 13333"/>
            </a:avLst>
          </a:prstGeom>
          <a:solidFill>
            <a:schemeClr val="bg2"/>
          </a:solidFill>
          <a:ln/>
        </p:spPr>
      </p:sp>
      <p:sp>
        <p:nvSpPr>
          <p:cNvPr id="25" name="Text 23"/>
          <p:cNvSpPr txBox="1"/>
          <p:nvPr/>
        </p:nvSpPr>
        <p:spPr>
          <a:xfrm>
            <a:off x="4937760" y="1371600"/>
            <a:ext cx="2103120" cy="685800"/>
          </a:xfrm>
          <a:prstGeom prst="rect">
            <a:avLst/>
          </a:prstGeom>
          <a:noFill/>
          <a:ln/>
        </p:spPr>
        <p:txBody>
          <a:bodyPr wrap="square" lIns="0" tIns="0" rIns="0" bIns="0" rtlCol="0" anchor="ctr"/>
          <a:lstStyle/>
          <a:p>
            <a:pPr indent="0" marL="0">
              <a:buNone/>
            </a:pPr>
            <a:r>
              <a:rPr lang="en-US" sz="1400" b="1" dirty="0">
                <a:solidFill>
                  <a:schemeClr val="accent1"/>
                </a:solidFill>
                <a:latin typeface="Consolas" pitchFamily="34" charset="0"/>
                <a:ea typeface="Consolas" pitchFamily="34" charset="-122"/>
                <a:cs typeface="Consolas" pitchFamily="34" charset="-120"/>
              </a:rPr>
              <a:t>text.ts</a:t>
            </a:r>
            <a:endParaRPr lang="en-US" sz="1400" dirty="0"/>
          </a:p>
        </p:txBody>
      </p:sp>
      <p:sp>
        <p:nvSpPr>
          <p:cNvPr id="26" name="Text 24"/>
          <p:cNvSpPr txBox="1"/>
          <p:nvPr/>
        </p:nvSpPr>
        <p:spPr>
          <a:xfrm>
            <a:off x="7086600" y="1371600"/>
            <a:ext cx="4480560" cy="685800"/>
          </a:xfrm>
          <a:prstGeom prst="rect">
            <a:avLst/>
          </a:prstGeom>
          <a:noFill/>
          <a:ln/>
        </p:spPr>
        <p:txBody>
          <a:bodyPr wrap="square" lIns="0" tIns="0" rIns="0" bIns="0" rtlCol="0" anchor="ctr"/>
          <a:lstStyle/>
          <a:p>
            <a:pPr indent="0" marL="0">
              <a:buNone/>
            </a:pPr>
            <a:r>
              <a:rPr lang="en-US" sz="1400" dirty="0">
                <a:solidFill>
                  <a:schemeClr val="tx1"/>
                </a:solidFill>
              </a:rPr>
              <a:t>Bỏ dấu, khớp cụm từ, trích ngân sách / SĐT / mã đơn</a:t>
            </a:r>
            <a:endParaRPr lang="en-US" sz="1400" dirty="0"/>
          </a:p>
        </p:txBody>
      </p:sp>
      <p:sp>
        <p:nvSpPr>
          <p:cNvPr id="27" name="file knowledge.ts"/>
          <p:cNvSpPr/>
          <p:nvPr/>
        </p:nvSpPr>
        <p:spPr>
          <a:xfrm>
            <a:off x="4754880" y="2176272"/>
            <a:ext cx="6903720" cy="685800"/>
          </a:xfrm>
          <a:prstGeom prst="roundRect">
            <a:avLst>
              <a:gd name="adj" fmla="val 13333"/>
            </a:avLst>
          </a:prstGeom>
          <a:solidFill>
            <a:schemeClr val="bg2"/>
          </a:solidFill>
          <a:ln/>
        </p:spPr>
      </p:sp>
      <p:sp>
        <p:nvSpPr>
          <p:cNvPr id="28" name="Text 26"/>
          <p:cNvSpPr txBox="1"/>
          <p:nvPr/>
        </p:nvSpPr>
        <p:spPr>
          <a:xfrm>
            <a:off x="4937760" y="2176272"/>
            <a:ext cx="2103120" cy="685800"/>
          </a:xfrm>
          <a:prstGeom prst="rect">
            <a:avLst/>
          </a:prstGeom>
          <a:noFill/>
          <a:ln/>
        </p:spPr>
        <p:txBody>
          <a:bodyPr wrap="square" lIns="0" tIns="0" rIns="0" bIns="0" rtlCol="0" anchor="ctr"/>
          <a:lstStyle/>
          <a:p>
            <a:pPr indent="0" marL="0">
              <a:buNone/>
            </a:pPr>
            <a:r>
              <a:rPr lang="en-US" sz="1400" b="1" dirty="0">
                <a:solidFill>
                  <a:schemeClr val="accent1"/>
                </a:solidFill>
                <a:latin typeface="Consolas" pitchFamily="34" charset="0"/>
                <a:ea typeface="Consolas" pitchFamily="34" charset="-122"/>
                <a:cs typeface="Consolas" pitchFamily="34" charset="-120"/>
              </a:rPr>
              <a:t>knowledge.ts</a:t>
            </a:r>
            <a:endParaRPr lang="en-US" sz="1400" dirty="0"/>
          </a:p>
        </p:txBody>
      </p:sp>
      <p:sp>
        <p:nvSpPr>
          <p:cNvPr id="29" name="Text 27"/>
          <p:cNvSpPr txBox="1"/>
          <p:nvPr/>
        </p:nvSpPr>
        <p:spPr>
          <a:xfrm>
            <a:off x="7086600" y="2176272"/>
            <a:ext cx="4480560" cy="685800"/>
          </a:xfrm>
          <a:prstGeom prst="rect">
            <a:avLst/>
          </a:prstGeom>
          <a:noFill/>
          <a:ln/>
        </p:spPr>
        <p:txBody>
          <a:bodyPr wrap="square" lIns="0" tIns="0" rIns="0" bIns="0" rtlCol="0" anchor="ctr"/>
          <a:lstStyle/>
          <a:p>
            <a:pPr indent="0" marL="0">
              <a:buNone/>
            </a:pPr>
            <a:r>
              <a:rPr lang="en-US" sz="1400" dirty="0">
                <a:solidFill>
                  <a:schemeClr val="tx1"/>
                </a:solidFill>
              </a:rPr>
              <a:t>15 ý định, 11 đặc điểm tư vấn, nút trả lời nhanh</a:t>
            </a:r>
            <a:endParaRPr lang="en-US" sz="1400" dirty="0"/>
          </a:p>
        </p:txBody>
      </p:sp>
      <p:sp>
        <p:nvSpPr>
          <p:cNvPr id="30" name="file engine.ts"/>
          <p:cNvSpPr/>
          <p:nvPr/>
        </p:nvSpPr>
        <p:spPr>
          <a:xfrm>
            <a:off x="4754880" y="2980944"/>
            <a:ext cx="6903720" cy="685800"/>
          </a:xfrm>
          <a:prstGeom prst="roundRect">
            <a:avLst>
              <a:gd name="adj" fmla="val 13333"/>
            </a:avLst>
          </a:prstGeom>
          <a:solidFill>
            <a:schemeClr val="accent1"/>
          </a:solidFill>
          <a:ln/>
        </p:spPr>
      </p:sp>
      <p:sp>
        <p:nvSpPr>
          <p:cNvPr id="31" name="Text 29"/>
          <p:cNvSpPr txBox="1"/>
          <p:nvPr/>
        </p:nvSpPr>
        <p:spPr>
          <a:xfrm>
            <a:off x="4937760" y="2980944"/>
            <a:ext cx="2103120" cy="685800"/>
          </a:xfrm>
          <a:prstGeom prst="rect">
            <a:avLst/>
          </a:prstGeom>
          <a:noFill/>
          <a:ln/>
        </p:spPr>
        <p:txBody>
          <a:bodyPr wrap="square" lIns="0" tIns="0" rIns="0" bIns="0" rtlCol="0" anchor="ctr"/>
          <a:lstStyle/>
          <a:p>
            <a:pPr indent="0" marL="0">
              <a:buNone/>
            </a:pPr>
            <a:r>
              <a:rPr lang="en-US" sz="1400" b="1" dirty="0">
                <a:solidFill>
                  <a:schemeClr val="accent3"/>
                </a:solidFill>
                <a:latin typeface="Consolas" pitchFamily="34" charset="0"/>
                <a:ea typeface="Consolas" pitchFamily="34" charset="-122"/>
                <a:cs typeface="Consolas" pitchFamily="34" charset="-120"/>
              </a:rPr>
              <a:t>engine.ts</a:t>
            </a:r>
            <a:endParaRPr lang="en-US" sz="1400" dirty="0"/>
          </a:p>
        </p:txBody>
      </p:sp>
      <p:sp>
        <p:nvSpPr>
          <p:cNvPr id="32" name="Text 30"/>
          <p:cNvSpPr txBox="1"/>
          <p:nvPr/>
        </p:nvSpPr>
        <p:spPr>
          <a:xfrm>
            <a:off x="7086600" y="2980944"/>
            <a:ext cx="4480560" cy="685800"/>
          </a:xfrm>
          <a:prstGeom prst="rect">
            <a:avLst/>
          </a:prstGeom>
          <a:noFill/>
          <a:ln/>
        </p:spPr>
        <p:txBody>
          <a:bodyPr wrap="square" lIns="0" tIns="0" rIns="0" bIns="0" rtlCol="0" anchor="ctr"/>
          <a:lstStyle/>
          <a:p>
            <a:pPr indent="0" marL="0">
              <a:buNone/>
            </a:pPr>
            <a:r>
              <a:rPr lang="en-US" sz="1400" dirty="0">
                <a:solidFill>
                  <a:schemeClr val="bg1"/>
                </a:solidFill>
              </a:rPr>
              <a:t>Ngữ cảnh, chấm điểm, ra quyết định, tra dữ liệu</a:t>
            </a:r>
            <a:endParaRPr lang="en-US" sz="1400" dirty="0"/>
          </a:p>
        </p:txBody>
      </p:sp>
      <p:sp>
        <p:nvSpPr>
          <p:cNvPr id="33" name="file ai.ts"/>
          <p:cNvSpPr/>
          <p:nvPr/>
        </p:nvSpPr>
        <p:spPr>
          <a:xfrm>
            <a:off x="4754880" y="3785616"/>
            <a:ext cx="6903720" cy="685800"/>
          </a:xfrm>
          <a:prstGeom prst="roundRect">
            <a:avLst>
              <a:gd name="adj" fmla="val 13333"/>
            </a:avLst>
          </a:prstGeom>
          <a:solidFill>
            <a:schemeClr val="bg2"/>
          </a:solidFill>
          <a:ln/>
        </p:spPr>
      </p:sp>
      <p:sp>
        <p:nvSpPr>
          <p:cNvPr id="34" name="Text 32"/>
          <p:cNvSpPr txBox="1"/>
          <p:nvPr/>
        </p:nvSpPr>
        <p:spPr>
          <a:xfrm>
            <a:off x="4937760" y="3785616"/>
            <a:ext cx="2103120" cy="685800"/>
          </a:xfrm>
          <a:prstGeom prst="rect">
            <a:avLst/>
          </a:prstGeom>
          <a:noFill/>
          <a:ln/>
        </p:spPr>
        <p:txBody>
          <a:bodyPr wrap="square" lIns="0" tIns="0" rIns="0" bIns="0" rtlCol="0" anchor="ctr"/>
          <a:lstStyle/>
          <a:p>
            <a:pPr indent="0" marL="0">
              <a:buNone/>
            </a:pPr>
            <a:r>
              <a:rPr lang="en-US" sz="1400" b="1" dirty="0">
                <a:solidFill>
                  <a:schemeClr val="accent1"/>
                </a:solidFill>
                <a:latin typeface="Consolas" pitchFamily="34" charset="0"/>
                <a:ea typeface="Consolas" pitchFamily="34" charset="-122"/>
                <a:cs typeface="Consolas" pitchFamily="34" charset="-120"/>
              </a:rPr>
              <a:t>ai.ts</a:t>
            </a:r>
            <a:endParaRPr lang="en-US" sz="1400" dirty="0"/>
          </a:p>
        </p:txBody>
      </p:sp>
      <p:sp>
        <p:nvSpPr>
          <p:cNvPr id="35" name="Text 33"/>
          <p:cNvSpPr txBox="1"/>
          <p:nvPr/>
        </p:nvSpPr>
        <p:spPr>
          <a:xfrm>
            <a:off x="7086600" y="3785616"/>
            <a:ext cx="4480560" cy="685800"/>
          </a:xfrm>
          <a:prstGeom prst="rect">
            <a:avLst/>
          </a:prstGeom>
          <a:noFill/>
          <a:ln/>
        </p:spPr>
        <p:txBody>
          <a:bodyPr wrap="square" lIns="0" tIns="0" rIns="0" bIns="0" rtlCol="0" anchor="ctr"/>
          <a:lstStyle/>
          <a:p>
            <a:pPr indent="0" marL="0">
              <a:buNone/>
            </a:pPr>
            <a:r>
              <a:rPr lang="en-US" sz="1400" dirty="0">
                <a:solidFill>
                  <a:schemeClr val="tx1"/>
                </a:solidFill>
              </a:rPr>
              <a:t>System prompt từ dữ liệu shop, gọi Claude</a:t>
            </a:r>
            <a:endParaRPr lang="en-US" sz="1400" dirty="0"/>
          </a:p>
        </p:txBody>
      </p:sp>
      <p:sp>
        <p:nvSpPr>
          <p:cNvPr id="36" name="file actions/chat.ts"/>
          <p:cNvSpPr/>
          <p:nvPr/>
        </p:nvSpPr>
        <p:spPr>
          <a:xfrm>
            <a:off x="4754880" y="4590288"/>
            <a:ext cx="6903720" cy="685800"/>
          </a:xfrm>
          <a:prstGeom prst="roundRect">
            <a:avLst>
              <a:gd name="adj" fmla="val 13333"/>
            </a:avLst>
          </a:prstGeom>
          <a:solidFill>
            <a:schemeClr val="bg2"/>
          </a:solidFill>
          <a:ln/>
        </p:spPr>
      </p:sp>
      <p:sp>
        <p:nvSpPr>
          <p:cNvPr id="37" name="Text 35"/>
          <p:cNvSpPr txBox="1"/>
          <p:nvPr/>
        </p:nvSpPr>
        <p:spPr>
          <a:xfrm>
            <a:off x="4937760" y="4590288"/>
            <a:ext cx="2103120" cy="685800"/>
          </a:xfrm>
          <a:prstGeom prst="rect">
            <a:avLst/>
          </a:prstGeom>
          <a:noFill/>
          <a:ln/>
        </p:spPr>
        <p:txBody>
          <a:bodyPr wrap="square" lIns="0" tIns="0" rIns="0" bIns="0" rtlCol="0" anchor="ctr"/>
          <a:lstStyle/>
          <a:p>
            <a:pPr indent="0" marL="0">
              <a:buNone/>
            </a:pPr>
            <a:r>
              <a:rPr lang="en-US" sz="1400" b="1" dirty="0">
                <a:solidFill>
                  <a:schemeClr val="accent1"/>
                </a:solidFill>
                <a:latin typeface="Consolas" pitchFamily="34" charset="0"/>
                <a:ea typeface="Consolas" pitchFamily="34" charset="-122"/>
                <a:cs typeface="Consolas" pitchFamily="34" charset="-120"/>
              </a:rPr>
              <a:t>actions/chat.ts</a:t>
            </a:r>
            <a:endParaRPr lang="en-US" sz="1400" dirty="0"/>
          </a:p>
        </p:txBody>
      </p:sp>
      <p:sp>
        <p:nvSpPr>
          <p:cNvPr id="38" name="Text 36"/>
          <p:cNvSpPr txBox="1"/>
          <p:nvPr/>
        </p:nvSpPr>
        <p:spPr>
          <a:xfrm>
            <a:off x="7086600" y="4590288"/>
            <a:ext cx="4480560" cy="685800"/>
          </a:xfrm>
          <a:prstGeom prst="rect">
            <a:avLst/>
          </a:prstGeom>
          <a:noFill/>
          <a:ln/>
        </p:spPr>
        <p:txBody>
          <a:bodyPr wrap="square" lIns="0" tIns="0" rIns="0" bIns="0" rtlCol="0" anchor="ctr"/>
          <a:lstStyle/>
          <a:p>
            <a:pPr indent="0" marL="0">
              <a:buNone/>
            </a:pPr>
            <a:r>
              <a:rPr lang="en-US" sz="1400" dirty="0">
                <a:solidFill>
                  <a:schemeClr val="tx1"/>
                </a:solidFill>
              </a:rPr>
              <a:t>Lưu DB, giới hạn 20 tin/phút</a:t>
            </a:r>
            <a:endParaRPr lang="en-US" sz="1400" dirty="0"/>
          </a:p>
        </p:txBody>
      </p:sp>
      <p:sp>
        <p:nvSpPr>
          <p:cNvPr id="39" name="file chat-widget.tsx"/>
          <p:cNvSpPr/>
          <p:nvPr/>
        </p:nvSpPr>
        <p:spPr>
          <a:xfrm>
            <a:off x="4754880" y="5394960"/>
            <a:ext cx="6903720" cy="685800"/>
          </a:xfrm>
          <a:prstGeom prst="roundRect">
            <a:avLst>
              <a:gd name="adj" fmla="val 13333"/>
            </a:avLst>
          </a:prstGeom>
          <a:solidFill>
            <a:schemeClr val="bg2"/>
          </a:solidFill>
          <a:ln/>
        </p:spPr>
      </p:sp>
      <p:sp>
        <p:nvSpPr>
          <p:cNvPr id="40" name="Text 38"/>
          <p:cNvSpPr txBox="1"/>
          <p:nvPr/>
        </p:nvSpPr>
        <p:spPr>
          <a:xfrm>
            <a:off x="4937760" y="5394960"/>
            <a:ext cx="2103120" cy="685800"/>
          </a:xfrm>
          <a:prstGeom prst="rect">
            <a:avLst/>
          </a:prstGeom>
          <a:noFill/>
          <a:ln/>
        </p:spPr>
        <p:txBody>
          <a:bodyPr wrap="square" lIns="0" tIns="0" rIns="0" bIns="0" rtlCol="0" anchor="ctr"/>
          <a:lstStyle/>
          <a:p>
            <a:pPr indent="0" marL="0">
              <a:buNone/>
            </a:pPr>
            <a:r>
              <a:rPr lang="en-US" sz="1400" b="1" dirty="0">
                <a:solidFill>
                  <a:schemeClr val="accent1"/>
                </a:solidFill>
                <a:latin typeface="Consolas" pitchFamily="34" charset="0"/>
                <a:ea typeface="Consolas" pitchFamily="34" charset="-122"/>
                <a:cs typeface="Consolas" pitchFamily="34" charset="-120"/>
              </a:rPr>
              <a:t>chat-widget.tsx</a:t>
            </a:r>
            <a:endParaRPr lang="en-US" sz="1400" dirty="0"/>
          </a:p>
        </p:txBody>
      </p:sp>
      <p:sp>
        <p:nvSpPr>
          <p:cNvPr id="41" name="Text 39"/>
          <p:cNvSpPr txBox="1"/>
          <p:nvPr/>
        </p:nvSpPr>
        <p:spPr>
          <a:xfrm>
            <a:off x="7086600" y="5394960"/>
            <a:ext cx="4480560" cy="685800"/>
          </a:xfrm>
          <a:prstGeom prst="rect">
            <a:avLst/>
          </a:prstGeom>
          <a:noFill/>
          <a:ln/>
        </p:spPr>
        <p:txBody>
          <a:bodyPr wrap="square" lIns="0" tIns="0" rIns="0" bIns="0" rtlCol="0" anchor="ctr"/>
          <a:lstStyle/>
          <a:p>
            <a:pPr indent="0" marL="0">
              <a:buNone/>
            </a:pPr>
            <a:r>
              <a:rPr lang="en-US" sz="1400" dirty="0">
                <a:solidFill>
                  <a:schemeClr val="tx1"/>
                </a:solidFill>
              </a:rPr>
              <a:t>Khung chat, linh vật, thẻ sản phẩm</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Bé Sen hiểu tiếng Việt như thế nào?</a:t>
            </a:r>
            <a:endParaRPr lang="en-US" sz="3000" dirty="0"/>
          </a:p>
        </p:txBody>
      </p:sp>
      <p:sp>
        <p:nvSpPr>
          <p:cNvPr id="3" name="card 1. Chuẩn hóa 3 dạng"/>
          <p:cNvSpPr/>
          <p:nvPr/>
        </p:nvSpPr>
        <p:spPr>
          <a:xfrm>
            <a:off x="548640" y="1325880"/>
            <a:ext cx="5486400" cy="1508760"/>
          </a:xfrm>
          <a:prstGeom prst="roundRect">
            <a:avLst>
              <a:gd name="adj" fmla="val 7273"/>
            </a:avLst>
          </a:prstGeom>
          <a:solidFill>
            <a:schemeClr val="bg2"/>
          </a:solidFill>
          <a:ln/>
        </p:spPr>
      </p:sp>
      <p:sp>
        <p:nvSpPr>
          <p:cNvPr id="4" name="icon bg Type"/>
          <p:cNvSpPr/>
          <p:nvPr/>
        </p:nvSpPr>
        <p:spPr>
          <a:xfrm>
            <a:off x="777240" y="1554480"/>
            <a:ext cx="502920" cy="502920"/>
          </a:xfrm>
          <a:prstGeom prst="ellipse">
            <a:avLst/>
          </a:prstGeom>
          <a:solidFill>
            <a:schemeClr val="accent1"/>
          </a:solidFill>
          <a:ln/>
        </p:spPr>
      </p:sp>
      <p:pic>
        <p:nvPicPr>
          <p:cNvPr id="5" name="icon Type" descr="Type">    </p:cNvPr>
          <p:cNvPicPr>
            <a:picLocks noChangeAspect="1"/>
          </p:cNvPicPr>
          <p:nvPr/>
        </p:nvPicPr>
        <p:blipFill>
          <a:blip r:embed="rId1"/>
          <a:stretch>
            <a:fillRect/>
          </a:stretch>
        </p:blipFill>
        <p:spPr>
          <a:xfrm>
            <a:off x="897941" y="1675181"/>
            <a:ext cx="261518" cy="261518"/>
          </a:xfrm>
          <a:prstGeom prst="rect">
            <a:avLst/>
          </a:prstGeom>
        </p:spPr>
      </p:pic>
      <p:sp>
        <p:nvSpPr>
          <p:cNvPr id="6" name="Text 3"/>
          <p:cNvSpPr txBox="1"/>
          <p:nvPr/>
        </p:nvSpPr>
        <p:spPr>
          <a:xfrm>
            <a:off x="1417320" y="1554480"/>
            <a:ext cx="4434840" cy="502920"/>
          </a:xfrm>
          <a:prstGeom prst="rect">
            <a:avLst/>
          </a:prstGeom>
          <a:noFill/>
          <a:ln/>
        </p:spPr>
        <p:txBody>
          <a:bodyPr wrap="square" lIns="0" tIns="0" rIns="0" bIns="0" rtlCol="0" anchor="ctr"/>
          <a:lstStyle/>
          <a:p>
            <a:pPr indent="0" marL="0">
              <a:buNone/>
            </a:pPr>
            <a:r>
              <a:rPr lang="en-US" sz="1600" b="1" dirty="0">
                <a:solidFill>
                  <a:schemeClr val="tx2"/>
                </a:solidFill>
              </a:rPr>
              <a:t>1. Chuẩn hóa 3 dạng</a:t>
            </a:r>
            <a:endParaRPr lang="en-US" sz="1600" dirty="0"/>
          </a:p>
        </p:txBody>
      </p:sp>
      <p:sp>
        <p:nvSpPr>
          <p:cNvPr id="7" name="Text 4"/>
          <p:cNvSpPr txBox="1"/>
          <p:nvPr/>
        </p:nvSpPr>
        <p:spPr>
          <a:xfrm>
            <a:off x="777240" y="2194560"/>
            <a:ext cx="5029200" cy="502920"/>
          </a:xfrm>
          <a:prstGeom prst="rect">
            <a:avLst/>
          </a:prstGeom>
          <a:noFill/>
          <a:ln/>
        </p:spPr>
        <p:txBody>
          <a:bodyPr wrap="square" lIns="0" tIns="0" rIns="0" bIns="0" rtlCol="0" anchor="t"/>
          <a:lstStyle/>
          <a:p>
            <a:pPr indent="0" marL="0">
              <a:buNone/>
            </a:pPr>
            <a:r>
              <a:rPr lang="en-US" sz="1400" dirty="0">
                <a:solidFill>
                  <a:schemeClr val="tx1"/>
                </a:solidFill>
              </a:rPr>
              <a:t>“Phí ship bao nhiêu?” → phi ship bao nhieu</a:t>
            </a:r>
            <a:endParaRPr lang="en-US" sz="1400" dirty="0"/>
          </a:p>
          <a:p>
            <a:pPr indent="0" marL="0">
              <a:buNone/>
            </a:pPr>
            <a:r>
              <a:rPr lang="en-US" sz="1400" dirty="0">
                <a:solidFill>
                  <a:schemeClr val="tx1"/>
                </a:solidFill>
              </a:rPr>
              <a:t>Giữ cả dạng có dấu để phân biệt khi cần</a:t>
            </a:r>
            <a:endParaRPr lang="en-US" sz="1400" dirty="0"/>
          </a:p>
        </p:txBody>
      </p:sp>
      <p:sp>
        <p:nvSpPr>
          <p:cNvPr id="8" name="card 2. Khớp nhận biết dấu"/>
          <p:cNvSpPr/>
          <p:nvPr/>
        </p:nvSpPr>
        <p:spPr>
          <a:xfrm>
            <a:off x="548640" y="2971800"/>
            <a:ext cx="5486400" cy="1508760"/>
          </a:xfrm>
          <a:prstGeom prst="roundRect">
            <a:avLst>
              <a:gd name="adj" fmla="val 7273"/>
            </a:avLst>
          </a:prstGeom>
          <a:solidFill>
            <a:schemeClr val="bg2"/>
          </a:solidFill>
          <a:ln/>
        </p:spPr>
      </p:sp>
      <p:sp>
        <p:nvSpPr>
          <p:cNvPr id="9" name="icon bg SpellCheck"/>
          <p:cNvSpPr/>
          <p:nvPr/>
        </p:nvSpPr>
        <p:spPr>
          <a:xfrm>
            <a:off x="777240" y="3200400"/>
            <a:ext cx="502920" cy="502920"/>
          </a:xfrm>
          <a:prstGeom prst="ellipse">
            <a:avLst/>
          </a:prstGeom>
          <a:solidFill>
            <a:schemeClr val="accent1"/>
          </a:solidFill>
          <a:ln/>
        </p:spPr>
      </p:sp>
      <p:pic>
        <p:nvPicPr>
          <p:cNvPr id="10" name="icon SpellCheck" descr="SpellCheck">    </p:cNvPr>
          <p:cNvPicPr>
            <a:picLocks noChangeAspect="1"/>
          </p:cNvPicPr>
          <p:nvPr/>
        </p:nvPicPr>
        <p:blipFill>
          <a:blip r:embed="rId2"/>
          <a:stretch>
            <a:fillRect/>
          </a:stretch>
        </p:blipFill>
        <p:spPr>
          <a:xfrm>
            <a:off x="897941" y="3321101"/>
            <a:ext cx="261518" cy="261518"/>
          </a:xfrm>
          <a:prstGeom prst="rect">
            <a:avLst/>
          </a:prstGeom>
        </p:spPr>
      </p:pic>
      <p:sp>
        <p:nvSpPr>
          <p:cNvPr id="11" name="Text 7"/>
          <p:cNvSpPr txBox="1"/>
          <p:nvPr/>
        </p:nvSpPr>
        <p:spPr>
          <a:xfrm>
            <a:off x="1417320" y="3200400"/>
            <a:ext cx="4434840" cy="502920"/>
          </a:xfrm>
          <a:prstGeom prst="rect">
            <a:avLst/>
          </a:prstGeom>
          <a:noFill/>
          <a:ln/>
        </p:spPr>
        <p:txBody>
          <a:bodyPr wrap="square" lIns="0" tIns="0" rIns="0" bIns="0" rtlCol="0" anchor="ctr"/>
          <a:lstStyle/>
          <a:p>
            <a:pPr indent="0" marL="0">
              <a:buNone/>
            </a:pPr>
            <a:r>
              <a:rPr lang="en-US" sz="1600" b="1" dirty="0">
                <a:solidFill>
                  <a:schemeClr val="tx2"/>
                </a:solidFill>
              </a:rPr>
              <a:t>2. Khớp nhận biết dấu</a:t>
            </a:r>
            <a:endParaRPr lang="en-US" sz="1600" dirty="0"/>
          </a:p>
        </p:txBody>
      </p:sp>
      <p:sp>
        <p:nvSpPr>
          <p:cNvPr id="12" name="Text 8"/>
          <p:cNvSpPr txBox="1"/>
          <p:nvPr/>
        </p:nvSpPr>
        <p:spPr>
          <a:xfrm>
            <a:off x="777240" y="3840480"/>
            <a:ext cx="5029200" cy="502920"/>
          </a:xfrm>
          <a:prstGeom prst="rect">
            <a:avLst/>
          </a:prstGeom>
          <a:noFill/>
          <a:ln/>
        </p:spPr>
        <p:txBody>
          <a:bodyPr wrap="square" lIns="0" tIns="0" rIns="0" bIns="0" rtlCol="0" anchor="t"/>
          <a:lstStyle/>
          <a:p>
            <a:pPr indent="0" marL="0">
              <a:buNone/>
            </a:pPr>
            <a:r>
              <a:rPr lang="en-US" sz="1400" dirty="0">
                <a:solidFill>
                  <a:schemeClr val="tx1"/>
                </a:solidFill>
              </a:rPr>
              <a:t>“dưới 100k” ≠ “Đuôi Lừa”, “bị rụng lá” ≠ “Ngọc Bi”, “đỏ” ≠ “đồ”</a:t>
            </a:r>
            <a:endParaRPr lang="en-US" sz="1400" dirty="0"/>
          </a:p>
        </p:txBody>
      </p:sp>
      <p:sp>
        <p:nvSpPr>
          <p:cNvPr id="13" name="card 3. Trích thực thể"/>
          <p:cNvSpPr/>
          <p:nvPr/>
        </p:nvSpPr>
        <p:spPr>
          <a:xfrm>
            <a:off x="548640" y="4617720"/>
            <a:ext cx="5486400" cy="1508760"/>
          </a:xfrm>
          <a:prstGeom prst="roundRect">
            <a:avLst>
              <a:gd name="adj" fmla="val 7273"/>
            </a:avLst>
          </a:prstGeom>
          <a:solidFill>
            <a:schemeClr val="bg2"/>
          </a:solidFill>
          <a:ln/>
        </p:spPr>
      </p:sp>
      <p:sp>
        <p:nvSpPr>
          <p:cNvPr id="14" name="icon bg Wallet"/>
          <p:cNvSpPr/>
          <p:nvPr/>
        </p:nvSpPr>
        <p:spPr>
          <a:xfrm>
            <a:off x="777240" y="4846320"/>
            <a:ext cx="502920" cy="502920"/>
          </a:xfrm>
          <a:prstGeom prst="ellipse">
            <a:avLst/>
          </a:prstGeom>
          <a:solidFill>
            <a:schemeClr val="accent1"/>
          </a:solidFill>
          <a:ln/>
        </p:spPr>
      </p:sp>
      <p:pic>
        <p:nvPicPr>
          <p:cNvPr id="15" name="icon Wallet" descr="Wallet">    </p:cNvPr>
          <p:cNvPicPr>
            <a:picLocks noChangeAspect="1"/>
          </p:cNvPicPr>
          <p:nvPr/>
        </p:nvPicPr>
        <p:blipFill>
          <a:blip r:embed="rId3"/>
          <a:stretch>
            <a:fillRect/>
          </a:stretch>
        </p:blipFill>
        <p:spPr>
          <a:xfrm>
            <a:off x="897941" y="4967021"/>
            <a:ext cx="261518" cy="261518"/>
          </a:xfrm>
          <a:prstGeom prst="rect">
            <a:avLst/>
          </a:prstGeom>
        </p:spPr>
      </p:pic>
      <p:sp>
        <p:nvSpPr>
          <p:cNvPr id="16" name="Text 11"/>
          <p:cNvSpPr txBox="1"/>
          <p:nvPr/>
        </p:nvSpPr>
        <p:spPr>
          <a:xfrm>
            <a:off x="1417320" y="4846320"/>
            <a:ext cx="4434840" cy="502920"/>
          </a:xfrm>
          <a:prstGeom prst="rect">
            <a:avLst/>
          </a:prstGeom>
          <a:noFill/>
          <a:ln/>
        </p:spPr>
        <p:txBody>
          <a:bodyPr wrap="square" lIns="0" tIns="0" rIns="0" bIns="0" rtlCol="0" anchor="ctr"/>
          <a:lstStyle/>
          <a:p>
            <a:pPr indent="0" marL="0">
              <a:buNone/>
            </a:pPr>
            <a:r>
              <a:rPr lang="en-US" sz="1600" b="1" dirty="0">
                <a:solidFill>
                  <a:schemeClr val="tx2"/>
                </a:solidFill>
              </a:rPr>
              <a:t>3. Trích thực thể</a:t>
            </a:r>
            <a:endParaRPr lang="en-US" sz="1600" dirty="0"/>
          </a:p>
        </p:txBody>
      </p:sp>
      <p:sp>
        <p:nvSpPr>
          <p:cNvPr id="17" name="Text 12"/>
          <p:cNvSpPr txBox="1"/>
          <p:nvPr/>
        </p:nvSpPr>
        <p:spPr>
          <a:xfrm>
            <a:off x="777240" y="5486400"/>
            <a:ext cx="5029200" cy="502920"/>
          </a:xfrm>
          <a:prstGeom prst="rect">
            <a:avLst/>
          </a:prstGeom>
          <a:noFill/>
          <a:ln/>
        </p:spPr>
        <p:txBody>
          <a:bodyPr wrap="square" lIns="0" tIns="0" rIns="0" bIns="0" rtlCol="0" anchor="t"/>
          <a:lstStyle/>
          <a:p>
            <a:pPr indent="0" marL="0">
              <a:buNone/>
            </a:pPr>
            <a:r>
              <a:rPr lang="en-US" sz="1400" dirty="0">
                <a:solidFill>
                  <a:schemeClr val="tx1"/>
                </a:solidFill>
              </a:rPr>
              <a:t>“khoảng 300k” → 180–375k · “sd2610037k2f” → SD261003-7K2F · bỏ qua SĐT, “mua 2 chậu”</a:t>
            </a:r>
            <a:endParaRPr lang="en-US" sz="1400" dirty="0"/>
          </a:p>
        </p:txBody>
      </p:sp>
      <p:sp>
        <p:nvSpPr>
          <p:cNvPr id="18" name="score card"/>
          <p:cNvSpPr/>
          <p:nvPr/>
        </p:nvSpPr>
        <p:spPr>
          <a:xfrm>
            <a:off x="6355080" y="1325880"/>
            <a:ext cx="5303520" cy="4800600"/>
          </a:xfrm>
          <a:prstGeom prst="roundRect">
            <a:avLst>
              <a:gd name="adj" fmla="val 2857"/>
            </a:avLst>
          </a:prstGeom>
          <a:solidFill>
            <a:srgbClr val="FFFFFF"/>
          </a:solidFill>
          <a:ln w="19050">
            <a:solidFill>
              <a:srgbClr val="A8D5BA"/>
            </a:solidFill>
            <a:prstDash val="solid"/>
          </a:ln>
        </p:spPr>
      </p:sp>
      <p:sp>
        <p:nvSpPr>
          <p:cNvPr id="19" name="Text 14"/>
          <p:cNvSpPr txBox="1"/>
          <p:nvPr/>
        </p:nvSpPr>
        <p:spPr>
          <a:xfrm>
            <a:off x="6583680" y="1463040"/>
            <a:ext cx="4846320" cy="411480"/>
          </a:xfrm>
          <a:prstGeom prst="rect">
            <a:avLst/>
          </a:prstGeom>
          <a:noFill/>
          <a:ln/>
        </p:spPr>
        <p:txBody>
          <a:bodyPr wrap="square" lIns="0" tIns="0" rIns="0" bIns="0" rtlCol="0" anchor="t"/>
          <a:lstStyle/>
          <a:p>
            <a:pPr indent="0" marL="0">
              <a:buNone/>
            </a:pPr>
            <a:r>
              <a:rPr lang="en-US" sz="1800" b="1" dirty="0">
                <a:solidFill>
                  <a:schemeClr val="tx2"/>
                </a:solidFill>
              </a:rPr>
              <a:t>4. Chấm điểm ý định</a:t>
            </a:r>
            <a:endParaRPr lang="en-US" sz="1800" dirty="0"/>
          </a:p>
        </p:txBody>
      </p:sp>
      <p:sp>
        <p:nvSpPr>
          <p:cNvPr id="20" name="Text 15"/>
          <p:cNvSpPr txBox="1"/>
          <p:nvPr/>
        </p:nvSpPr>
        <p:spPr>
          <a:xfrm>
            <a:off x="6583680" y="1920240"/>
            <a:ext cx="4846320" cy="548640"/>
          </a:xfrm>
          <a:prstGeom prst="rect">
            <a:avLst/>
          </a:prstGeom>
          <a:noFill/>
          <a:ln/>
        </p:spPr>
        <p:txBody>
          <a:bodyPr wrap="square" lIns="0" tIns="0" rIns="0" bIns="0" rtlCol="0" anchor="ctr"/>
          <a:lstStyle/>
          <a:p>
            <a:pPr algn="ctr" indent="0" marL="0">
              <a:buNone/>
            </a:pPr>
            <a:r>
              <a:rPr lang="en-US" sz="2200" b="1" dirty="0">
                <a:solidFill>
                  <a:schemeClr val="accent1"/>
                </a:solidFill>
                <a:latin typeface="Cambria" pitchFamily="34" charset="0"/>
                <a:ea typeface="Cambria" pitchFamily="34" charset="-122"/>
                <a:cs typeface="Cambria" pitchFamily="34" charset="-120"/>
              </a:rPr>
              <a:t>Điểm = Σ w × (1 + 0,5 × (k − 1))</a:t>
            </a:r>
            <a:endParaRPr lang="en-US" sz="2200" dirty="0"/>
          </a:p>
        </p:txBody>
      </p:sp>
      <p:sp>
        <p:nvSpPr>
          <p:cNvPr id="21" name="Text 16"/>
          <p:cNvSpPr txBox="1"/>
          <p:nvPr/>
        </p:nvSpPr>
        <p:spPr>
          <a:xfrm>
            <a:off x="6583680" y="2514600"/>
            <a:ext cx="4846320" cy="548640"/>
          </a:xfrm>
          <a:prstGeom prst="rect">
            <a:avLst/>
          </a:prstGeom>
          <a:noFill/>
          <a:ln/>
        </p:spPr>
        <p:txBody>
          <a:bodyPr wrap="square" lIns="0" tIns="0" rIns="0" bIns="0" rtlCol="0" anchor="t"/>
          <a:lstStyle/>
          <a:p>
            <a:pPr algn="ctr" indent="0" marL="0">
              <a:buNone/>
            </a:pPr>
            <a:r>
              <a:rPr lang="en-US" sz="1300" i="1" dirty="0">
                <a:solidFill>
                  <a:schemeClr val="tx1"/>
                </a:solidFill>
              </a:rPr>
              <a:t>k = số từ của cụm khớp → cụm dài, cụ thể được nhiều điểm hơn · FAQ × 1,3</a:t>
            </a:r>
            <a:endParaRPr lang="en-US" sz="1300" dirty="0"/>
          </a:p>
        </p:txBody>
      </p:sp>
      <p:sp>
        <p:nvSpPr>
          <p:cNvPr id="22" name="Text 17"/>
          <p:cNvSpPr txBox="1"/>
          <p:nvPr/>
        </p:nvSpPr>
        <p:spPr>
          <a:xfrm>
            <a:off x="6583680" y="3200400"/>
            <a:ext cx="4846320" cy="365760"/>
          </a:xfrm>
          <a:prstGeom prst="rect">
            <a:avLst/>
          </a:prstGeom>
          <a:noFill/>
          <a:ln/>
        </p:spPr>
        <p:txBody>
          <a:bodyPr wrap="square" lIns="0" tIns="0" rIns="0" bIns="0" rtlCol="0" anchor="t"/>
          <a:lstStyle/>
          <a:p>
            <a:pPr indent="0" marL="0">
              <a:buNone/>
            </a:pPr>
            <a:r>
              <a:rPr lang="en-US" sz="1500" b="1" dirty="0">
                <a:solidFill>
                  <a:schemeClr val="tx1"/>
                </a:solidFill>
              </a:rPr>
              <a:t>Ví dụ: “ship ra Hà Nội mất mấy ngày”</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583680" y="3611880"/>
          <a:ext cx="4846320" cy="914400"/>
        </p:xfrm>
        <a:graphic>
          <a:graphicData uri="http://schemas.openxmlformats.org/drawingml/2006/table">
            <a:tbl>
              <a:tblPr/>
              <a:tblGrid>
                <a:gridCol w="1737360"/>
                <a:gridCol w="2286000"/>
                <a:gridCol w="82296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Ứng viên</a:t>
                      </a:r>
                      <a:endParaRPr lang="en-US" sz="1300" dirty="0">
                        <a:latin typeface="Calibri" charset="0"/>
                        <a:ea typeface="Calibri" charset="0"/>
                        <a:cs typeface="Calibri" charset="0"/>
                      </a:endParaRPr>
                    </a:p>
                  </a:txBody>
                  <a:tcPr marL="54864" marR="54864" marT="54864" marB="54864"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2F6B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Khớp</a:t>
                      </a:r>
                      <a:endParaRPr lang="en-US" sz="1300" dirty="0">
                        <a:latin typeface="Calibri" charset="0"/>
                        <a:ea typeface="Calibri" charset="0"/>
                        <a:cs typeface="Calibri" charset="0"/>
                      </a:endParaRPr>
                    </a:p>
                  </a:txBody>
                  <a:tcPr marL="54864" marR="54864" marT="54864" marB="54864"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2F6B3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Điểm</a:t>
                      </a:r>
                      <a:endParaRPr lang="en-US" sz="1300" dirty="0">
                        <a:latin typeface="Calibri" charset="0"/>
                        <a:ea typeface="Calibri" charset="0"/>
                        <a:cs typeface="Calibri" charset="0"/>
                      </a:endParaRPr>
                    </a:p>
                  </a:txBody>
                  <a:tcPr marL="54864" marR="54864" marT="54864" marB="54864"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solidFill>
                      <a:srgbClr val="2F6B3A"/>
                    </a:solidFill>
                  </a:tcPr>
                </a:tc>
              </a:tr>
              <a:tr h="457200">
                <a:tc>
                  <a:txBody>
                    <a:bodyPr/>
                    <a:lstStyle/>
                    <a:p>
                      <a:pPr indent="0" marL="0">
                        <a:buNone/>
                      </a:pPr>
                      <a:r>
                        <a:rPr lang="en-US" sz="1300" dirty="0">
                          <a:solidFill>
                            <a:srgbClr val="1F2A22"/>
                          </a:solidFill>
                          <a:latin typeface="Calibri" pitchFamily="34" charset="0"/>
                          <a:ea typeface="Calibri" pitchFamily="34" charset="-122"/>
                          <a:cs typeface="Calibri" pitchFamily="34" charset="-120"/>
                        </a:rPr>
                        <a:t>Ý định Phí ship</a:t>
                      </a:r>
                      <a:endParaRPr lang="en-US" sz="1300" dirty="0">
                        <a:latin typeface="Calibri" charset="0"/>
                        <a:ea typeface="Calibri" charset="0"/>
                        <a:cs typeface="Calibri" charset="0"/>
                      </a:endParaRPr>
                    </a:p>
                  </a:txBody>
                  <a:tcPr marL="54864" marR="54864" marT="54864" marB="54864"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tcPr>
                </a:tc>
                <a:tc>
                  <a:txBody>
                    <a:bodyPr/>
                    <a:lstStyle/>
                    <a:p>
                      <a:pPr indent="0" marL="0">
                        <a:buNone/>
                      </a:pPr>
                      <a:r>
                        <a:rPr lang="en-US" sz="1300" dirty="0">
                          <a:solidFill>
                            <a:srgbClr val="1F2A22"/>
                          </a:solidFill>
                          <a:latin typeface="Calibri" pitchFamily="34" charset="0"/>
                          <a:ea typeface="Calibri" pitchFamily="34" charset="-122"/>
                          <a:cs typeface="Calibri" pitchFamily="34" charset="-120"/>
                        </a:rPr>
                        <a:t>ship</a:t>
                      </a:r>
                      <a:endParaRPr lang="en-US" sz="1300" dirty="0">
                        <a:latin typeface="Calibri" charset="0"/>
                        <a:ea typeface="Calibri" charset="0"/>
                        <a:cs typeface="Calibri" charset="0"/>
                      </a:endParaRPr>
                    </a:p>
                  </a:txBody>
                  <a:tcPr marL="54864" marR="54864" marT="54864" marB="54864"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tcPr>
                </a:tc>
                <a:tc>
                  <a:txBody>
                    <a:bodyPr/>
                    <a:lstStyle/>
                    <a:p>
                      <a:pPr algn="ctr" indent="0" marL="0">
                        <a:buNone/>
                      </a:pPr>
                      <a:r>
                        <a:rPr lang="en-US" sz="1300" dirty="0">
                          <a:solidFill>
                            <a:srgbClr val="1F2A22"/>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54864" marR="54864" marT="54864" marB="54864"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tcPr>
                </a:tc>
              </a:tr>
              <a:tr h="457200">
                <a:tc>
                  <a:txBody>
                    <a:bodyPr/>
                    <a:lstStyle/>
                    <a:p>
                      <a:pPr indent="0" marL="0">
                        <a:buNone/>
                      </a:pPr>
                      <a:r>
                        <a:rPr lang="en-US" sz="1300" b="1" dirty="0">
                          <a:solidFill>
                            <a:srgbClr val="2F6B3A"/>
                          </a:solidFill>
                          <a:latin typeface="Calibri" pitchFamily="34" charset="0"/>
                          <a:ea typeface="Calibri" pitchFamily="34" charset="-122"/>
                          <a:cs typeface="Calibri" pitchFamily="34" charset="-120"/>
                        </a:rPr>
                        <a:t>FAQ Thời gian giao</a:t>
                      </a:r>
                      <a:endParaRPr lang="en-US" sz="1300" dirty="0">
                        <a:latin typeface="Calibri" charset="0"/>
                        <a:ea typeface="Calibri" charset="0"/>
                        <a:cs typeface="Calibri" charset="0"/>
                      </a:endParaRPr>
                    </a:p>
                  </a:txBody>
                  <a:tcPr marL="54864" marR="54864" marT="54864" marB="54864"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tcPr>
                </a:tc>
                <a:tc>
                  <a:txBody>
                    <a:bodyPr/>
                    <a:lstStyle/>
                    <a:p>
                      <a:pPr indent="0" marL="0">
                        <a:buNone/>
                      </a:pPr>
                      <a:r>
                        <a:rPr lang="en-US" sz="1300" dirty="0">
                          <a:solidFill>
                            <a:srgbClr val="1F2A22"/>
                          </a:solidFill>
                          <a:latin typeface="Calibri" pitchFamily="34" charset="0"/>
                          <a:ea typeface="Calibri" pitchFamily="34" charset="-122"/>
                          <a:cs typeface="Calibri" pitchFamily="34" charset="-120"/>
                        </a:rPr>
                        <a:t>mat may ngay, may ngay</a:t>
                      </a:r>
                      <a:endParaRPr lang="en-US" sz="1300" dirty="0">
                        <a:latin typeface="Calibri" charset="0"/>
                        <a:ea typeface="Calibri" charset="0"/>
                        <a:cs typeface="Calibri" charset="0"/>
                      </a:endParaRPr>
                    </a:p>
                  </a:txBody>
                  <a:tcPr marL="54864" marR="54864" marT="54864" marB="54864"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tcPr>
                </a:tc>
                <a:tc>
                  <a:txBody>
                    <a:bodyPr/>
                    <a:lstStyle/>
                    <a:p>
                      <a:pPr algn="ctr" indent="0" marL="0">
                        <a:buNone/>
                      </a:pPr>
                      <a:r>
                        <a:rPr lang="en-US" sz="1300" b="1" dirty="0">
                          <a:solidFill>
                            <a:srgbClr val="2F6B3A"/>
                          </a:solidFill>
                          <a:latin typeface="Calibri" pitchFamily="34" charset="0"/>
                          <a:ea typeface="Calibri" pitchFamily="34" charset="-122"/>
                          <a:cs typeface="Calibri" pitchFamily="34" charset="-120"/>
                        </a:rPr>
                        <a:t>4,55</a:t>
                      </a:r>
                      <a:endParaRPr lang="en-US" sz="1300" dirty="0">
                        <a:latin typeface="Calibri" charset="0"/>
                        <a:ea typeface="Calibri" charset="0"/>
                        <a:cs typeface="Calibri" charset="0"/>
                      </a:endParaRPr>
                    </a:p>
                  </a:txBody>
                  <a:tcPr marL="54864" marR="54864" marT="54864" marB="54864" anchor="ctr">
                    <a:lnL w="9525" cap="flat" cmpd="sng" algn="ctr">
                      <a:solidFill>
                        <a:srgbClr val="D5DED8"/>
                      </a:solidFill>
                      <a:prstDash val="solid"/>
                      <a:round/>
                      <a:headEnd type="none" w="med" len="med"/>
                      <a:tailEnd type="none" w="med" len="med"/>
                    </a:lnL>
                    <a:lnR w="9525" cap="flat" cmpd="sng" algn="ctr">
                      <a:solidFill>
                        <a:srgbClr val="D5DED8"/>
                      </a:solidFill>
                      <a:prstDash val="solid"/>
                      <a:round/>
                      <a:headEnd type="none" w="med" len="med"/>
                      <a:tailEnd type="none" w="med" len="med"/>
                    </a:lnR>
                    <a:lnT w="9525" cap="flat" cmpd="sng" algn="ctr">
                      <a:solidFill>
                        <a:srgbClr val="D5DED8"/>
                      </a:solidFill>
                      <a:prstDash val="solid"/>
                      <a:round/>
                      <a:headEnd type="none" w="med" len="med"/>
                      <a:tailEnd type="none" w="med" len="med"/>
                    </a:lnT>
                    <a:lnB w="9525" cap="flat" cmpd="sng" algn="ctr">
                      <a:solidFill>
                        <a:srgbClr val="D5DED8"/>
                      </a:solidFill>
                      <a:prstDash val="solid"/>
                      <a:round/>
                      <a:headEnd type="none" w="med" len="med"/>
                      <a:tailEnd type="none" w="med" len="med"/>
                    </a:lnB>
                  </a:tcPr>
                </a:tc>
              </a:tr>
            </a:tbl>
          </a:graphicData>
        </a:graphic>
      </p:graphicFrame>
      <p:sp>
        <p:nvSpPr>
          <p:cNvPr id="24" name="Text 18"/>
          <p:cNvSpPr txBox="1"/>
          <p:nvPr/>
        </p:nvSpPr>
        <p:spPr>
          <a:xfrm>
            <a:off x="6583680" y="5166360"/>
            <a:ext cx="4846320" cy="731520"/>
          </a:xfrm>
          <a:prstGeom prst="rect">
            <a:avLst/>
          </a:prstGeom>
          <a:noFill/>
          <a:ln/>
        </p:spPr>
        <p:txBody>
          <a:bodyPr wrap="square" lIns="0" tIns="0" rIns="0" bIns="0" rtlCol="0" anchor="ctr"/>
          <a:lstStyle/>
          <a:p>
            <a:pPr indent="0" marL="0">
              <a:buNone/>
            </a:pPr>
            <a:r>
              <a:rPr lang="en-US" sz="1500" b="1" dirty="0">
                <a:solidFill>
                  <a:schemeClr val="accent4"/>
                </a:solidFill>
              </a:rPr>
              <a:t>→ Trả lời FAQ: nội thành 24 giờ, Hà Nội 2–4 ngày</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Bộ máy ra quyết định: ngữ cảnh trước, chấm điểm sau</a:t>
            </a:r>
            <a:endParaRPr lang="en-US" sz="3000" dirty="0"/>
          </a:p>
        </p:txBody>
      </p:sp>
      <p:sp>
        <p:nvSpPr>
          <p:cNvPr id="3" name="step 1"/>
          <p:cNvSpPr/>
          <p:nvPr/>
        </p:nvSpPr>
        <p:spPr>
          <a:xfrm>
            <a:off x="548640" y="1481328"/>
            <a:ext cx="640080" cy="640080"/>
          </a:xfrm>
          <a:prstGeom prst="ellipse">
            <a:avLst/>
          </a:prstGeom>
          <a:solidFill>
            <a:schemeClr val="accent1"/>
          </a:solidFill>
          <a:ln/>
        </p:spPr>
      </p:sp>
      <p:sp>
        <p:nvSpPr>
          <p:cNvPr id="4" name="Text 2"/>
          <p:cNvSpPr txBox="1"/>
          <p:nvPr/>
        </p:nvSpPr>
        <p:spPr>
          <a:xfrm>
            <a:off x="548640" y="1481328"/>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1</a:t>
            </a:r>
            <a:endParaRPr lang="en-US" sz="2200" dirty="0"/>
          </a:p>
        </p:txBody>
      </p:sp>
      <p:sp>
        <p:nvSpPr>
          <p:cNvPr id="5" name="step box 1"/>
          <p:cNvSpPr/>
          <p:nvPr/>
        </p:nvSpPr>
        <p:spPr>
          <a:xfrm>
            <a:off x="1371600" y="1371600"/>
            <a:ext cx="4572000" cy="868680"/>
          </a:xfrm>
          <a:prstGeom prst="roundRect">
            <a:avLst>
              <a:gd name="adj" fmla="val 10526"/>
            </a:avLst>
          </a:prstGeom>
          <a:solidFill>
            <a:schemeClr val="bg2"/>
          </a:solidFill>
          <a:ln/>
        </p:spPr>
      </p:sp>
      <p:sp>
        <p:nvSpPr>
          <p:cNvPr id="6" name="Text 4"/>
          <p:cNvSpPr txBox="1"/>
          <p:nvPr/>
        </p:nvSpPr>
        <p:spPr>
          <a:xfrm>
            <a:off x="1554480" y="1444752"/>
            <a:ext cx="4297680" cy="384048"/>
          </a:xfrm>
          <a:prstGeom prst="rect">
            <a:avLst/>
          </a:prstGeom>
          <a:noFill/>
          <a:ln/>
        </p:spPr>
        <p:txBody>
          <a:bodyPr wrap="square" lIns="0" tIns="0" rIns="0" bIns="0" rtlCol="0" anchor="t"/>
          <a:lstStyle/>
          <a:p>
            <a:pPr indent="0" marL="0">
              <a:buNone/>
            </a:pPr>
            <a:r>
              <a:rPr lang="en-US" sz="1600" b="1" dirty="0">
                <a:solidFill>
                  <a:schemeClr val="tx2"/>
                </a:solidFill>
              </a:rPr>
              <a:t>Đang chờ SĐT gọi lại?</a:t>
            </a:r>
            <a:endParaRPr lang="en-US" sz="1600" dirty="0"/>
          </a:p>
        </p:txBody>
      </p:sp>
      <p:sp>
        <p:nvSpPr>
          <p:cNvPr id="7" name="Text 5"/>
          <p:cNvSpPr txBox="1"/>
          <p:nvPr/>
        </p:nvSpPr>
        <p:spPr>
          <a:xfrm>
            <a:off x="1554480" y="1828800"/>
            <a:ext cx="4297680" cy="347472"/>
          </a:xfrm>
          <a:prstGeom prst="rect">
            <a:avLst/>
          </a:prstGeom>
          <a:noFill/>
          <a:ln/>
        </p:spPr>
        <p:txBody>
          <a:bodyPr wrap="square" lIns="0" tIns="0" rIns="0" bIns="0" rtlCol="0" anchor="t"/>
          <a:lstStyle/>
          <a:p>
            <a:pPr indent="0" marL="0">
              <a:buNone/>
            </a:pPr>
            <a:r>
              <a:rPr lang="en-US" sz="1400" dirty="0">
                <a:solidFill>
                  <a:schemeClr val="tx1"/>
                </a:solidFill>
              </a:rPr>
              <a:t>→ Lưu thành Liên hệ</a:t>
            </a:r>
            <a:endParaRPr lang="en-US" sz="1400" dirty="0"/>
          </a:p>
        </p:txBody>
      </p:sp>
      <p:sp>
        <p:nvSpPr>
          <p:cNvPr id="8" name="step 2"/>
          <p:cNvSpPr/>
          <p:nvPr/>
        </p:nvSpPr>
        <p:spPr>
          <a:xfrm>
            <a:off x="548640" y="2688336"/>
            <a:ext cx="640080" cy="640080"/>
          </a:xfrm>
          <a:prstGeom prst="ellipse">
            <a:avLst/>
          </a:prstGeom>
          <a:solidFill>
            <a:schemeClr val="accent1"/>
          </a:solidFill>
          <a:ln/>
        </p:spPr>
      </p:sp>
      <p:sp>
        <p:nvSpPr>
          <p:cNvPr id="9" name="Text 7"/>
          <p:cNvSpPr txBox="1"/>
          <p:nvPr/>
        </p:nvSpPr>
        <p:spPr>
          <a:xfrm>
            <a:off x="548640" y="2688336"/>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2</a:t>
            </a:r>
            <a:endParaRPr lang="en-US" sz="2200" dirty="0"/>
          </a:p>
        </p:txBody>
      </p:sp>
      <p:sp>
        <p:nvSpPr>
          <p:cNvPr id="10" name="step box 2"/>
          <p:cNvSpPr/>
          <p:nvPr/>
        </p:nvSpPr>
        <p:spPr>
          <a:xfrm>
            <a:off x="1371600" y="2578608"/>
            <a:ext cx="4572000" cy="868680"/>
          </a:xfrm>
          <a:prstGeom prst="roundRect">
            <a:avLst>
              <a:gd name="adj" fmla="val 10526"/>
            </a:avLst>
          </a:prstGeom>
          <a:solidFill>
            <a:schemeClr val="bg2"/>
          </a:solidFill>
          <a:ln/>
        </p:spPr>
      </p:sp>
      <p:sp>
        <p:nvSpPr>
          <p:cNvPr id="11" name="Text 9"/>
          <p:cNvSpPr txBox="1"/>
          <p:nvPr/>
        </p:nvSpPr>
        <p:spPr>
          <a:xfrm>
            <a:off x="1554480" y="2651760"/>
            <a:ext cx="4297680" cy="384048"/>
          </a:xfrm>
          <a:prstGeom prst="rect">
            <a:avLst/>
          </a:prstGeom>
          <a:noFill/>
          <a:ln/>
        </p:spPr>
        <p:txBody>
          <a:bodyPr wrap="square" lIns="0" tIns="0" rIns="0" bIns="0" rtlCol="0" anchor="t"/>
          <a:lstStyle/>
          <a:p>
            <a:pPr indent="0" marL="0">
              <a:buNone/>
            </a:pPr>
            <a:r>
              <a:rPr lang="en-US" sz="1600" b="1" dirty="0">
                <a:solidFill>
                  <a:schemeClr val="tx2"/>
                </a:solidFill>
              </a:rPr>
              <a:t>Không nhớ mã đơn?</a:t>
            </a:r>
            <a:endParaRPr lang="en-US" sz="1600" dirty="0"/>
          </a:p>
        </p:txBody>
      </p:sp>
      <p:sp>
        <p:nvSpPr>
          <p:cNvPr id="12" name="Text 10"/>
          <p:cNvSpPr txBox="1"/>
          <p:nvPr/>
        </p:nvSpPr>
        <p:spPr>
          <a:xfrm>
            <a:off x="1554480" y="3035808"/>
            <a:ext cx="4297680" cy="347472"/>
          </a:xfrm>
          <a:prstGeom prst="rect">
            <a:avLst/>
          </a:prstGeom>
          <a:noFill/>
          <a:ln/>
        </p:spPr>
        <p:txBody>
          <a:bodyPr wrap="square" lIns="0" tIns="0" rIns="0" bIns="0" rtlCol="0" anchor="t"/>
          <a:lstStyle/>
          <a:p>
            <a:pPr indent="0" marL="0">
              <a:buNone/>
            </a:pPr>
            <a:r>
              <a:rPr lang="en-US" sz="1400" dirty="0">
                <a:solidFill>
                  <a:schemeClr val="tx1"/>
                </a:solidFill>
              </a:rPr>
              <a:t>→ Hướng dẫn tìm mã, hotline</a:t>
            </a:r>
            <a:endParaRPr lang="en-US" sz="1400" dirty="0"/>
          </a:p>
        </p:txBody>
      </p:sp>
      <p:sp>
        <p:nvSpPr>
          <p:cNvPr id="13" name="step 3"/>
          <p:cNvSpPr/>
          <p:nvPr/>
        </p:nvSpPr>
        <p:spPr>
          <a:xfrm>
            <a:off x="548640" y="3895344"/>
            <a:ext cx="640080" cy="640080"/>
          </a:xfrm>
          <a:prstGeom prst="ellipse">
            <a:avLst/>
          </a:prstGeom>
          <a:solidFill>
            <a:schemeClr val="accent1"/>
          </a:solidFill>
          <a:ln/>
        </p:spPr>
      </p:sp>
      <p:sp>
        <p:nvSpPr>
          <p:cNvPr id="14" name="Text 12"/>
          <p:cNvSpPr txBox="1"/>
          <p:nvPr/>
        </p:nvSpPr>
        <p:spPr>
          <a:xfrm>
            <a:off x="548640" y="3895344"/>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3</a:t>
            </a:r>
            <a:endParaRPr lang="en-US" sz="2200" dirty="0"/>
          </a:p>
        </p:txBody>
      </p:sp>
      <p:sp>
        <p:nvSpPr>
          <p:cNvPr id="15" name="step box 3"/>
          <p:cNvSpPr/>
          <p:nvPr/>
        </p:nvSpPr>
        <p:spPr>
          <a:xfrm>
            <a:off x="1371600" y="3785616"/>
            <a:ext cx="4572000" cy="868680"/>
          </a:xfrm>
          <a:prstGeom prst="roundRect">
            <a:avLst>
              <a:gd name="adj" fmla="val 10526"/>
            </a:avLst>
          </a:prstGeom>
          <a:solidFill>
            <a:schemeClr val="bg2"/>
          </a:solidFill>
          <a:ln/>
        </p:spPr>
      </p:sp>
      <p:sp>
        <p:nvSpPr>
          <p:cNvPr id="16" name="Text 14"/>
          <p:cNvSpPr txBox="1"/>
          <p:nvPr/>
        </p:nvSpPr>
        <p:spPr>
          <a:xfrm>
            <a:off x="1554480" y="3858768"/>
            <a:ext cx="4297680" cy="384048"/>
          </a:xfrm>
          <a:prstGeom prst="rect">
            <a:avLst/>
          </a:prstGeom>
          <a:noFill/>
          <a:ln/>
        </p:spPr>
        <p:txBody>
          <a:bodyPr wrap="square" lIns="0" tIns="0" rIns="0" bIns="0" rtlCol="0" anchor="t"/>
          <a:lstStyle/>
          <a:p>
            <a:pPr indent="0" marL="0">
              <a:buNone/>
            </a:pPr>
            <a:r>
              <a:rPr lang="en-US" sz="1600" b="1" dirty="0">
                <a:solidFill>
                  <a:schemeClr val="tx2"/>
                </a:solidFill>
              </a:rPr>
              <a:t>Có mã đơn / đang chờ SĐT?</a:t>
            </a:r>
            <a:endParaRPr lang="en-US" sz="1600" dirty="0"/>
          </a:p>
        </p:txBody>
      </p:sp>
      <p:sp>
        <p:nvSpPr>
          <p:cNvPr id="17" name="Text 15"/>
          <p:cNvSpPr txBox="1"/>
          <p:nvPr/>
        </p:nvSpPr>
        <p:spPr>
          <a:xfrm>
            <a:off x="1554480" y="4242816"/>
            <a:ext cx="4297680" cy="347472"/>
          </a:xfrm>
          <a:prstGeom prst="rect">
            <a:avLst/>
          </a:prstGeom>
          <a:noFill/>
          <a:ln/>
        </p:spPr>
        <p:txBody>
          <a:bodyPr wrap="square" lIns="0" tIns="0" rIns="0" bIns="0" rtlCol="0" anchor="t"/>
          <a:lstStyle/>
          <a:p>
            <a:pPr indent="0" marL="0">
              <a:buNone/>
            </a:pPr>
            <a:r>
              <a:rPr lang="en-US" sz="1400" dirty="0">
                <a:solidFill>
                  <a:schemeClr val="tx1"/>
                </a:solidFill>
              </a:rPr>
              <a:t>→ Luồng tra cứu đơn</a:t>
            </a:r>
            <a:endParaRPr lang="en-US" sz="1400" dirty="0"/>
          </a:p>
        </p:txBody>
      </p:sp>
      <p:sp>
        <p:nvSpPr>
          <p:cNvPr id="18" name="step 4"/>
          <p:cNvSpPr/>
          <p:nvPr/>
        </p:nvSpPr>
        <p:spPr>
          <a:xfrm>
            <a:off x="548640" y="5102352"/>
            <a:ext cx="640080" cy="640080"/>
          </a:xfrm>
          <a:prstGeom prst="ellipse">
            <a:avLst/>
          </a:prstGeom>
          <a:solidFill>
            <a:schemeClr val="accent1"/>
          </a:solidFill>
          <a:ln/>
        </p:spPr>
      </p:sp>
      <p:sp>
        <p:nvSpPr>
          <p:cNvPr id="19" name="Text 17"/>
          <p:cNvSpPr txBox="1"/>
          <p:nvPr/>
        </p:nvSpPr>
        <p:spPr>
          <a:xfrm>
            <a:off x="548640" y="5102352"/>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4</a:t>
            </a:r>
            <a:endParaRPr lang="en-US" sz="2200" dirty="0"/>
          </a:p>
        </p:txBody>
      </p:sp>
      <p:sp>
        <p:nvSpPr>
          <p:cNvPr id="20" name="step box 4"/>
          <p:cNvSpPr/>
          <p:nvPr/>
        </p:nvSpPr>
        <p:spPr>
          <a:xfrm>
            <a:off x="1371600" y="4992624"/>
            <a:ext cx="4572000" cy="868680"/>
          </a:xfrm>
          <a:prstGeom prst="roundRect">
            <a:avLst>
              <a:gd name="adj" fmla="val 10526"/>
            </a:avLst>
          </a:prstGeom>
          <a:solidFill>
            <a:schemeClr val="bg2"/>
          </a:solidFill>
          <a:ln/>
        </p:spPr>
      </p:sp>
      <p:sp>
        <p:nvSpPr>
          <p:cNvPr id="21" name="Text 19"/>
          <p:cNvSpPr txBox="1"/>
          <p:nvPr/>
        </p:nvSpPr>
        <p:spPr>
          <a:xfrm>
            <a:off x="1554480" y="5065776"/>
            <a:ext cx="4297680" cy="384048"/>
          </a:xfrm>
          <a:prstGeom prst="rect">
            <a:avLst/>
          </a:prstGeom>
          <a:noFill/>
          <a:ln/>
        </p:spPr>
        <p:txBody>
          <a:bodyPr wrap="square" lIns="0" tIns="0" rIns="0" bIns="0" rtlCol="0" anchor="t"/>
          <a:lstStyle/>
          <a:p>
            <a:pPr indent="0" marL="0">
              <a:buNone/>
            </a:pPr>
            <a:r>
              <a:rPr lang="en-US" sz="1600" b="1" dirty="0">
                <a:solidFill>
                  <a:schemeClr val="tx2"/>
                </a:solidFill>
              </a:rPr>
              <a:t>Nhắc đúng tên sản phẩm?</a:t>
            </a:r>
            <a:endParaRPr lang="en-US" sz="1600" dirty="0"/>
          </a:p>
        </p:txBody>
      </p:sp>
      <p:sp>
        <p:nvSpPr>
          <p:cNvPr id="22" name="Text 20"/>
          <p:cNvSpPr txBox="1"/>
          <p:nvPr/>
        </p:nvSpPr>
        <p:spPr>
          <a:xfrm>
            <a:off x="1554480" y="5449824"/>
            <a:ext cx="4297680" cy="347472"/>
          </a:xfrm>
          <a:prstGeom prst="rect">
            <a:avLst/>
          </a:prstGeom>
          <a:noFill/>
          <a:ln/>
        </p:spPr>
        <p:txBody>
          <a:bodyPr wrap="square" lIns="0" tIns="0" rIns="0" bIns="0" rtlCol="0" anchor="t"/>
          <a:lstStyle/>
          <a:p>
            <a:pPr indent="0" marL="0">
              <a:buNone/>
            </a:pPr>
            <a:r>
              <a:rPr lang="en-US" sz="1400" dirty="0">
                <a:solidFill>
                  <a:schemeClr val="tx1"/>
                </a:solidFill>
              </a:rPr>
              <a:t>→ Giá, tồn kho, thẻ SP</a:t>
            </a:r>
            <a:endParaRPr lang="en-US" sz="1400" dirty="0"/>
          </a:p>
        </p:txBody>
      </p:sp>
      <p:sp>
        <p:nvSpPr>
          <p:cNvPr id="23" name="step 5"/>
          <p:cNvSpPr/>
          <p:nvPr/>
        </p:nvSpPr>
        <p:spPr>
          <a:xfrm>
            <a:off x="6172200" y="1481328"/>
            <a:ext cx="640080" cy="640080"/>
          </a:xfrm>
          <a:prstGeom prst="ellipse">
            <a:avLst/>
          </a:prstGeom>
          <a:solidFill>
            <a:schemeClr val="accent1"/>
          </a:solidFill>
          <a:ln/>
        </p:spPr>
      </p:sp>
      <p:sp>
        <p:nvSpPr>
          <p:cNvPr id="24" name="Text 22"/>
          <p:cNvSpPr txBox="1"/>
          <p:nvPr/>
        </p:nvSpPr>
        <p:spPr>
          <a:xfrm>
            <a:off x="6172200" y="1481328"/>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5</a:t>
            </a:r>
            <a:endParaRPr lang="en-US" sz="2200" dirty="0"/>
          </a:p>
        </p:txBody>
      </p:sp>
      <p:sp>
        <p:nvSpPr>
          <p:cNvPr id="25" name="step box 5"/>
          <p:cNvSpPr/>
          <p:nvPr/>
        </p:nvSpPr>
        <p:spPr>
          <a:xfrm>
            <a:off x="6995160" y="1371600"/>
            <a:ext cx="4572000" cy="868680"/>
          </a:xfrm>
          <a:prstGeom prst="roundRect">
            <a:avLst>
              <a:gd name="adj" fmla="val 10526"/>
            </a:avLst>
          </a:prstGeom>
          <a:solidFill>
            <a:schemeClr val="bg2"/>
          </a:solidFill>
          <a:ln/>
        </p:spPr>
      </p:sp>
      <p:sp>
        <p:nvSpPr>
          <p:cNvPr id="26" name="Text 24"/>
          <p:cNvSpPr txBox="1"/>
          <p:nvPr/>
        </p:nvSpPr>
        <p:spPr>
          <a:xfrm>
            <a:off x="7178040" y="1444752"/>
            <a:ext cx="4297680" cy="384048"/>
          </a:xfrm>
          <a:prstGeom prst="rect">
            <a:avLst/>
          </a:prstGeom>
          <a:noFill/>
          <a:ln/>
        </p:spPr>
        <p:txBody>
          <a:bodyPr wrap="square" lIns="0" tIns="0" rIns="0" bIns="0" rtlCol="0" anchor="t"/>
          <a:lstStyle/>
          <a:p>
            <a:pPr indent="0" marL="0">
              <a:buNone/>
            </a:pPr>
            <a:r>
              <a:rPr lang="en-US" sz="1600" b="1" dirty="0">
                <a:solidFill>
                  <a:schemeClr val="tx2"/>
                </a:solidFill>
              </a:rPr>
              <a:t>FAQ điểm cao nhất?</a:t>
            </a:r>
            <a:endParaRPr lang="en-US" sz="1600" dirty="0"/>
          </a:p>
        </p:txBody>
      </p:sp>
      <p:sp>
        <p:nvSpPr>
          <p:cNvPr id="27" name="Text 25"/>
          <p:cNvSpPr txBox="1"/>
          <p:nvPr/>
        </p:nvSpPr>
        <p:spPr>
          <a:xfrm>
            <a:off x="7178040" y="1828800"/>
            <a:ext cx="4297680" cy="347472"/>
          </a:xfrm>
          <a:prstGeom prst="rect">
            <a:avLst/>
          </a:prstGeom>
          <a:noFill/>
          <a:ln/>
        </p:spPr>
        <p:txBody>
          <a:bodyPr wrap="square" lIns="0" tIns="0" rIns="0" bIns="0" rtlCol="0" anchor="t"/>
          <a:lstStyle/>
          <a:p>
            <a:pPr indent="0" marL="0">
              <a:buNone/>
            </a:pPr>
            <a:r>
              <a:rPr lang="en-US" sz="1400" dirty="0">
                <a:solidFill>
                  <a:schemeClr val="tx1"/>
                </a:solidFill>
              </a:rPr>
              <a:t>→ Câu trả lời admin soạn</a:t>
            </a:r>
            <a:endParaRPr lang="en-US" sz="1400" dirty="0"/>
          </a:p>
        </p:txBody>
      </p:sp>
      <p:sp>
        <p:nvSpPr>
          <p:cNvPr id="28" name="step 6"/>
          <p:cNvSpPr/>
          <p:nvPr/>
        </p:nvSpPr>
        <p:spPr>
          <a:xfrm>
            <a:off x="6172200" y="2688336"/>
            <a:ext cx="640080" cy="640080"/>
          </a:xfrm>
          <a:prstGeom prst="ellipse">
            <a:avLst/>
          </a:prstGeom>
          <a:solidFill>
            <a:schemeClr val="accent1"/>
          </a:solidFill>
          <a:ln/>
        </p:spPr>
      </p:sp>
      <p:sp>
        <p:nvSpPr>
          <p:cNvPr id="29" name="Text 27"/>
          <p:cNvSpPr txBox="1"/>
          <p:nvPr/>
        </p:nvSpPr>
        <p:spPr>
          <a:xfrm>
            <a:off x="6172200" y="2688336"/>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6</a:t>
            </a:r>
            <a:endParaRPr lang="en-US" sz="2200" dirty="0"/>
          </a:p>
        </p:txBody>
      </p:sp>
      <p:sp>
        <p:nvSpPr>
          <p:cNvPr id="30" name="step box 6"/>
          <p:cNvSpPr/>
          <p:nvPr/>
        </p:nvSpPr>
        <p:spPr>
          <a:xfrm>
            <a:off x="6995160" y="2578608"/>
            <a:ext cx="4572000" cy="868680"/>
          </a:xfrm>
          <a:prstGeom prst="roundRect">
            <a:avLst>
              <a:gd name="adj" fmla="val 10526"/>
            </a:avLst>
          </a:prstGeom>
          <a:solidFill>
            <a:schemeClr val="bg2"/>
          </a:solidFill>
          <a:ln/>
        </p:spPr>
      </p:sp>
      <p:sp>
        <p:nvSpPr>
          <p:cNvPr id="31" name="Text 29"/>
          <p:cNvSpPr txBox="1"/>
          <p:nvPr/>
        </p:nvSpPr>
        <p:spPr>
          <a:xfrm>
            <a:off x="7178040" y="2651760"/>
            <a:ext cx="4297680" cy="384048"/>
          </a:xfrm>
          <a:prstGeom prst="rect">
            <a:avLst/>
          </a:prstGeom>
          <a:noFill/>
          <a:ln/>
        </p:spPr>
        <p:txBody>
          <a:bodyPr wrap="square" lIns="0" tIns="0" rIns="0" bIns="0" rtlCol="0" anchor="t"/>
          <a:lstStyle/>
          <a:p>
            <a:pPr indent="0" marL="0">
              <a:buNone/>
            </a:pPr>
            <a:r>
              <a:rPr lang="en-US" sz="1600" b="1" dirty="0">
                <a:solidFill>
                  <a:schemeClr val="tx2"/>
                </a:solidFill>
              </a:rPr>
              <a:t>Ý định có sẵn?</a:t>
            </a:r>
            <a:endParaRPr lang="en-US" sz="1600" dirty="0"/>
          </a:p>
        </p:txBody>
      </p:sp>
      <p:sp>
        <p:nvSpPr>
          <p:cNvPr id="32" name="Text 30"/>
          <p:cNvSpPr txBox="1"/>
          <p:nvPr/>
        </p:nvSpPr>
        <p:spPr>
          <a:xfrm>
            <a:off x="7178040" y="3035808"/>
            <a:ext cx="4297680" cy="347472"/>
          </a:xfrm>
          <a:prstGeom prst="rect">
            <a:avLst/>
          </a:prstGeom>
          <a:noFill/>
          <a:ln/>
        </p:spPr>
        <p:txBody>
          <a:bodyPr wrap="square" lIns="0" tIns="0" rIns="0" bIns="0" rtlCol="0" anchor="t"/>
          <a:lstStyle/>
          <a:p>
            <a:pPr indent="0" marL="0">
              <a:buNone/>
            </a:pPr>
            <a:r>
              <a:rPr lang="en-US" sz="1400" dirty="0">
                <a:solidFill>
                  <a:schemeClr val="tx1"/>
                </a:solidFill>
              </a:rPr>
              <a:t>→ Tra dữ liệu thật</a:t>
            </a:r>
            <a:endParaRPr lang="en-US" sz="1400" dirty="0"/>
          </a:p>
        </p:txBody>
      </p:sp>
      <p:sp>
        <p:nvSpPr>
          <p:cNvPr id="33" name="step 7"/>
          <p:cNvSpPr/>
          <p:nvPr/>
        </p:nvSpPr>
        <p:spPr>
          <a:xfrm>
            <a:off x="6172200" y="3895344"/>
            <a:ext cx="640080" cy="640080"/>
          </a:xfrm>
          <a:prstGeom prst="ellipse">
            <a:avLst/>
          </a:prstGeom>
          <a:solidFill>
            <a:schemeClr val="accent1"/>
          </a:solidFill>
          <a:ln/>
        </p:spPr>
      </p:sp>
      <p:sp>
        <p:nvSpPr>
          <p:cNvPr id="34" name="Text 32"/>
          <p:cNvSpPr txBox="1"/>
          <p:nvPr/>
        </p:nvSpPr>
        <p:spPr>
          <a:xfrm>
            <a:off x="6172200" y="3895344"/>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7</a:t>
            </a:r>
            <a:endParaRPr lang="en-US" sz="2200" dirty="0"/>
          </a:p>
        </p:txBody>
      </p:sp>
      <p:sp>
        <p:nvSpPr>
          <p:cNvPr id="35" name="step box 7"/>
          <p:cNvSpPr/>
          <p:nvPr/>
        </p:nvSpPr>
        <p:spPr>
          <a:xfrm>
            <a:off x="6995160" y="3785616"/>
            <a:ext cx="4572000" cy="868680"/>
          </a:xfrm>
          <a:prstGeom prst="roundRect">
            <a:avLst>
              <a:gd name="adj" fmla="val 10526"/>
            </a:avLst>
          </a:prstGeom>
          <a:solidFill>
            <a:schemeClr val="bg2"/>
          </a:solidFill>
          <a:ln/>
        </p:spPr>
      </p:sp>
      <p:sp>
        <p:nvSpPr>
          <p:cNvPr id="36" name="Text 34"/>
          <p:cNvSpPr txBox="1"/>
          <p:nvPr/>
        </p:nvSpPr>
        <p:spPr>
          <a:xfrm>
            <a:off x="7178040" y="3858768"/>
            <a:ext cx="4297680" cy="384048"/>
          </a:xfrm>
          <a:prstGeom prst="rect">
            <a:avLst/>
          </a:prstGeom>
          <a:noFill/>
          <a:ln/>
        </p:spPr>
        <p:txBody>
          <a:bodyPr wrap="square" lIns="0" tIns="0" rIns="0" bIns="0" rtlCol="0" anchor="t"/>
          <a:lstStyle/>
          <a:p>
            <a:pPr indent="0" marL="0">
              <a:buNone/>
            </a:pPr>
            <a:r>
              <a:rPr lang="en-US" sz="1600" b="1" dirty="0">
                <a:solidFill>
                  <a:schemeClr val="tx2"/>
                </a:solidFill>
              </a:rPr>
              <a:t>Có đặc điểm / ngân sách?</a:t>
            </a:r>
            <a:endParaRPr lang="en-US" sz="1600" dirty="0"/>
          </a:p>
        </p:txBody>
      </p:sp>
      <p:sp>
        <p:nvSpPr>
          <p:cNvPr id="37" name="Text 35"/>
          <p:cNvSpPr txBox="1"/>
          <p:nvPr/>
        </p:nvSpPr>
        <p:spPr>
          <a:xfrm>
            <a:off x="7178040" y="4242816"/>
            <a:ext cx="4297680" cy="347472"/>
          </a:xfrm>
          <a:prstGeom prst="rect">
            <a:avLst/>
          </a:prstGeom>
          <a:noFill/>
          <a:ln/>
        </p:spPr>
        <p:txBody>
          <a:bodyPr wrap="square" lIns="0" tIns="0" rIns="0" bIns="0" rtlCol="0" anchor="t"/>
          <a:lstStyle/>
          <a:p>
            <a:pPr indent="0" marL="0">
              <a:buNone/>
            </a:pPr>
            <a:r>
              <a:rPr lang="en-US" sz="1400" dirty="0">
                <a:solidFill>
                  <a:schemeClr val="tx1"/>
                </a:solidFill>
              </a:rPr>
              <a:t>→ Tư vấn cây / quà</a:t>
            </a:r>
            <a:endParaRPr lang="en-US" sz="1400" dirty="0"/>
          </a:p>
        </p:txBody>
      </p:sp>
      <p:sp>
        <p:nvSpPr>
          <p:cNvPr id="38" name="step 8"/>
          <p:cNvSpPr/>
          <p:nvPr/>
        </p:nvSpPr>
        <p:spPr>
          <a:xfrm>
            <a:off x="6172200" y="5102352"/>
            <a:ext cx="640080" cy="640080"/>
          </a:xfrm>
          <a:prstGeom prst="ellipse">
            <a:avLst/>
          </a:prstGeom>
          <a:solidFill>
            <a:schemeClr val="accent4"/>
          </a:solidFill>
          <a:ln/>
        </p:spPr>
      </p:sp>
      <p:sp>
        <p:nvSpPr>
          <p:cNvPr id="39" name="Text 37"/>
          <p:cNvSpPr txBox="1"/>
          <p:nvPr/>
        </p:nvSpPr>
        <p:spPr>
          <a:xfrm>
            <a:off x="6172200" y="5102352"/>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8</a:t>
            </a:r>
            <a:endParaRPr lang="en-US" sz="2200" dirty="0"/>
          </a:p>
        </p:txBody>
      </p:sp>
      <p:sp>
        <p:nvSpPr>
          <p:cNvPr id="40" name="step box 8"/>
          <p:cNvSpPr/>
          <p:nvPr/>
        </p:nvSpPr>
        <p:spPr>
          <a:xfrm>
            <a:off x="6995160" y="4992624"/>
            <a:ext cx="4572000" cy="868680"/>
          </a:xfrm>
          <a:prstGeom prst="roundRect">
            <a:avLst>
              <a:gd name="adj" fmla="val 10526"/>
            </a:avLst>
          </a:prstGeom>
          <a:solidFill>
            <a:schemeClr val="bg2"/>
          </a:solidFill>
          <a:ln/>
        </p:spPr>
      </p:sp>
      <p:sp>
        <p:nvSpPr>
          <p:cNvPr id="41" name="Text 39"/>
          <p:cNvSpPr txBox="1"/>
          <p:nvPr/>
        </p:nvSpPr>
        <p:spPr>
          <a:xfrm>
            <a:off x="7178040" y="5065776"/>
            <a:ext cx="4297680" cy="384048"/>
          </a:xfrm>
          <a:prstGeom prst="rect">
            <a:avLst/>
          </a:prstGeom>
          <a:noFill/>
          <a:ln/>
        </p:spPr>
        <p:txBody>
          <a:bodyPr wrap="square" lIns="0" tIns="0" rIns="0" bIns="0" rtlCol="0" anchor="t"/>
          <a:lstStyle/>
          <a:p>
            <a:pPr indent="0" marL="0">
              <a:buNone/>
            </a:pPr>
            <a:r>
              <a:rPr lang="en-US" sz="1600" b="1" dirty="0">
                <a:solidFill>
                  <a:schemeClr val="tx2"/>
                </a:solidFill>
              </a:rPr>
              <a:t>Không khớp gì</a:t>
            </a:r>
            <a:endParaRPr lang="en-US" sz="1600" dirty="0"/>
          </a:p>
        </p:txBody>
      </p:sp>
      <p:sp>
        <p:nvSpPr>
          <p:cNvPr id="42" name="Text 40"/>
          <p:cNvSpPr txBox="1"/>
          <p:nvPr/>
        </p:nvSpPr>
        <p:spPr>
          <a:xfrm>
            <a:off x="7178040" y="5449824"/>
            <a:ext cx="4297680" cy="347472"/>
          </a:xfrm>
          <a:prstGeom prst="rect">
            <a:avLst/>
          </a:prstGeom>
          <a:noFill/>
          <a:ln/>
        </p:spPr>
        <p:txBody>
          <a:bodyPr wrap="square" lIns="0" tIns="0" rIns="0" bIns="0" rtlCol="0" anchor="t"/>
          <a:lstStyle/>
          <a:p>
            <a:pPr indent="0" marL="0">
              <a:buNone/>
            </a:pPr>
            <a:r>
              <a:rPr lang="en-US" sz="1400" dirty="0">
                <a:solidFill>
                  <a:schemeClr val="tx1"/>
                </a:solidFill>
              </a:rPr>
              <a:t>→ “Chưa hiểu” + đánh dấu cho admin</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Tư vấn có ngân sách và hội thoại nhiều lượt</a:t>
            </a:r>
            <a:endParaRPr lang="en-US" sz="3000" dirty="0"/>
          </a:p>
        </p:txBody>
      </p:sp>
      <p:sp>
        <p:nvSpPr>
          <p:cNvPr id="3" name="frame c02-chat-recommend.png"/>
          <p:cNvSpPr/>
          <p:nvPr/>
        </p:nvSpPr>
        <p:spPr>
          <a:xfrm>
            <a:off x="548640" y="1280160"/>
            <a:ext cx="2697480" cy="4572000"/>
          </a:xfrm>
          <a:prstGeom prst="roundRect">
            <a:avLst>
              <a:gd name="adj" fmla="val 4068"/>
            </a:avLst>
          </a:prstGeom>
          <a:solidFill>
            <a:srgbClr val="FFFFFF"/>
          </a:solidFill>
          <a:ln w="9525">
            <a:solidFill>
              <a:srgbClr val="E3E8E4"/>
            </a:solidFill>
            <a:prstDash val="solid"/>
          </a:ln>
          <a:effectLst>
            <a:outerShdw sx="100000" sy="100000" kx="0" ky="0" algn="bl" rotWithShape="0" blurRad="127000" dist="38100" dir="5400000">
              <a:srgbClr val="1F3D26">
                <a:alpha val="18000"/>
              </a:srgbClr>
            </a:outerShdw>
          </a:effectLst>
        </p:spPr>
      </p:sp>
      <p:pic>
        <p:nvPicPr>
          <p:cNvPr id="4" name="c02-chat-recommend.png" descr="Tư vấn cây dễ chăm">    </p:cNvPr>
          <p:cNvPicPr>
            <a:picLocks noChangeAspect="1"/>
          </p:cNvPicPr>
          <p:nvPr/>
        </p:nvPicPr>
        <p:blipFill>
          <a:blip r:embed="rId1"/>
          <a:stretch>
            <a:fillRect/>
          </a:stretch>
        </p:blipFill>
        <p:spPr>
          <a:xfrm>
            <a:off x="692718" y="1371600"/>
            <a:ext cx="2409324" cy="4069080"/>
          </a:xfrm>
          <a:prstGeom prst="rect">
            <a:avLst/>
          </a:prstGeom>
        </p:spPr>
      </p:pic>
      <p:sp>
        <p:nvSpPr>
          <p:cNvPr id="5" name="Text 2"/>
          <p:cNvSpPr txBox="1"/>
          <p:nvPr/>
        </p:nvSpPr>
        <p:spPr>
          <a:xfrm>
            <a:off x="640080" y="5486400"/>
            <a:ext cx="2514600" cy="320040"/>
          </a:xfrm>
          <a:prstGeom prst="rect">
            <a:avLst/>
          </a:prstGeom>
          <a:noFill/>
          <a:ln/>
        </p:spPr>
        <p:txBody>
          <a:bodyPr wrap="square" lIns="0" tIns="0" rIns="0" bIns="0" rtlCol="0" anchor="ctr"/>
          <a:lstStyle/>
          <a:p>
            <a:pPr algn="ctr" indent="0" marL="0">
              <a:buNone/>
            </a:pPr>
            <a:r>
              <a:rPr lang="en-US" sz="1100" i="1" dirty="0">
                <a:solidFill>
                  <a:schemeClr val="tx1"/>
                </a:solidFill>
              </a:rPr>
              <a:t>Tư vấn cây dễ chăm</a:t>
            </a:r>
            <a:endParaRPr lang="en-US" sz="1100" dirty="0"/>
          </a:p>
        </p:txBody>
      </p:sp>
      <p:sp>
        <p:nvSpPr>
          <p:cNvPr id="6" name="frame c05-chat-order.png"/>
          <p:cNvSpPr/>
          <p:nvPr/>
        </p:nvSpPr>
        <p:spPr>
          <a:xfrm>
            <a:off x="3429000" y="1280160"/>
            <a:ext cx="2697480" cy="4572000"/>
          </a:xfrm>
          <a:prstGeom prst="roundRect">
            <a:avLst>
              <a:gd name="adj" fmla="val 4068"/>
            </a:avLst>
          </a:prstGeom>
          <a:solidFill>
            <a:srgbClr val="FFFFFF"/>
          </a:solidFill>
          <a:ln w="9525">
            <a:solidFill>
              <a:srgbClr val="E3E8E4"/>
            </a:solidFill>
            <a:prstDash val="solid"/>
          </a:ln>
          <a:effectLst>
            <a:outerShdw sx="100000" sy="100000" kx="0" ky="0" algn="bl" rotWithShape="0" blurRad="127000" dist="38100" dir="5400000">
              <a:srgbClr val="1F3D26">
                <a:alpha val="18000"/>
              </a:srgbClr>
            </a:outerShdw>
          </a:effectLst>
        </p:spPr>
      </p:sp>
      <p:pic>
        <p:nvPicPr>
          <p:cNvPr id="7" name="c05-chat-order.png" descr="Tra đơn qua 2 tin nhắn">    </p:cNvPr>
          <p:cNvPicPr>
            <a:picLocks noChangeAspect="1"/>
          </p:cNvPicPr>
          <p:nvPr/>
        </p:nvPicPr>
        <p:blipFill>
          <a:blip r:embed="rId2"/>
          <a:stretch>
            <a:fillRect/>
          </a:stretch>
        </p:blipFill>
        <p:spPr>
          <a:xfrm>
            <a:off x="3573078" y="1371600"/>
            <a:ext cx="2409324" cy="4069080"/>
          </a:xfrm>
          <a:prstGeom prst="rect">
            <a:avLst/>
          </a:prstGeom>
        </p:spPr>
      </p:pic>
      <p:sp>
        <p:nvSpPr>
          <p:cNvPr id="8" name="Text 4"/>
          <p:cNvSpPr txBox="1"/>
          <p:nvPr/>
        </p:nvSpPr>
        <p:spPr>
          <a:xfrm>
            <a:off x="3520440" y="5486400"/>
            <a:ext cx="2514600" cy="320040"/>
          </a:xfrm>
          <a:prstGeom prst="rect">
            <a:avLst/>
          </a:prstGeom>
          <a:noFill/>
          <a:ln/>
        </p:spPr>
        <p:txBody>
          <a:bodyPr wrap="square" lIns="0" tIns="0" rIns="0" bIns="0" rtlCol="0" anchor="ctr"/>
          <a:lstStyle/>
          <a:p>
            <a:pPr algn="ctr" indent="0" marL="0">
              <a:buNone/>
            </a:pPr>
            <a:r>
              <a:rPr lang="en-US" sz="1100" i="1" dirty="0">
                <a:solidFill>
                  <a:schemeClr val="tx1"/>
                </a:solidFill>
              </a:rPr>
              <a:t>Tra đơn qua 2 tin nhắn</a:t>
            </a:r>
            <a:endParaRPr lang="en-US" sz="1100" dirty="0"/>
          </a:p>
        </p:txBody>
      </p:sp>
      <p:sp>
        <p:nvSpPr>
          <p:cNvPr id="9" name="Text 5"/>
          <p:cNvSpPr txBox="1"/>
          <p:nvPr/>
        </p:nvSpPr>
        <p:spPr>
          <a:xfrm>
            <a:off x="6492240" y="1325880"/>
            <a:ext cx="5120640" cy="365760"/>
          </a:xfrm>
          <a:prstGeom prst="rect">
            <a:avLst/>
          </a:prstGeom>
          <a:noFill/>
          <a:ln/>
        </p:spPr>
        <p:txBody>
          <a:bodyPr wrap="square" lIns="0" tIns="0" rIns="0" bIns="0" rtlCol="0" anchor="t"/>
          <a:lstStyle/>
          <a:p>
            <a:pPr indent="0" marL="0">
              <a:buNone/>
            </a:pPr>
            <a:r>
              <a:rPr lang="en-US" sz="1800" b="1" dirty="0">
                <a:solidFill>
                  <a:schemeClr val="tx2"/>
                </a:solidFill>
              </a:rPr>
              <a:t>Chấm điểm sản phẩm còn hàng</a:t>
            </a:r>
            <a:endParaRPr lang="en-US" sz="1800" dirty="0"/>
          </a:p>
        </p:txBody>
      </p:sp>
      <p:sp>
        <p:nvSpPr>
          <p:cNvPr id="10" name="Text 6"/>
          <p:cNvSpPr txBox="1"/>
          <p:nvPr/>
        </p:nvSpPr>
        <p:spPr>
          <a:xfrm>
            <a:off x="6492240" y="1783080"/>
            <a:ext cx="822960" cy="411480"/>
          </a:xfrm>
          <a:prstGeom prst="rect">
            <a:avLst/>
          </a:prstGeom>
          <a:noFill/>
          <a:ln/>
        </p:spPr>
        <p:txBody>
          <a:bodyPr wrap="square" lIns="0" tIns="0" rIns="0" bIns="0" rtlCol="0" anchor="ctr"/>
          <a:lstStyle/>
          <a:p>
            <a:pPr indent="0" marL="0">
              <a:buNone/>
            </a:pPr>
            <a:r>
              <a:rPr lang="en-US" sz="2000" b="1" dirty="0">
                <a:solidFill>
                  <a:schemeClr val="accent4"/>
                </a:solidFill>
                <a:latin typeface="Cambria" pitchFamily="34" charset="0"/>
                <a:ea typeface="Cambria" pitchFamily="34" charset="-122"/>
                <a:cs typeface="Cambria" pitchFamily="34" charset="-120"/>
              </a:rPr>
              <a:t>+2</a:t>
            </a:r>
            <a:endParaRPr lang="en-US" sz="2000" dirty="0"/>
          </a:p>
        </p:txBody>
      </p:sp>
      <p:sp>
        <p:nvSpPr>
          <p:cNvPr id="11" name="Text 7"/>
          <p:cNvSpPr txBox="1"/>
          <p:nvPr/>
        </p:nvSpPr>
        <p:spPr>
          <a:xfrm>
            <a:off x="7315200" y="1783080"/>
            <a:ext cx="4297680" cy="411480"/>
          </a:xfrm>
          <a:prstGeom prst="rect">
            <a:avLst/>
          </a:prstGeom>
          <a:noFill/>
          <a:ln/>
        </p:spPr>
        <p:txBody>
          <a:bodyPr wrap="square" lIns="0" tIns="0" rIns="0" bIns="0" rtlCol="0" anchor="ctr"/>
          <a:lstStyle/>
          <a:p>
            <a:pPr indent="0" marL="0">
              <a:buNone/>
            </a:pPr>
            <a:r>
              <a:rPr lang="en-US" sz="1500" dirty="0">
                <a:solidFill>
                  <a:schemeClr val="tx1"/>
                </a:solidFill>
              </a:rPr>
              <a:t>thuộc danh mục phù hợp</a:t>
            </a:r>
            <a:endParaRPr lang="en-US" sz="1500" dirty="0"/>
          </a:p>
        </p:txBody>
      </p:sp>
      <p:sp>
        <p:nvSpPr>
          <p:cNvPr id="12" name="Text 8"/>
          <p:cNvSpPr txBox="1"/>
          <p:nvPr/>
        </p:nvSpPr>
        <p:spPr>
          <a:xfrm>
            <a:off x="6492240" y="2240280"/>
            <a:ext cx="822960" cy="411480"/>
          </a:xfrm>
          <a:prstGeom prst="rect">
            <a:avLst/>
          </a:prstGeom>
          <a:noFill/>
          <a:ln/>
        </p:spPr>
        <p:txBody>
          <a:bodyPr wrap="square" lIns="0" tIns="0" rIns="0" bIns="0" rtlCol="0" anchor="ctr"/>
          <a:lstStyle/>
          <a:p>
            <a:pPr indent="0" marL="0">
              <a:buNone/>
            </a:pPr>
            <a:r>
              <a:rPr lang="en-US" sz="2000" b="1" dirty="0">
                <a:solidFill>
                  <a:schemeClr val="accent4"/>
                </a:solidFill>
                <a:latin typeface="Cambria" pitchFamily="34" charset="0"/>
                <a:ea typeface="Cambria" pitchFamily="34" charset="-122"/>
                <a:cs typeface="Cambria" pitchFamily="34" charset="-120"/>
              </a:rPr>
              <a:t>+1,5</a:t>
            </a:r>
            <a:endParaRPr lang="en-US" sz="2000" dirty="0"/>
          </a:p>
        </p:txBody>
      </p:sp>
      <p:sp>
        <p:nvSpPr>
          <p:cNvPr id="13" name="Text 9"/>
          <p:cNvSpPr txBox="1"/>
          <p:nvPr/>
        </p:nvSpPr>
        <p:spPr>
          <a:xfrm>
            <a:off x="7315200" y="2240280"/>
            <a:ext cx="4297680" cy="411480"/>
          </a:xfrm>
          <a:prstGeom prst="rect">
            <a:avLst/>
          </a:prstGeom>
          <a:noFill/>
          <a:ln/>
        </p:spPr>
        <p:txBody>
          <a:bodyPr wrap="square" lIns="0" tIns="0" rIns="0" bIns="0" rtlCol="0" anchor="ctr"/>
          <a:lstStyle/>
          <a:p>
            <a:pPr indent="0" marL="0">
              <a:buNone/>
            </a:pPr>
            <a:r>
              <a:rPr lang="en-US" sz="1500" dirty="0">
                <a:solidFill>
                  <a:schemeClr val="tx1"/>
                </a:solidFill>
              </a:rPr>
              <a:t>tên chứa từ gợi ý (lola, ruby…)</a:t>
            </a:r>
            <a:endParaRPr lang="en-US" sz="1500" dirty="0"/>
          </a:p>
        </p:txBody>
      </p:sp>
      <p:sp>
        <p:nvSpPr>
          <p:cNvPr id="14" name="Text 10"/>
          <p:cNvSpPr txBox="1"/>
          <p:nvPr/>
        </p:nvSpPr>
        <p:spPr>
          <a:xfrm>
            <a:off x="6492240" y="2697480"/>
            <a:ext cx="822960" cy="411480"/>
          </a:xfrm>
          <a:prstGeom prst="rect">
            <a:avLst/>
          </a:prstGeom>
          <a:noFill/>
          <a:ln/>
        </p:spPr>
        <p:txBody>
          <a:bodyPr wrap="square" lIns="0" tIns="0" rIns="0" bIns="0" rtlCol="0" anchor="ctr"/>
          <a:lstStyle/>
          <a:p>
            <a:pPr indent="0" marL="0">
              <a:buNone/>
            </a:pPr>
            <a:r>
              <a:rPr lang="en-US" sz="2000" b="1" dirty="0">
                <a:solidFill>
                  <a:schemeClr val="accent4"/>
                </a:solidFill>
                <a:latin typeface="Cambria" pitchFamily="34" charset="0"/>
                <a:ea typeface="Cambria" pitchFamily="34" charset="-122"/>
                <a:cs typeface="Cambria" pitchFamily="34" charset="-120"/>
              </a:rPr>
              <a:t>+0,5</a:t>
            </a:r>
            <a:endParaRPr lang="en-US" sz="2000" dirty="0"/>
          </a:p>
        </p:txBody>
      </p:sp>
      <p:sp>
        <p:nvSpPr>
          <p:cNvPr id="15" name="Text 11"/>
          <p:cNvSpPr txBox="1"/>
          <p:nvPr/>
        </p:nvSpPr>
        <p:spPr>
          <a:xfrm>
            <a:off x="7315200" y="2697480"/>
            <a:ext cx="4297680" cy="411480"/>
          </a:xfrm>
          <a:prstGeom prst="rect">
            <a:avLst/>
          </a:prstGeom>
          <a:noFill/>
          <a:ln/>
        </p:spPr>
        <p:txBody>
          <a:bodyPr wrap="square" lIns="0" tIns="0" rIns="0" bIns="0" rtlCol="0" anchor="ctr"/>
          <a:lstStyle/>
          <a:p>
            <a:pPr indent="0" marL="0">
              <a:buNone/>
            </a:pPr>
            <a:r>
              <a:rPr lang="en-US" sz="1500" dirty="0">
                <a:solidFill>
                  <a:schemeClr val="tx1"/>
                </a:solidFill>
              </a:rPr>
              <a:t>sản phẩm nổi bật</a:t>
            </a:r>
            <a:endParaRPr lang="en-US" sz="1500" dirty="0"/>
          </a:p>
        </p:txBody>
      </p:sp>
      <p:sp>
        <p:nvSpPr>
          <p:cNvPr id="16" name="Text 12"/>
          <p:cNvSpPr txBox="1"/>
          <p:nvPr/>
        </p:nvSpPr>
        <p:spPr>
          <a:xfrm>
            <a:off x="6492240" y="3200400"/>
            <a:ext cx="5120640" cy="594360"/>
          </a:xfrm>
          <a:prstGeom prst="rect">
            <a:avLst/>
          </a:prstGeom>
          <a:noFill/>
          <a:ln/>
        </p:spPr>
        <p:txBody>
          <a:bodyPr wrap="square" lIns="0" tIns="0" rIns="0" bIns="0" rtlCol="0" anchor="t"/>
          <a:lstStyle/>
          <a:p>
            <a:pPr indent="0" marL="0">
              <a:buNone/>
            </a:pPr>
            <a:r>
              <a:rPr lang="en-US" sz="1400" i="1" dirty="0">
                <a:solidFill>
                  <a:schemeClr val="accent1"/>
                </a:solidFill>
              </a:rPr>
              <a:t>Lọc theo ngân sách → tối đa 4 thẻ, bấm “+” thêm vào giỏ ngay trong chat</a:t>
            </a:r>
            <a:endParaRPr lang="en-US" sz="1400" dirty="0"/>
          </a:p>
        </p:txBody>
      </p:sp>
      <p:sp>
        <p:nvSpPr>
          <p:cNvPr id="17" name="Text 13"/>
          <p:cNvSpPr txBox="1"/>
          <p:nvPr/>
        </p:nvSpPr>
        <p:spPr>
          <a:xfrm>
            <a:off x="6492240" y="3931920"/>
            <a:ext cx="5120640" cy="365760"/>
          </a:xfrm>
          <a:prstGeom prst="rect">
            <a:avLst/>
          </a:prstGeom>
          <a:noFill/>
          <a:ln/>
        </p:spPr>
        <p:txBody>
          <a:bodyPr wrap="square" lIns="0" tIns="0" rIns="0" bIns="0" rtlCol="0" anchor="t"/>
          <a:lstStyle/>
          <a:p>
            <a:pPr indent="0" marL="0">
              <a:buNone/>
            </a:pPr>
            <a:r>
              <a:rPr lang="en-US" sz="1800" b="1" dirty="0">
                <a:solidFill>
                  <a:schemeClr val="tx2"/>
                </a:solidFill>
              </a:rPr>
              <a:t>Ngữ cảnh lưu trong ChatConversation</a:t>
            </a:r>
            <a:endParaRPr lang="en-US" sz="1800" dirty="0"/>
          </a:p>
        </p:txBody>
      </p:sp>
      <p:sp>
        <p:nvSpPr>
          <p:cNvPr id="18" name="Text 14"/>
          <p:cNvSpPr txBox="1"/>
          <p:nvPr/>
        </p:nvSpPr>
        <p:spPr>
          <a:xfrm>
            <a:off x="6492240" y="4389120"/>
            <a:ext cx="5120640" cy="17373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awaiting = order → khách gửi mã, rồi gửi SĐT, bot tự ghép</a:t>
            </a:r>
            <a:endParaRPr lang="en-US" sz="1400" dirty="0"/>
          </a:p>
          <a:p>
            <a:pPr marL="203200" indent="-203200">
              <a:spcAft>
                <a:spcPts val="800"/>
              </a:spcAft>
              <a:buSzPct val="100000"/>
              <a:buChar char="•"/>
            </a:pPr>
            <a:r>
              <a:rPr lang="en-US" sz="1400" dirty="0">
                <a:solidFill>
                  <a:schemeClr val="tx1"/>
                </a:solidFill>
              </a:rPr>
              <a:t>Chỉ trả trạng thái, số SP, tổng tiền – không lộ tên, địa chỉ</a:t>
            </a:r>
            <a:endParaRPr lang="en-US" sz="1400" dirty="0"/>
          </a:p>
          <a:p>
            <a:pPr marL="203200" indent="-203200">
              <a:spcAft>
                <a:spcPts val="800"/>
              </a:spcAft>
              <a:buSzPct val="100000"/>
              <a:buChar char="•"/>
            </a:pPr>
            <a:r>
              <a:rPr lang="en-US" sz="1400" dirty="0">
                <a:solidFill>
                  <a:schemeClr val="tx1"/>
                </a:solidFill>
              </a:rPr>
              <a:t>Sai thông tin: câu trả lời giống nhau, không tiết lộ đơn tồn tại</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Chế độ AI: tra trước, sinh sau (RAG)</a:t>
            </a:r>
            <a:endParaRPr lang="en-US" sz="3000" dirty="0"/>
          </a:p>
        </p:txBody>
      </p:sp>
      <p:sp>
        <p:nvSpPr>
          <p:cNvPr id="3" name="flow 0"/>
          <p:cNvSpPr/>
          <p:nvPr/>
        </p:nvSpPr>
        <p:spPr>
          <a:xfrm>
            <a:off x="548640" y="1371600"/>
            <a:ext cx="2560320" cy="2148840"/>
          </a:xfrm>
          <a:prstGeom prst="roundRect">
            <a:avLst>
              <a:gd name="adj" fmla="val 5106"/>
            </a:avLst>
          </a:prstGeom>
          <a:solidFill>
            <a:schemeClr val="bg2"/>
          </a:solidFill>
          <a:ln/>
        </p:spPr>
      </p:sp>
      <p:sp>
        <p:nvSpPr>
          <p:cNvPr id="4" name="icon bg Search"/>
          <p:cNvSpPr/>
          <p:nvPr/>
        </p:nvSpPr>
        <p:spPr>
          <a:xfrm>
            <a:off x="777240" y="1600200"/>
            <a:ext cx="594360" cy="594360"/>
          </a:xfrm>
          <a:prstGeom prst="ellipse">
            <a:avLst/>
          </a:prstGeom>
          <a:solidFill>
            <a:schemeClr val="accent1"/>
          </a:solidFill>
          <a:ln/>
        </p:spPr>
      </p:sp>
      <p:pic>
        <p:nvPicPr>
          <p:cNvPr id="5" name="icon Search" descr="Search">    </p:cNvPr>
          <p:cNvPicPr>
            <a:picLocks noChangeAspect="1"/>
          </p:cNvPicPr>
          <p:nvPr/>
        </p:nvPicPr>
        <p:blipFill>
          <a:blip r:embed="rId1"/>
          <a:stretch>
            <a:fillRect/>
          </a:stretch>
        </p:blipFill>
        <p:spPr>
          <a:xfrm>
            <a:off x="919886" y="1742846"/>
            <a:ext cx="309067" cy="309067"/>
          </a:xfrm>
          <a:prstGeom prst="rect">
            <a:avLst/>
          </a:prstGeom>
        </p:spPr>
      </p:pic>
      <p:sp>
        <p:nvSpPr>
          <p:cNvPr id="6" name="Text 3"/>
          <p:cNvSpPr txBox="1"/>
          <p:nvPr/>
        </p:nvSpPr>
        <p:spPr>
          <a:xfrm>
            <a:off x="777240" y="2286000"/>
            <a:ext cx="2194560" cy="365760"/>
          </a:xfrm>
          <a:prstGeom prst="rect">
            <a:avLst/>
          </a:prstGeom>
          <a:noFill/>
          <a:ln/>
        </p:spPr>
        <p:txBody>
          <a:bodyPr wrap="square" lIns="0" tIns="0" rIns="0" bIns="0" rtlCol="0" anchor="t"/>
          <a:lstStyle/>
          <a:p>
            <a:pPr indent="0" marL="0">
              <a:buNone/>
            </a:pPr>
            <a:r>
              <a:rPr lang="en-US" sz="1600" b="1" dirty="0">
                <a:solidFill>
                  <a:schemeClr val="tx2"/>
                </a:solidFill>
              </a:rPr>
              <a:t>Bộ luật tra cứu</a:t>
            </a:r>
            <a:endParaRPr lang="en-US" sz="1600" dirty="0"/>
          </a:p>
        </p:txBody>
      </p:sp>
      <p:sp>
        <p:nvSpPr>
          <p:cNvPr id="7" name="Text 4"/>
          <p:cNvSpPr txBox="1"/>
          <p:nvPr/>
        </p:nvSpPr>
        <p:spPr>
          <a:xfrm>
            <a:off x="777240" y="2670048"/>
            <a:ext cx="2194560" cy="777240"/>
          </a:xfrm>
          <a:prstGeom prst="rect">
            <a:avLst/>
          </a:prstGeom>
          <a:noFill/>
          <a:ln/>
        </p:spPr>
        <p:txBody>
          <a:bodyPr wrap="square" lIns="0" tIns="0" rIns="0" bIns="0" rtlCol="0" anchor="t"/>
          <a:lstStyle/>
          <a:p>
            <a:pPr indent="0" marL="0">
              <a:buNone/>
            </a:pPr>
            <a:r>
              <a:rPr lang="en-US" sz="1300" dirty="0">
                <a:solidFill>
                  <a:schemeClr val="tx1"/>
                </a:solidFill>
              </a:rPr>
              <a:t>Facts đã xác minh: SP, FAQ, trạng thái đơn</a:t>
            </a:r>
            <a:endParaRPr lang="en-US" sz="1300" dirty="0"/>
          </a:p>
        </p:txBody>
      </p:sp>
      <p:sp>
        <p:nvSpPr>
          <p:cNvPr id="8" name="flow arrow 0"/>
          <p:cNvSpPr/>
          <p:nvPr/>
        </p:nvSpPr>
        <p:spPr>
          <a:xfrm>
            <a:off x="3136392" y="2331720"/>
            <a:ext cx="228600" cy="274320"/>
          </a:xfrm>
          <a:prstGeom prst="rightArrow">
            <a:avLst/>
          </a:prstGeom>
          <a:solidFill>
            <a:schemeClr val="accent2"/>
          </a:solidFill>
          <a:ln/>
        </p:spPr>
      </p:sp>
      <p:sp>
        <p:nvSpPr>
          <p:cNvPr id="9" name="flow 1"/>
          <p:cNvSpPr/>
          <p:nvPr/>
        </p:nvSpPr>
        <p:spPr>
          <a:xfrm>
            <a:off x="3383280" y="1371600"/>
            <a:ext cx="2560320" cy="2148840"/>
          </a:xfrm>
          <a:prstGeom prst="roundRect">
            <a:avLst>
              <a:gd name="adj" fmla="val 5106"/>
            </a:avLst>
          </a:prstGeom>
          <a:solidFill>
            <a:schemeClr val="bg2"/>
          </a:solidFill>
          <a:ln/>
        </p:spPr>
      </p:sp>
      <p:sp>
        <p:nvSpPr>
          <p:cNvPr id="10" name="icon bg FileText"/>
          <p:cNvSpPr/>
          <p:nvPr/>
        </p:nvSpPr>
        <p:spPr>
          <a:xfrm>
            <a:off x="3611880" y="1600200"/>
            <a:ext cx="594360" cy="594360"/>
          </a:xfrm>
          <a:prstGeom prst="ellipse">
            <a:avLst/>
          </a:prstGeom>
          <a:solidFill>
            <a:schemeClr val="accent1"/>
          </a:solidFill>
          <a:ln/>
        </p:spPr>
      </p:sp>
      <p:pic>
        <p:nvPicPr>
          <p:cNvPr id="11" name="icon FileText" descr="FileText">    </p:cNvPr>
          <p:cNvPicPr>
            <a:picLocks noChangeAspect="1"/>
          </p:cNvPicPr>
          <p:nvPr/>
        </p:nvPicPr>
        <p:blipFill>
          <a:blip r:embed="rId2"/>
          <a:stretch>
            <a:fillRect/>
          </a:stretch>
        </p:blipFill>
        <p:spPr>
          <a:xfrm>
            <a:off x="3754526" y="1742846"/>
            <a:ext cx="309067" cy="309067"/>
          </a:xfrm>
          <a:prstGeom prst="rect">
            <a:avLst/>
          </a:prstGeom>
        </p:spPr>
      </p:pic>
      <p:sp>
        <p:nvSpPr>
          <p:cNvPr id="12" name="Text 8"/>
          <p:cNvSpPr txBox="1"/>
          <p:nvPr/>
        </p:nvSpPr>
        <p:spPr>
          <a:xfrm>
            <a:off x="3611880" y="2286000"/>
            <a:ext cx="2194560" cy="365760"/>
          </a:xfrm>
          <a:prstGeom prst="rect">
            <a:avLst/>
          </a:prstGeom>
          <a:noFill/>
          <a:ln/>
        </p:spPr>
        <p:txBody>
          <a:bodyPr wrap="square" lIns="0" tIns="0" rIns="0" bIns="0" rtlCol="0" anchor="t"/>
          <a:lstStyle/>
          <a:p>
            <a:pPr indent="0" marL="0">
              <a:buNone/>
            </a:pPr>
            <a:r>
              <a:rPr lang="en-US" sz="1600" b="1" dirty="0">
                <a:solidFill>
                  <a:schemeClr val="tx2"/>
                </a:solidFill>
              </a:rPr>
              <a:t>Dựng system prompt</a:t>
            </a:r>
            <a:endParaRPr lang="en-US" sz="1600" dirty="0"/>
          </a:p>
        </p:txBody>
      </p:sp>
      <p:sp>
        <p:nvSpPr>
          <p:cNvPr id="13" name="Text 9"/>
          <p:cNvSpPr txBox="1"/>
          <p:nvPr/>
        </p:nvSpPr>
        <p:spPr>
          <a:xfrm>
            <a:off x="3611880" y="2670048"/>
            <a:ext cx="2194560" cy="777240"/>
          </a:xfrm>
          <a:prstGeom prst="rect">
            <a:avLst/>
          </a:prstGeom>
          <a:noFill/>
          <a:ln/>
        </p:spPr>
        <p:txBody>
          <a:bodyPr wrap="square" lIns="0" tIns="0" rIns="0" bIns="0" rtlCol="0" anchor="t"/>
          <a:lstStyle/>
          <a:p>
            <a:pPr indent="0" marL="0">
              <a:buNone/>
            </a:pPr>
            <a:r>
              <a:rPr lang="en-US" sz="1300" dirty="0">
                <a:solidFill>
                  <a:schemeClr val="tx1"/>
                </a:solidFill>
              </a:rPr>
              <a:t>Thông tin shop, sản phẩm, 25 FAQ, 10 tin gần nhất</a:t>
            </a:r>
            <a:endParaRPr lang="en-US" sz="1300" dirty="0"/>
          </a:p>
        </p:txBody>
      </p:sp>
      <p:sp>
        <p:nvSpPr>
          <p:cNvPr id="14" name="flow arrow 1"/>
          <p:cNvSpPr/>
          <p:nvPr/>
        </p:nvSpPr>
        <p:spPr>
          <a:xfrm>
            <a:off x="5971032" y="2331720"/>
            <a:ext cx="228600" cy="274320"/>
          </a:xfrm>
          <a:prstGeom prst="rightArrow">
            <a:avLst/>
          </a:prstGeom>
          <a:solidFill>
            <a:schemeClr val="accent2"/>
          </a:solidFill>
          <a:ln/>
        </p:spPr>
      </p:sp>
      <p:sp>
        <p:nvSpPr>
          <p:cNvPr id="15" name="flow 2"/>
          <p:cNvSpPr/>
          <p:nvPr/>
        </p:nvSpPr>
        <p:spPr>
          <a:xfrm>
            <a:off x="6217920" y="1371600"/>
            <a:ext cx="2560320" cy="2148840"/>
          </a:xfrm>
          <a:prstGeom prst="roundRect">
            <a:avLst>
              <a:gd name="adj" fmla="val 5106"/>
            </a:avLst>
          </a:prstGeom>
          <a:solidFill>
            <a:schemeClr val="bg2"/>
          </a:solidFill>
          <a:ln/>
        </p:spPr>
      </p:sp>
      <p:sp>
        <p:nvSpPr>
          <p:cNvPr id="16" name="icon bg Sparkles"/>
          <p:cNvSpPr/>
          <p:nvPr/>
        </p:nvSpPr>
        <p:spPr>
          <a:xfrm>
            <a:off x="6446520" y="1600200"/>
            <a:ext cx="594360" cy="594360"/>
          </a:xfrm>
          <a:prstGeom prst="ellipse">
            <a:avLst/>
          </a:prstGeom>
          <a:solidFill>
            <a:schemeClr val="accent1"/>
          </a:solidFill>
          <a:ln/>
        </p:spPr>
      </p:sp>
      <p:pic>
        <p:nvPicPr>
          <p:cNvPr id="17" name="icon Sparkles" descr="Sparkles">    </p:cNvPr>
          <p:cNvPicPr>
            <a:picLocks noChangeAspect="1"/>
          </p:cNvPicPr>
          <p:nvPr/>
        </p:nvPicPr>
        <p:blipFill>
          <a:blip r:embed="rId3"/>
          <a:stretch>
            <a:fillRect/>
          </a:stretch>
        </p:blipFill>
        <p:spPr>
          <a:xfrm>
            <a:off x="6589166" y="1742846"/>
            <a:ext cx="309067" cy="309067"/>
          </a:xfrm>
          <a:prstGeom prst="rect">
            <a:avLst/>
          </a:prstGeom>
        </p:spPr>
      </p:pic>
      <p:sp>
        <p:nvSpPr>
          <p:cNvPr id="18" name="Text 13"/>
          <p:cNvSpPr txBox="1"/>
          <p:nvPr/>
        </p:nvSpPr>
        <p:spPr>
          <a:xfrm>
            <a:off x="6446520" y="2286000"/>
            <a:ext cx="2194560" cy="365760"/>
          </a:xfrm>
          <a:prstGeom prst="rect">
            <a:avLst/>
          </a:prstGeom>
          <a:noFill/>
          <a:ln/>
        </p:spPr>
        <p:txBody>
          <a:bodyPr wrap="square" lIns="0" tIns="0" rIns="0" bIns="0" rtlCol="0" anchor="t"/>
          <a:lstStyle/>
          <a:p>
            <a:pPr indent="0" marL="0">
              <a:buNone/>
            </a:pPr>
            <a:r>
              <a:rPr lang="en-US" sz="1600" b="1" dirty="0">
                <a:solidFill>
                  <a:schemeClr val="tx2"/>
                </a:solidFill>
              </a:rPr>
              <a:t>Claude diễn đạt</a:t>
            </a:r>
            <a:endParaRPr lang="en-US" sz="1600" dirty="0"/>
          </a:p>
        </p:txBody>
      </p:sp>
      <p:sp>
        <p:nvSpPr>
          <p:cNvPr id="19" name="Text 14"/>
          <p:cNvSpPr txBox="1"/>
          <p:nvPr/>
        </p:nvSpPr>
        <p:spPr>
          <a:xfrm>
            <a:off x="6446520" y="2670048"/>
            <a:ext cx="2194560" cy="777240"/>
          </a:xfrm>
          <a:prstGeom prst="rect">
            <a:avLst/>
          </a:prstGeom>
          <a:noFill/>
          <a:ln/>
        </p:spPr>
        <p:txBody>
          <a:bodyPr wrap="square" lIns="0" tIns="0" rIns="0" bIns="0" rtlCol="0" anchor="t"/>
          <a:lstStyle/>
          <a:p>
            <a:pPr indent="0" marL="0">
              <a:buNone/>
            </a:pPr>
            <a:r>
              <a:rPr lang="en-US" sz="1300" dirty="0">
                <a:solidFill>
                  <a:schemeClr val="tx1"/>
                </a:solidFill>
              </a:rPr>
              <a:t>Giọng “Bé Sen”, chỉ dùng dữ liệu được cung cấp</a:t>
            </a:r>
            <a:endParaRPr lang="en-US" sz="1300" dirty="0"/>
          </a:p>
        </p:txBody>
      </p:sp>
      <p:sp>
        <p:nvSpPr>
          <p:cNvPr id="20" name="flow arrow 2"/>
          <p:cNvSpPr/>
          <p:nvPr/>
        </p:nvSpPr>
        <p:spPr>
          <a:xfrm>
            <a:off x="8805672" y="2331720"/>
            <a:ext cx="228600" cy="274320"/>
          </a:xfrm>
          <a:prstGeom prst="rightArrow">
            <a:avLst/>
          </a:prstGeom>
          <a:solidFill>
            <a:schemeClr val="accent2"/>
          </a:solidFill>
          <a:ln/>
        </p:spPr>
      </p:sp>
      <p:sp>
        <p:nvSpPr>
          <p:cNvPr id="21" name="flow 3"/>
          <p:cNvSpPr/>
          <p:nvPr/>
        </p:nvSpPr>
        <p:spPr>
          <a:xfrm>
            <a:off x="9052560" y="1371600"/>
            <a:ext cx="2560320" cy="2148840"/>
          </a:xfrm>
          <a:prstGeom prst="roundRect">
            <a:avLst>
              <a:gd name="adj" fmla="val 5106"/>
            </a:avLst>
          </a:prstGeom>
          <a:solidFill>
            <a:schemeClr val="bg2"/>
          </a:solidFill>
          <a:ln/>
        </p:spPr>
      </p:sp>
      <p:sp>
        <p:nvSpPr>
          <p:cNvPr id="22" name="icon bg LayoutGrid"/>
          <p:cNvSpPr/>
          <p:nvPr/>
        </p:nvSpPr>
        <p:spPr>
          <a:xfrm>
            <a:off x="9281160" y="1600200"/>
            <a:ext cx="594360" cy="594360"/>
          </a:xfrm>
          <a:prstGeom prst="ellipse">
            <a:avLst/>
          </a:prstGeom>
          <a:solidFill>
            <a:schemeClr val="accent1"/>
          </a:solidFill>
          <a:ln/>
        </p:spPr>
      </p:sp>
      <p:pic>
        <p:nvPicPr>
          <p:cNvPr id="23" name="icon LayoutGrid" descr="LayoutGrid">    </p:cNvPr>
          <p:cNvPicPr>
            <a:picLocks noChangeAspect="1"/>
          </p:cNvPicPr>
          <p:nvPr/>
        </p:nvPicPr>
        <p:blipFill>
          <a:blip r:embed="rId4"/>
          <a:stretch>
            <a:fillRect/>
          </a:stretch>
        </p:blipFill>
        <p:spPr>
          <a:xfrm>
            <a:off x="9423806" y="1742846"/>
            <a:ext cx="309067" cy="309067"/>
          </a:xfrm>
          <a:prstGeom prst="rect">
            <a:avLst/>
          </a:prstGeom>
        </p:spPr>
      </p:pic>
      <p:sp>
        <p:nvSpPr>
          <p:cNvPr id="24" name="Text 18"/>
          <p:cNvSpPr txBox="1"/>
          <p:nvPr/>
        </p:nvSpPr>
        <p:spPr>
          <a:xfrm>
            <a:off x="9281160" y="2286000"/>
            <a:ext cx="2194560" cy="365760"/>
          </a:xfrm>
          <a:prstGeom prst="rect">
            <a:avLst/>
          </a:prstGeom>
          <a:noFill/>
          <a:ln/>
        </p:spPr>
        <p:txBody>
          <a:bodyPr wrap="square" lIns="0" tIns="0" rIns="0" bIns="0" rtlCol="0" anchor="t"/>
          <a:lstStyle/>
          <a:p>
            <a:pPr indent="0" marL="0">
              <a:buNone/>
            </a:pPr>
            <a:r>
              <a:rPr lang="en-US" sz="1600" b="1" dirty="0">
                <a:solidFill>
                  <a:schemeClr val="tx2"/>
                </a:solidFill>
              </a:rPr>
              <a:t>Ghép kết quả</a:t>
            </a:r>
            <a:endParaRPr lang="en-US" sz="1600" dirty="0"/>
          </a:p>
        </p:txBody>
      </p:sp>
      <p:sp>
        <p:nvSpPr>
          <p:cNvPr id="25" name="Text 19"/>
          <p:cNvSpPr txBox="1"/>
          <p:nvPr/>
        </p:nvSpPr>
        <p:spPr>
          <a:xfrm>
            <a:off x="9281160" y="2670048"/>
            <a:ext cx="2194560" cy="777240"/>
          </a:xfrm>
          <a:prstGeom prst="rect">
            <a:avLst/>
          </a:prstGeom>
          <a:noFill/>
          <a:ln/>
        </p:spPr>
        <p:txBody>
          <a:bodyPr wrap="square" lIns="0" tIns="0" rIns="0" bIns="0" rtlCol="0" anchor="t"/>
          <a:lstStyle/>
          <a:p>
            <a:pPr indent="0" marL="0">
              <a:buNone/>
            </a:pPr>
            <a:r>
              <a:rPr lang="en-US" sz="1300" dirty="0">
                <a:solidFill>
                  <a:schemeClr val="tx1"/>
                </a:solidFill>
              </a:rPr>
              <a:t>Thẻ SP &amp; nút trả lời nhanh vẫn do luật tạo</a:t>
            </a:r>
            <a:endParaRPr lang="en-US" sz="1300" dirty="0"/>
          </a:p>
        </p:txBody>
      </p:sp>
      <p:sp>
        <p:nvSpPr>
          <p:cNvPr id="26" name="ai code"/>
          <p:cNvSpPr/>
          <p:nvPr/>
        </p:nvSpPr>
        <p:spPr>
          <a:xfrm>
            <a:off x="548640" y="3794760"/>
            <a:ext cx="6035040" cy="2377440"/>
          </a:xfrm>
          <a:prstGeom prst="roundRect">
            <a:avLst>
              <a:gd name="adj" fmla="val 3846"/>
            </a:avLst>
          </a:prstGeom>
          <a:solidFill>
            <a:srgbClr val="F3F5F4"/>
          </a:solidFill>
          <a:ln w="9525">
            <a:solidFill>
              <a:srgbClr val="E3E8E4"/>
            </a:solidFill>
            <a:prstDash val="solid"/>
          </a:ln>
        </p:spPr>
      </p:sp>
      <p:sp>
        <p:nvSpPr>
          <p:cNvPr id="27" name="Text 21"/>
          <p:cNvSpPr txBox="1"/>
          <p:nvPr/>
        </p:nvSpPr>
        <p:spPr>
          <a:xfrm>
            <a:off x="731520" y="3886200"/>
            <a:ext cx="5760720" cy="2194560"/>
          </a:xfrm>
          <a:prstGeom prst="rect">
            <a:avLst/>
          </a:prstGeom>
          <a:noFill/>
          <a:ln/>
        </p:spPr>
        <p:txBody>
          <a:bodyPr wrap="square" lIns="0" tIns="0" rIns="0" bIns="0" rtlCol="0" anchor="ctr"/>
          <a:lstStyle/>
          <a:p>
            <a:pPr indent="0" marL="0">
              <a:buNone/>
            </a:pPr>
            <a:r>
              <a:rPr lang="en-US" sz="1300" dirty="0">
                <a:solidFill>
                  <a:schemeClr val="tx1"/>
                </a:solidFill>
                <a:latin typeface="Consolas" pitchFamily="34" charset="0"/>
                <a:ea typeface="Consolas" pitchFamily="34" charset="-122"/>
                <a:cs typeface="Consolas" pitchFamily="34" charset="-120"/>
              </a:rPr>
              <a:t>client.beta.messages.create({</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model: "claude-opus-5-5",</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output_config: { effort: "low"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system: [{ type: "text", text: system,</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cache_control: { type: "ephemeral" }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  fallbacks: "default", ...</a:t>
            </a:r>
            <a:endParaRPr lang="en-US" sz="1300" dirty="0"/>
          </a:p>
          <a:p>
            <a:pPr indent="0" marL="0">
              <a:buNone/>
            </a:pPr>
            <a:r>
              <a:rPr lang="en-US" sz="1300" dirty="0">
                <a:solidFill>
                  <a:schemeClr val="tx1"/>
                </a:solidFill>
                <a:latin typeface="Consolas" pitchFamily="34" charset="0"/>
                <a:ea typeface="Consolas" pitchFamily="34" charset="-122"/>
                <a:cs typeface="Consolas" pitchFamily="34" charset="-120"/>
              </a:rPr>
              <a:t>})</a:t>
            </a:r>
            <a:endParaRPr lang="en-US" sz="1300" dirty="0"/>
          </a:p>
        </p:txBody>
      </p:sp>
      <p:sp>
        <p:nvSpPr>
          <p:cNvPr id="28" name="Text 22"/>
          <p:cNvSpPr txBox="1"/>
          <p:nvPr/>
        </p:nvSpPr>
        <p:spPr>
          <a:xfrm>
            <a:off x="6858000" y="3840480"/>
            <a:ext cx="4800600" cy="233172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1"/>
                </a:solidFill>
              </a:rPr>
              <a:t>Prompt caching: thông tin shop dùng lại giữa các lượt</a:t>
            </a:r>
            <a:endParaRPr lang="en-US" sz="1500" dirty="0"/>
          </a:p>
          <a:p>
            <a:pPr marL="203200" indent="-203200">
              <a:spcAft>
                <a:spcPts val="1000"/>
              </a:spcAft>
              <a:buSzPct val="100000"/>
              <a:buChar char="•"/>
            </a:pPr>
            <a:r>
              <a:rPr lang="en-US" sz="1500" dirty="0">
                <a:solidFill>
                  <a:schemeClr val="tx1"/>
                </a:solidFill>
              </a:rPr>
              <a:t>Effort low: phản hồi nhanh, ít token</a:t>
            </a:r>
            <a:endParaRPr lang="en-US" sz="1500" dirty="0"/>
          </a:p>
          <a:p>
            <a:pPr marL="203200" indent="-203200">
              <a:spcAft>
                <a:spcPts val="1000"/>
              </a:spcAft>
              <a:buSzPct val="100000"/>
              <a:buChar char="•"/>
            </a:pPr>
            <a:r>
              <a:rPr lang="en-US" sz="1500" dirty="0">
                <a:solidFill>
                  <a:schemeClr val="tx1"/>
                </a:solidFill>
              </a:rPr>
              <a:t>Lỗi mạng, hết hạn mức, thiếu khóa → quay về câu của luật</a:t>
            </a:r>
            <a:endParaRPr lang="en-US" sz="1500" dirty="0"/>
          </a:p>
          <a:p>
            <a:pPr marL="203200" indent="-203200">
              <a:spcAft>
                <a:spcPts val="1000"/>
              </a:spcAft>
              <a:buSzPct val="100000"/>
              <a:buChar char="•"/>
            </a:pPr>
            <a:r>
              <a:rPr lang="en-US" sz="1500" dirty="0">
                <a:solidFill>
                  <a:schemeClr val="tx1"/>
                </a:solidFill>
              </a:rPr>
              <a:t>Chỉ gửi dữ liệu công khai; đơn hàng chỉ khi đã xác minh</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Admin dạy Bé Sen thông minh hơn mỗi ngày</a:t>
            </a:r>
            <a:endParaRPr lang="en-US" sz="3000" dirty="0"/>
          </a:p>
        </p:txBody>
      </p:sp>
      <p:sp>
        <p:nvSpPr>
          <p:cNvPr id="3" name="frame a13-chatbot-stats.png"/>
          <p:cNvSpPr/>
          <p:nvPr/>
        </p:nvSpPr>
        <p:spPr>
          <a:xfrm>
            <a:off x="548640" y="1325880"/>
            <a:ext cx="5852160" cy="3749040"/>
          </a:xfrm>
          <a:prstGeom prst="roundRect">
            <a:avLst>
              <a:gd name="adj" fmla="val 2927"/>
            </a:avLst>
          </a:prstGeom>
          <a:solidFill>
            <a:srgbClr val="FFFFFF"/>
          </a:solidFill>
          <a:ln w="9525">
            <a:solidFill>
              <a:srgbClr val="E3E8E4"/>
            </a:solidFill>
            <a:prstDash val="solid"/>
          </a:ln>
          <a:effectLst>
            <a:outerShdw sx="100000" sy="100000" kx="0" ky="0" algn="bl" rotWithShape="0" blurRad="127000" dist="38100" dir="5400000">
              <a:srgbClr val="1F3D26">
                <a:alpha val="18000"/>
              </a:srgbClr>
            </a:outerShdw>
          </a:effectLst>
        </p:spPr>
      </p:sp>
      <p:pic>
        <p:nvPicPr>
          <p:cNvPr id="4" name="a13-chatbot-stats.png" descr="Thống kê: tỉ lệ hiểu, chủ đề, câu chưa hiểu">    </p:cNvPr>
          <p:cNvPicPr>
            <a:picLocks noChangeAspect="1"/>
          </p:cNvPicPr>
          <p:nvPr/>
        </p:nvPicPr>
        <p:blipFill>
          <a:blip r:embed="rId1"/>
          <a:stretch>
            <a:fillRect/>
          </a:stretch>
        </p:blipFill>
        <p:spPr>
          <a:xfrm>
            <a:off x="877824" y="1417320"/>
            <a:ext cx="5193792" cy="3246120"/>
          </a:xfrm>
          <a:prstGeom prst="rect">
            <a:avLst/>
          </a:prstGeom>
        </p:spPr>
      </p:pic>
      <p:sp>
        <p:nvSpPr>
          <p:cNvPr id="5" name="Text 2"/>
          <p:cNvSpPr txBox="1"/>
          <p:nvPr/>
        </p:nvSpPr>
        <p:spPr>
          <a:xfrm>
            <a:off x="640080" y="4709160"/>
            <a:ext cx="5669280" cy="320040"/>
          </a:xfrm>
          <a:prstGeom prst="rect">
            <a:avLst/>
          </a:prstGeom>
          <a:noFill/>
          <a:ln/>
        </p:spPr>
        <p:txBody>
          <a:bodyPr wrap="square" lIns="0" tIns="0" rIns="0" bIns="0" rtlCol="0" anchor="ctr"/>
          <a:lstStyle/>
          <a:p>
            <a:pPr algn="ctr" indent="0" marL="0">
              <a:buNone/>
            </a:pPr>
            <a:r>
              <a:rPr lang="en-US" sz="1100" i="1" dirty="0">
                <a:solidFill>
                  <a:schemeClr val="tx1"/>
                </a:solidFill>
              </a:rPr>
              <a:t>Thống kê: tỉ lệ hiểu, chủ đề, câu chưa hiểu</a:t>
            </a:r>
            <a:endParaRPr lang="en-US" sz="1100" dirty="0"/>
          </a:p>
        </p:txBody>
      </p:sp>
      <p:sp>
        <p:nvSpPr>
          <p:cNvPr id="6" name="stat ca kiểm thử đạt"/>
          <p:cNvSpPr/>
          <p:nvPr/>
        </p:nvSpPr>
        <p:spPr>
          <a:xfrm>
            <a:off x="6675120" y="1325880"/>
            <a:ext cx="2331720" cy="1188720"/>
          </a:xfrm>
          <a:prstGeom prst="roundRect">
            <a:avLst>
              <a:gd name="adj" fmla="val 9231"/>
            </a:avLst>
          </a:prstGeom>
          <a:solidFill>
            <a:schemeClr val="accent1"/>
          </a:solidFill>
          <a:ln/>
        </p:spPr>
      </p:sp>
      <p:sp>
        <p:nvSpPr>
          <p:cNvPr id="7" name="Text 4"/>
          <p:cNvSpPr txBox="1"/>
          <p:nvPr/>
        </p:nvSpPr>
        <p:spPr>
          <a:xfrm>
            <a:off x="6675120" y="1435608"/>
            <a:ext cx="2331720" cy="640080"/>
          </a:xfrm>
          <a:prstGeom prst="rect">
            <a:avLst/>
          </a:prstGeom>
          <a:noFill/>
          <a:ln/>
        </p:spPr>
        <p:txBody>
          <a:bodyPr wrap="square" lIns="0" tIns="0" rIns="0" bIns="0" rtlCol="0" anchor="ctr"/>
          <a:lstStyle/>
          <a:p>
            <a:pPr algn="ctr" indent="0" marL="0">
              <a:buNone/>
            </a:pPr>
            <a:r>
              <a:rPr lang="en-US" sz="3200" b="1" dirty="0">
                <a:solidFill>
                  <a:schemeClr val="bg1"/>
                </a:solidFill>
                <a:latin typeface="Cambria" pitchFamily="34" charset="0"/>
                <a:ea typeface="Cambria" pitchFamily="34" charset="-122"/>
                <a:cs typeface="Cambria" pitchFamily="34" charset="-120"/>
              </a:rPr>
              <a:t>46/46</a:t>
            </a:r>
            <a:endParaRPr lang="en-US" sz="3200" dirty="0"/>
          </a:p>
        </p:txBody>
      </p:sp>
      <p:sp>
        <p:nvSpPr>
          <p:cNvPr id="8" name="Text 5"/>
          <p:cNvSpPr txBox="1"/>
          <p:nvPr/>
        </p:nvSpPr>
        <p:spPr>
          <a:xfrm>
            <a:off x="6675120" y="2075688"/>
            <a:ext cx="2331720" cy="320040"/>
          </a:xfrm>
          <a:prstGeom prst="rect">
            <a:avLst/>
          </a:prstGeom>
          <a:noFill/>
          <a:ln/>
        </p:spPr>
        <p:txBody>
          <a:bodyPr wrap="square" lIns="0" tIns="0" rIns="0" bIns="0" rtlCol="0" anchor="t"/>
          <a:lstStyle/>
          <a:p>
            <a:pPr algn="ctr" indent="0" marL="0">
              <a:buNone/>
            </a:pPr>
            <a:r>
              <a:rPr lang="en-US" sz="1300" dirty="0">
                <a:solidFill>
                  <a:schemeClr val="accent3"/>
                </a:solidFill>
              </a:rPr>
              <a:t>ca kiểm thử đạt</a:t>
            </a:r>
            <a:endParaRPr lang="en-US" sz="1300" dirty="0"/>
          </a:p>
        </p:txBody>
      </p:sp>
      <p:sp>
        <p:nvSpPr>
          <p:cNvPr id="9" name="stat câu FAQ"/>
          <p:cNvSpPr/>
          <p:nvPr/>
        </p:nvSpPr>
        <p:spPr>
          <a:xfrm>
            <a:off x="9189720" y="1325880"/>
            <a:ext cx="2331720" cy="1188720"/>
          </a:xfrm>
          <a:prstGeom prst="roundRect">
            <a:avLst>
              <a:gd name="adj" fmla="val 9231"/>
            </a:avLst>
          </a:prstGeom>
          <a:solidFill>
            <a:schemeClr val="bg2"/>
          </a:solidFill>
          <a:ln/>
        </p:spPr>
      </p:sp>
      <p:sp>
        <p:nvSpPr>
          <p:cNvPr id="10" name="Text 7"/>
          <p:cNvSpPr txBox="1"/>
          <p:nvPr/>
        </p:nvSpPr>
        <p:spPr>
          <a:xfrm>
            <a:off x="9189720" y="1435608"/>
            <a:ext cx="2331720" cy="64008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25</a:t>
            </a:r>
            <a:endParaRPr lang="en-US" sz="3200" dirty="0"/>
          </a:p>
        </p:txBody>
      </p:sp>
      <p:sp>
        <p:nvSpPr>
          <p:cNvPr id="11" name="Text 8"/>
          <p:cNvSpPr txBox="1"/>
          <p:nvPr/>
        </p:nvSpPr>
        <p:spPr>
          <a:xfrm>
            <a:off x="9189720" y="2075688"/>
            <a:ext cx="2331720" cy="320040"/>
          </a:xfrm>
          <a:prstGeom prst="rect">
            <a:avLst/>
          </a:prstGeom>
          <a:noFill/>
          <a:ln/>
        </p:spPr>
        <p:txBody>
          <a:bodyPr wrap="square" lIns="0" tIns="0" rIns="0" bIns="0" rtlCol="0" anchor="t"/>
          <a:lstStyle/>
          <a:p>
            <a:pPr algn="ctr" indent="0" marL="0">
              <a:buNone/>
            </a:pPr>
            <a:r>
              <a:rPr lang="en-US" sz="1300" dirty="0">
                <a:solidFill>
                  <a:schemeClr val="tx1"/>
                </a:solidFill>
              </a:rPr>
              <a:t>câu FAQ</a:t>
            </a:r>
            <a:endParaRPr lang="en-US" sz="1300" dirty="0"/>
          </a:p>
        </p:txBody>
      </p:sp>
      <p:sp>
        <p:nvSpPr>
          <p:cNvPr id="12" name="stat chủ đề dữ liệu thật"/>
          <p:cNvSpPr/>
          <p:nvPr/>
        </p:nvSpPr>
        <p:spPr>
          <a:xfrm>
            <a:off x="6675120" y="2651760"/>
            <a:ext cx="2331720" cy="1188720"/>
          </a:xfrm>
          <a:prstGeom prst="roundRect">
            <a:avLst>
              <a:gd name="adj" fmla="val 9231"/>
            </a:avLst>
          </a:prstGeom>
          <a:solidFill>
            <a:schemeClr val="bg2"/>
          </a:solidFill>
          <a:ln/>
        </p:spPr>
      </p:sp>
      <p:sp>
        <p:nvSpPr>
          <p:cNvPr id="13" name="Text 10"/>
          <p:cNvSpPr txBox="1"/>
          <p:nvPr/>
        </p:nvSpPr>
        <p:spPr>
          <a:xfrm>
            <a:off x="6675120" y="2761488"/>
            <a:ext cx="2331720" cy="64008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12</a:t>
            </a:r>
            <a:endParaRPr lang="en-US" sz="3200" dirty="0"/>
          </a:p>
        </p:txBody>
      </p:sp>
      <p:sp>
        <p:nvSpPr>
          <p:cNvPr id="14" name="Text 11"/>
          <p:cNvSpPr txBox="1"/>
          <p:nvPr/>
        </p:nvSpPr>
        <p:spPr>
          <a:xfrm>
            <a:off x="6675120" y="3401568"/>
            <a:ext cx="2331720" cy="320040"/>
          </a:xfrm>
          <a:prstGeom prst="rect">
            <a:avLst/>
          </a:prstGeom>
          <a:noFill/>
          <a:ln/>
        </p:spPr>
        <p:txBody>
          <a:bodyPr wrap="square" lIns="0" tIns="0" rIns="0" bIns="0" rtlCol="0" anchor="t"/>
          <a:lstStyle/>
          <a:p>
            <a:pPr algn="ctr" indent="0" marL="0">
              <a:buNone/>
            </a:pPr>
            <a:r>
              <a:rPr lang="en-US" sz="1300" dirty="0">
                <a:solidFill>
                  <a:schemeClr val="tx1"/>
                </a:solidFill>
              </a:rPr>
              <a:t>chủ đề dữ liệu thật</a:t>
            </a:r>
            <a:endParaRPr lang="en-US" sz="1300" dirty="0"/>
          </a:p>
        </p:txBody>
      </p:sp>
      <p:sp>
        <p:nvSpPr>
          <p:cNvPr id="15" name="stat đặc điểm tư vấn"/>
          <p:cNvSpPr/>
          <p:nvPr/>
        </p:nvSpPr>
        <p:spPr>
          <a:xfrm>
            <a:off x="9189720" y="2651760"/>
            <a:ext cx="2331720" cy="1188720"/>
          </a:xfrm>
          <a:prstGeom prst="roundRect">
            <a:avLst>
              <a:gd name="adj" fmla="val 9231"/>
            </a:avLst>
          </a:prstGeom>
          <a:solidFill>
            <a:schemeClr val="bg2"/>
          </a:solidFill>
          <a:ln/>
        </p:spPr>
      </p:sp>
      <p:sp>
        <p:nvSpPr>
          <p:cNvPr id="16" name="Text 13"/>
          <p:cNvSpPr txBox="1"/>
          <p:nvPr/>
        </p:nvSpPr>
        <p:spPr>
          <a:xfrm>
            <a:off x="9189720" y="2761488"/>
            <a:ext cx="2331720" cy="64008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11</a:t>
            </a:r>
            <a:endParaRPr lang="en-US" sz="3200" dirty="0"/>
          </a:p>
        </p:txBody>
      </p:sp>
      <p:sp>
        <p:nvSpPr>
          <p:cNvPr id="17" name="Text 14"/>
          <p:cNvSpPr txBox="1"/>
          <p:nvPr/>
        </p:nvSpPr>
        <p:spPr>
          <a:xfrm>
            <a:off x="9189720" y="3401568"/>
            <a:ext cx="2331720" cy="320040"/>
          </a:xfrm>
          <a:prstGeom prst="rect">
            <a:avLst/>
          </a:prstGeom>
          <a:noFill/>
          <a:ln/>
        </p:spPr>
        <p:txBody>
          <a:bodyPr wrap="square" lIns="0" tIns="0" rIns="0" bIns="0" rtlCol="0" anchor="t"/>
          <a:lstStyle/>
          <a:p>
            <a:pPr algn="ctr" indent="0" marL="0">
              <a:buNone/>
            </a:pPr>
            <a:r>
              <a:rPr lang="en-US" sz="1300" dirty="0">
                <a:solidFill>
                  <a:schemeClr val="tx1"/>
                </a:solidFill>
              </a:rPr>
              <a:t>đặc điểm tư vấn</a:t>
            </a:r>
            <a:endParaRPr lang="en-US" sz="1300" dirty="0"/>
          </a:p>
        </p:txBody>
      </p:sp>
      <p:sp>
        <p:nvSpPr>
          <p:cNvPr id="18" name="Text 15"/>
          <p:cNvSpPr txBox="1"/>
          <p:nvPr/>
        </p:nvSpPr>
        <p:spPr>
          <a:xfrm>
            <a:off x="6675120" y="4114800"/>
            <a:ext cx="4937760" cy="365760"/>
          </a:xfrm>
          <a:prstGeom prst="rect">
            <a:avLst/>
          </a:prstGeom>
          <a:noFill/>
          <a:ln/>
        </p:spPr>
        <p:txBody>
          <a:bodyPr wrap="square" lIns="0" tIns="0" rIns="0" bIns="0" rtlCol="0" anchor="t"/>
          <a:lstStyle/>
          <a:p>
            <a:pPr indent="0" marL="0">
              <a:buNone/>
            </a:pPr>
            <a:r>
              <a:rPr lang="en-US" sz="1700" b="1" dirty="0">
                <a:solidFill>
                  <a:schemeClr val="tx2"/>
                </a:solidFill>
              </a:rPr>
              <a:t>Vòng lặp cải tiến</a:t>
            </a:r>
            <a:endParaRPr lang="en-US" sz="1700" dirty="0"/>
          </a:p>
        </p:txBody>
      </p:sp>
      <p:sp>
        <p:nvSpPr>
          <p:cNvPr id="19" name="Text 16"/>
          <p:cNvSpPr txBox="1"/>
          <p:nvPr/>
        </p:nvSpPr>
        <p:spPr>
          <a:xfrm>
            <a:off x="6675120" y="4526280"/>
            <a:ext cx="4983480" cy="1463040"/>
          </a:xfrm>
          <a:prstGeom prst="rect">
            <a:avLst/>
          </a:prstGeom>
          <a:noFill/>
          <a:ln/>
        </p:spPr>
        <p:txBody>
          <a:bodyPr wrap="square" lIns="0" tIns="0" rIns="0" bIns="0" rtlCol="0" anchor="t"/>
          <a:lstStyle/>
          <a:p>
            <a:pPr indent="0" marL="0">
              <a:buNone/>
            </a:pPr>
            <a:r>
              <a:rPr lang="en-US" sz="1400" dirty="0">
                <a:solidFill>
                  <a:schemeClr val="tx1"/>
                </a:solidFill>
              </a:rPr>
              <a:t>Khách hỏi câu lạ → bot đánh dấu “Cần xem” → admin bấm </a:t>
            </a:r>
            <a:pPr indent="0" marL="0">
              <a:buNone/>
            </a:pPr>
            <a:r>
              <a:rPr lang="en-US" sz="1400" b="1" dirty="0">
                <a:solidFill>
                  <a:schemeClr val="accent1"/>
                </a:solidFill>
              </a:rPr>
              <a:t>Thêm kiến thức</a:t>
            </a:r>
            <a:pPr indent="0" marL="0">
              <a:buNone/>
            </a:pPr>
            <a:r>
              <a:rPr lang="en-US" sz="1400" dirty="0">
                <a:solidFill>
                  <a:schemeClr val="tx1"/>
                </a:solidFill>
              </a:rPr>
              <a:t> → thử ngay trong khung Thử chatbot → lưu. Không cần lập trình, không cần khởi động lại.</a:t>
            </a:r>
            <a:endParaRPr lang="en-US" sz="1400" dirty="0"/>
          </a:p>
        </p:txBody>
      </p:sp>
      <p:sp>
        <p:nvSpPr>
          <p:cNvPr id="20" name="Text 17"/>
          <p:cNvSpPr txBox="1"/>
          <p:nvPr/>
        </p:nvSpPr>
        <p:spPr>
          <a:xfrm>
            <a:off x="548640" y="5257800"/>
            <a:ext cx="5852160" cy="822960"/>
          </a:xfrm>
          <a:prstGeom prst="rect">
            <a:avLst/>
          </a:prstGeom>
          <a:noFill/>
          <a:ln/>
        </p:spPr>
        <p:txBody>
          <a:bodyPr wrap="square" lIns="0" tIns="0" rIns="0" bIns="0" rtlCol="0" anchor="t"/>
          <a:lstStyle/>
          <a:p>
            <a:pPr indent="0" marL="0">
              <a:buNone/>
            </a:pPr>
            <a:r>
              <a:rPr lang="en-US" sz="1300" i="1" dirty="0">
                <a:solidFill>
                  <a:schemeClr val="accent4"/>
                </a:solidFill>
              </a:rPr>
              <a:t>Kiểm thử phát hiện: “dưới 50k” bị hiểu là “Đuôi Lừa”, “quà cưới 50 chậu” bị hiểu là 50.000đ → đã sửa</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822960" y="1280160"/>
            <a:ext cx="2743200" cy="1371600"/>
          </a:xfrm>
          <a:prstGeom prst="rect">
            <a:avLst/>
          </a:prstGeom>
          <a:noFill/>
          <a:ln/>
        </p:spPr>
        <p:txBody>
          <a:bodyPr wrap="square" lIns="0" tIns="0" rIns="0" bIns="0" rtlCol="0" anchor="ctr"/>
          <a:lstStyle/>
          <a:p>
            <a:pPr indent="0" marL="0">
              <a:buNone/>
            </a:pPr>
            <a:r>
              <a:rPr lang="en-US" sz="9600" b="1" dirty="0">
                <a:solidFill>
                  <a:schemeClr val="accent2"/>
                </a:solidFill>
                <a:latin typeface="Cambria" pitchFamily="34" charset="0"/>
                <a:ea typeface="Cambria" pitchFamily="34" charset="-122"/>
                <a:cs typeface="Cambria" pitchFamily="34" charset="-120"/>
              </a:rPr>
              <a:t>03</a:t>
            </a:r>
            <a:endParaRPr lang="en-US" sz="9600" dirty="0"/>
          </a:p>
        </p:txBody>
      </p:sp>
      <p:sp>
        <p:nvSpPr>
          <p:cNvPr id="3" name="Text 0"/>
          <p:cNvSpPr/>
          <p:nvPr>
            <p:ph idx="100" type="title" hasCustomPrompt="1"/>
          </p:nvPr>
        </p:nvSpPr>
        <p:spPr>
          <a:xfrm>
            <a:off x="822960" y="2743200"/>
            <a:ext cx="7498080" cy="118872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Kết quả &amp; đánh giá</a:t>
            </a:r>
            <a:endParaRPr lang="en-US" sz="4400" dirty="0"/>
          </a:p>
        </p:txBody>
      </p:sp>
      <p:sp>
        <p:nvSpPr>
          <p:cNvPr id="4" name="Text 0"/>
          <p:cNvSpPr/>
          <p:nvPr>
            <p:ph idx="101" type="body" hasCustomPrompt="1"/>
          </p:nvPr>
        </p:nvSpPr>
        <p:spPr>
          <a:xfrm>
            <a:off x="822960" y="3977640"/>
            <a:ext cx="7498080" cy="1097280"/>
          </a:xfrm>
          <a:prstGeom prst="rect">
            <a:avLst/>
          </a:prstGeom>
          <a:noFill/>
          <a:ln/>
        </p:spPr>
        <p:txBody>
          <a:bodyPr wrap="square" lIns="0" tIns="0" rIns="0" bIns="0" rtlCol="0" anchor="t"/>
          <a:lstStyle/>
          <a:p>
            <a:pPr algn="l" indent="0" marL="0">
              <a:buNone/>
            </a:pPr>
            <a:r>
              <a:rPr lang="en-US" sz="1800" dirty="0">
                <a:solidFill>
                  <a:schemeClr val="accent3"/>
                </a:solidFill>
              </a:rPr>
              <a:t>Bảo mật · hiệu năng · kiểm thử · dữ liệu mua hàng mẫu</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Nhanh, an toàn và đã kiểm thử</a:t>
            </a:r>
            <a:endParaRPr lang="en-US" sz="3000" dirty="0"/>
          </a:p>
        </p:txBody>
      </p:sp>
      <p:sp>
        <p:nvSpPr>
          <p:cNvPr id="3" name="Text 1"/>
          <p:cNvSpPr txBox="1"/>
          <p:nvPr/>
        </p:nvSpPr>
        <p:spPr>
          <a:xfrm>
            <a:off x="548640" y="1325880"/>
            <a:ext cx="5486400" cy="365760"/>
          </a:xfrm>
          <a:prstGeom prst="rect">
            <a:avLst/>
          </a:prstGeom>
          <a:noFill/>
          <a:ln/>
        </p:spPr>
        <p:txBody>
          <a:bodyPr wrap="square" lIns="0" tIns="0" rIns="0" bIns="0" rtlCol="0" anchor="t"/>
          <a:lstStyle/>
          <a:p>
            <a:pPr indent="0" marL="0">
              <a:buNone/>
            </a:pPr>
            <a:r>
              <a:rPr lang="en-US" sz="1800" b="1" dirty="0">
                <a:solidFill>
                  <a:schemeClr val="tx2"/>
                </a:solidFill>
              </a:rPr>
              <a:t>Thời gian chuyển trang (production)</a:t>
            </a:r>
            <a:endParaRPr lang="en-US" sz="1800" dirty="0"/>
          </a:p>
        </p:txBody>
      </p:sp>
      <p:graphicFrame>
        <p:nvGraphicFramePr>
          <p:cNvPr id="4" name="Chart 0" descr=""/>
          <p:cNvGraphicFramePr/>
          <p:nvPr/>
        </p:nvGraphicFramePr>
        <p:xfrm>
          <a:off x="548640" y="1737360"/>
          <a:ext cx="5577840" cy="31089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4937760"/>
            <a:ext cx="5577840" cy="548640"/>
          </a:xfrm>
          <a:prstGeom prst="rect">
            <a:avLst/>
          </a:prstGeom>
          <a:noFill/>
          <a:ln/>
        </p:spPr>
        <p:txBody>
          <a:bodyPr wrap="square" lIns="0" tIns="0" rIns="0" bIns="0" rtlCol="0" anchor="t"/>
          <a:lstStyle/>
          <a:p>
            <a:pPr indent="0" marL="0">
              <a:buNone/>
            </a:pPr>
            <a:r>
              <a:rPr lang="en-US" sz="1400" i="1" dirty="0">
                <a:solidFill>
                  <a:schemeClr val="accent1"/>
                </a:solidFill>
              </a:rPr>
              <a:t>Bỏ loading.tsx (React điều tiết ~300 ms) + ISR → nhanh gấp 7–8 lần</a:t>
            </a:r>
            <a:endParaRPr lang="en-US" sz="1400" dirty="0"/>
          </a:p>
        </p:txBody>
      </p:sp>
      <p:sp>
        <p:nvSpPr>
          <p:cNvPr id="6" name="Text 3"/>
          <p:cNvSpPr txBox="1"/>
          <p:nvPr/>
        </p:nvSpPr>
        <p:spPr>
          <a:xfrm>
            <a:off x="6492240" y="1325880"/>
            <a:ext cx="5120640" cy="365760"/>
          </a:xfrm>
          <a:prstGeom prst="rect">
            <a:avLst/>
          </a:prstGeom>
          <a:noFill/>
          <a:ln/>
        </p:spPr>
        <p:txBody>
          <a:bodyPr wrap="square" lIns="0" tIns="0" rIns="0" bIns="0" rtlCol="0" anchor="t"/>
          <a:lstStyle/>
          <a:p>
            <a:pPr indent="0" marL="0">
              <a:buNone/>
            </a:pPr>
            <a:r>
              <a:rPr lang="en-US" sz="1800" b="1" dirty="0">
                <a:solidFill>
                  <a:schemeClr val="tx2"/>
                </a:solidFill>
              </a:rPr>
              <a:t>Bảo mật theo OWASP</a:t>
            </a:r>
            <a:endParaRPr lang="en-US" sz="1800" dirty="0"/>
          </a:p>
        </p:txBody>
      </p:sp>
      <p:sp>
        <p:nvSpPr>
          <p:cNvPr id="7" name="icon bg Lock"/>
          <p:cNvSpPr/>
          <p:nvPr/>
        </p:nvSpPr>
        <p:spPr>
          <a:xfrm>
            <a:off x="6492240" y="1810512"/>
            <a:ext cx="502920" cy="502920"/>
          </a:xfrm>
          <a:prstGeom prst="ellipse">
            <a:avLst/>
          </a:prstGeom>
          <a:solidFill>
            <a:schemeClr val="accent1"/>
          </a:solidFill>
          <a:ln/>
        </p:spPr>
      </p:sp>
      <p:pic>
        <p:nvPicPr>
          <p:cNvPr id="8" name="icon Lock" descr="Lock">    </p:cNvPr>
          <p:cNvPicPr>
            <a:picLocks noChangeAspect="1"/>
          </p:cNvPicPr>
          <p:nvPr/>
        </p:nvPicPr>
        <p:blipFill>
          <a:blip r:embed="rId2"/>
          <a:stretch>
            <a:fillRect/>
          </a:stretch>
        </p:blipFill>
        <p:spPr>
          <a:xfrm>
            <a:off x="6612941" y="1931213"/>
            <a:ext cx="261518" cy="261518"/>
          </a:xfrm>
          <a:prstGeom prst="rect">
            <a:avLst/>
          </a:prstGeom>
        </p:spPr>
      </p:pic>
      <p:sp>
        <p:nvSpPr>
          <p:cNvPr id="9" name="Text 5"/>
          <p:cNvSpPr txBox="1"/>
          <p:nvPr/>
        </p:nvSpPr>
        <p:spPr>
          <a:xfrm>
            <a:off x="7178040" y="1810512"/>
            <a:ext cx="4480560" cy="502920"/>
          </a:xfrm>
          <a:prstGeom prst="rect">
            <a:avLst/>
          </a:prstGeom>
          <a:noFill/>
          <a:ln/>
        </p:spPr>
        <p:txBody>
          <a:bodyPr wrap="square" lIns="0" tIns="0" rIns="0" bIns="0" rtlCol="0" anchor="ctr"/>
          <a:lstStyle/>
          <a:p>
            <a:pPr indent="0" marL="0">
              <a:buNone/>
            </a:pPr>
            <a:r>
              <a:rPr lang="en-US" sz="1400" dirty="0">
                <a:solidFill>
                  <a:schemeClr val="tx1"/>
                </a:solidFill>
              </a:rPr>
              <a:t>bcrypt + JWT HttpOnly, khóa sau 5 lần sai</a:t>
            </a:r>
            <a:endParaRPr lang="en-US" sz="1400" dirty="0"/>
          </a:p>
        </p:txBody>
      </p:sp>
      <p:sp>
        <p:nvSpPr>
          <p:cNvPr id="10" name="icon bg ShieldCheck"/>
          <p:cNvSpPr/>
          <p:nvPr/>
        </p:nvSpPr>
        <p:spPr>
          <a:xfrm>
            <a:off x="6492240" y="2496312"/>
            <a:ext cx="502920" cy="502920"/>
          </a:xfrm>
          <a:prstGeom prst="ellipse">
            <a:avLst/>
          </a:prstGeom>
          <a:solidFill>
            <a:schemeClr val="accent1"/>
          </a:solidFill>
          <a:ln/>
        </p:spPr>
      </p:sp>
      <p:pic>
        <p:nvPicPr>
          <p:cNvPr id="11" name="icon ShieldCheck" descr="ShieldCheck">    </p:cNvPr>
          <p:cNvPicPr>
            <a:picLocks noChangeAspect="1"/>
          </p:cNvPicPr>
          <p:nvPr/>
        </p:nvPicPr>
        <p:blipFill>
          <a:blip r:embed="rId3"/>
          <a:stretch>
            <a:fillRect/>
          </a:stretch>
        </p:blipFill>
        <p:spPr>
          <a:xfrm>
            <a:off x="6612941" y="2617013"/>
            <a:ext cx="261518" cy="261518"/>
          </a:xfrm>
          <a:prstGeom prst="rect">
            <a:avLst/>
          </a:prstGeom>
        </p:spPr>
      </p:pic>
      <p:sp>
        <p:nvSpPr>
          <p:cNvPr id="12" name="Text 7"/>
          <p:cNvSpPr txBox="1"/>
          <p:nvPr/>
        </p:nvSpPr>
        <p:spPr>
          <a:xfrm>
            <a:off x="7178040" y="2496312"/>
            <a:ext cx="4480560" cy="502920"/>
          </a:xfrm>
          <a:prstGeom prst="rect">
            <a:avLst/>
          </a:prstGeom>
          <a:noFill/>
          <a:ln/>
        </p:spPr>
        <p:txBody>
          <a:bodyPr wrap="square" lIns="0" tIns="0" rIns="0" bIns="0" rtlCol="0" anchor="ctr"/>
          <a:lstStyle/>
          <a:p>
            <a:pPr indent="0" marL="0">
              <a:buNone/>
            </a:pPr>
            <a:r>
              <a:rPr lang="en-US" sz="1400" dirty="0">
                <a:solidFill>
                  <a:schemeClr val="tx1"/>
                </a:solidFill>
              </a:rPr>
              <a:t>Zod, Prisma tham số hóa, sanitize-html</a:t>
            </a:r>
            <a:endParaRPr lang="en-US" sz="1400" dirty="0"/>
          </a:p>
        </p:txBody>
      </p:sp>
      <p:sp>
        <p:nvSpPr>
          <p:cNvPr id="13" name="icon bg FileImage"/>
          <p:cNvSpPr/>
          <p:nvPr/>
        </p:nvSpPr>
        <p:spPr>
          <a:xfrm>
            <a:off x="6492240" y="3182112"/>
            <a:ext cx="502920" cy="502920"/>
          </a:xfrm>
          <a:prstGeom prst="ellipse">
            <a:avLst/>
          </a:prstGeom>
          <a:solidFill>
            <a:schemeClr val="accent1"/>
          </a:solidFill>
          <a:ln/>
        </p:spPr>
      </p:sp>
      <p:pic>
        <p:nvPicPr>
          <p:cNvPr id="14" name="icon FileImage" descr="FileImage">    </p:cNvPr>
          <p:cNvPicPr>
            <a:picLocks noChangeAspect="1"/>
          </p:cNvPicPr>
          <p:nvPr/>
        </p:nvPicPr>
        <p:blipFill>
          <a:blip r:embed="rId4"/>
          <a:stretch>
            <a:fillRect/>
          </a:stretch>
        </p:blipFill>
        <p:spPr>
          <a:xfrm>
            <a:off x="6612941" y="3302813"/>
            <a:ext cx="261518" cy="261518"/>
          </a:xfrm>
          <a:prstGeom prst="rect">
            <a:avLst/>
          </a:prstGeom>
        </p:spPr>
      </p:pic>
      <p:sp>
        <p:nvSpPr>
          <p:cNvPr id="15" name="Text 9"/>
          <p:cNvSpPr txBox="1"/>
          <p:nvPr/>
        </p:nvSpPr>
        <p:spPr>
          <a:xfrm>
            <a:off x="7178040" y="3182112"/>
            <a:ext cx="4480560" cy="502920"/>
          </a:xfrm>
          <a:prstGeom prst="rect">
            <a:avLst/>
          </a:prstGeom>
          <a:noFill/>
          <a:ln/>
        </p:spPr>
        <p:txBody>
          <a:bodyPr wrap="square" lIns="0" tIns="0" rIns="0" bIns="0" rtlCol="0" anchor="ctr"/>
          <a:lstStyle/>
          <a:p>
            <a:pPr indent="0" marL="0">
              <a:buNone/>
            </a:pPr>
            <a:r>
              <a:rPr lang="en-US" sz="1400" dirty="0">
                <a:solidFill>
                  <a:schemeClr val="tx1"/>
                </a:solidFill>
              </a:rPr>
              <a:t>Upload kiểm tra magic bytes, chuyển WebP</a:t>
            </a:r>
            <a:endParaRPr lang="en-US" sz="1400" dirty="0"/>
          </a:p>
        </p:txBody>
      </p:sp>
      <p:sp>
        <p:nvSpPr>
          <p:cNvPr id="16" name="icon bg Gauge"/>
          <p:cNvSpPr/>
          <p:nvPr/>
        </p:nvSpPr>
        <p:spPr>
          <a:xfrm>
            <a:off x="6492240" y="3867912"/>
            <a:ext cx="502920" cy="502920"/>
          </a:xfrm>
          <a:prstGeom prst="ellipse">
            <a:avLst/>
          </a:prstGeom>
          <a:solidFill>
            <a:schemeClr val="accent1"/>
          </a:solidFill>
          <a:ln/>
        </p:spPr>
      </p:sp>
      <p:pic>
        <p:nvPicPr>
          <p:cNvPr id="17" name="icon Gauge" descr="Gauge">    </p:cNvPr>
          <p:cNvPicPr>
            <a:picLocks noChangeAspect="1"/>
          </p:cNvPicPr>
          <p:nvPr/>
        </p:nvPicPr>
        <p:blipFill>
          <a:blip r:embed="rId5"/>
          <a:stretch>
            <a:fillRect/>
          </a:stretch>
        </p:blipFill>
        <p:spPr>
          <a:xfrm>
            <a:off x="6612941" y="3988613"/>
            <a:ext cx="261518" cy="261518"/>
          </a:xfrm>
          <a:prstGeom prst="rect">
            <a:avLst/>
          </a:prstGeom>
        </p:spPr>
      </p:pic>
      <p:sp>
        <p:nvSpPr>
          <p:cNvPr id="18" name="Text 11"/>
          <p:cNvSpPr txBox="1"/>
          <p:nvPr/>
        </p:nvSpPr>
        <p:spPr>
          <a:xfrm>
            <a:off x="7178040" y="3867912"/>
            <a:ext cx="4480560" cy="502920"/>
          </a:xfrm>
          <a:prstGeom prst="rect">
            <a:avLst/>
          </a:prstGeom>
          <a:noFill/>
          <a:ln/>
        </p:spPr>
        <p:txBody>
          <a:bodyPr wrap="square" lIns="0" tIns="0" rIns="0" bIns="0" rtlCol="0" anchor="ctr"/>
          <a:lstStyle/>
          <a:p>
            <a:pPr indent="0" marL="0">
              <a:buNone/>
            </a:pPr>
            <a:r>
              <a:rPr lang="en-US" sz="1400" dirty="0">
                <a:solidFill>
                  <a:schemeClr val="tx1"/>
                </a:solidFill>
              </a:rPr>
              <a:t>Giới hạn tần suất chat, tra đơn, đăng nhập</a:t>
            </a:r>
            <a:endParaRPr lang="en-US" sz="1400" dirty="0"/>
          </a:p>
        </p:txBody>
      </p:sp>
      <p:sp>
        <p:nvSpPr>
          <p:cNvPr id="19" name="tests"/>
          <p:cNvSpPr/>
          <p:nvPr/>
        </p:nvSpPr>
        <p:spPr>
          <a:xfrm>
            <a:off x="6492240" y="4709160"/>
            <a:ext cx="5166360" cy="1417320"/>
          </a:xfrm>
          <a:prstGeom prst="roundRect">
            <a:avLst>
              <a:gd name="adj" fmla="val 7742"/>
            </a:avLst>
          </a:prstGeom>
          <a:solidFill>
            <a:schemeClr val="bg2"/>
          </a:solidFill>
          <a:ln/>
        </p:spPr>
      </p:sp>
      <p:sp>
        <p:nvSpPr>
          <p:cNvPr id="20" name="Text 13"/>
          <p:cNvSpPr txBox="1"/>
          <p:nvPr/>
        </p:nvSpPr>
        <p:spPr>
          <a:xfrm>
            <a:off x="6720840" y="4754880"/>
            <a:ext cx="4754880" cy="132588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14/14 </a:t>
            </a:r>
            <a:pPr indent="0" marL="0">
              <a:buNone/>
            </a:pPr>
            <a:r>
              <a:rPr lang="en-US" sz="1500" b="1" dirty="0">
                <a:solidFill>
                  <a:schemeClr val="tx2"/>
                </a:solidFill>
              </a:rPr>
              <a:t>kịch bản E2E đạt</a:t>
            </a:r>
            <a:endParaRPr lang="en-US" sz="1500" dirty="0"/>
          </a:p>
          <a:p>
            <a:pPr indent="0" marL="0">
              <a:buNone/>
            </a:pPr>
            <a:r>
              <a:rPr lang="en-US" sz="1300" dirty="0">
                <a:solidFill>
                  <a:schemeClr val="tx1"/>
                </a:solidFill>
              </a:rPr>
              <a:t>Gồm đặt hàng đồng thời, sửa giá phía trình duyệt, tải file .exe giả ảnh, chuyển trạng thái sai</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Dữ liệu mua hàng mẫu: 150 đơn trong 90 ngày</a:t>
            </a:r>
            <a:endParaRPr lang="en-US" sz="3000" dirty="0"/>
          </a:p>
        </p:txBody>
      </p:sp>
      <p:sp>
        <p:nvSpPr>
          <p:cNvPr id="3" name="Text 1"/>
          <p:cNvSpPr txBox="1"/>
          <p:nvPr/>
        </p:nvSpPr>
        <p:spPr>
          <a:xfrm>
            <a:off x="548640" y="1371600"/>
            <a:ext cx="3108960" cy="64008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31,6 tr</a:t>
            </a:r>
            <a:endParaRPr lang="en-US" sz="3000" dirty="0"/>
          </a:p>
        </p:txBody>
      </p:sp>
      <p:sp>
        <p:nvSpPr>
          <p:cNvPr id="4" name="Text 2"/>
          <p:cNvSpPr txBox="1"/>
          <p:nvPr/>
        </p:nvSpPr>
        <p:spPr>
          <a:xfrm>
            <a:off x="548640" y="1993392"/>
            <a:ext cx="3108960" cy="365760"/>
          </a:xfrm>
          <a:prstGeom prst="rect">
            <a:avLst/>
          </a:prstGeom>
          <a:noFill/>
          <a:ln/>
        </p:spPr>
        <p:txBody>
          <a:bodyPr wrap="square" lIns="0" tIns="0" rIns="0" bIns="0" rtlCol="0" anchor="t"/>
          <a:lstStyle/>
          <a:p>
            <a:pPr indent="0" marL="0">
              <a:buNone/>
            </a:pPr>
            <a:r>
              <a:rPr lang="en-US" sz="1400" dirty="0">
                <a:solidFill>
                  <a:schemeClr val="tx1"/>
                </a:solidFill>
              </a:rPr>
              <a:t>doanh thu đơn hoàn thành</a:t>
            </a:r>
            <a:endParaRPr lang="en-US" sz="1400" dirty="0"/>
          </a:p>
        </p:txBody>
      </p:sp>
      <p:sp>
        <p:nvSpPr>
          <p:cNvPr id="5" name="Text 3"/>
          <p:cNvSpPr txBox="1"/>
          <p:nvPr/>
        </p:nvSpPr>
        <p:spPr>
          <a:xfrm>
            <a:off x="548640" y="2560320"/>
            <a:ext cx="3108960" cy="64008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86%</a:t>
            </a:r>
            <a:endParaRPr lang="en-US" sz="3000" dirty="0"/>
          </a:p>
        </p:txBody>
      </p:sp>
      <p:sp>
        <p:nvSpPr>
          <p:cNvPr id="6" name="Text 4"/>
          <p:cNvSpPr txBox="1"/>
          <p:nvPr/>
        </p:nvSpPr>
        <p:spPr>
          <a:xfrm>
            <a:off x="548640" y="3182112"/>
            <a:ext cx="3108960" cy="365760"/>
          </a:xfrm>
          <a:prstGeom prst="rect">
            <a:avLst/>
          </a:prstGeom>
          <a:noFill/>
          <a:ln/>
        </p:spPr>
        <p:txBody>
          <a:bodyPr wrap="square" lIns="0" tIns="0" rIns="0" bIns="0" rtlCol="0" anchor="t"/>
          <a:lstStyle/>
          <a:p>
            <a:pPr indent="0" marL="0">
              <a:buNone/>
            </a:pPr>
            <a:r>
              <a:rPr lang="en-US" sz="1400" dirty="0">
                <a:solidFill>
                  <a:schemeClr val="tx1"/>
                </a:solidFill>
              </a:rPr>
              <a:t>đơn hoàn thành</a:t>
            </a:r>
            <a:endParaRPr lang="en-US" sz="1400" dirty="0"/>
          </a:p>
        </p:txBody>
      </p:sp>
      <p:sp>
        <p:nvSpPr>
          <p:cNvPr id="7" name="Text 5"/>
          <p:cNvSpPr txBox="1"/>
          <p:nvPr/>
        </p:nvSpPr>
        <p:spPr>
          <a:xfrm>
            <a:off x="548640" y="3749040"/>
            <a:ext cx="3108960" cy="64008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245 nghìn</a:t>
            </a:r>
            <a:endParaRPr lang="en-US" sz="3000" dirty="0"/>
          </a:p>
        </p:txBody>
      </p:sp>
      <p:sp>
        <p:nvSpPr>
          <p:cNvPr id="8" name="Text 6"/>
          <p:cNvSpPr txBox="1"/>
          <p:nvPr/>
        </p:nvSpPr>
        <p:spPr>
          <a:xfrm>
            <a:off x="548640" y="4370832"/>
            <a:ext cx="3108960" cy="365760"/>
          </a:xfrm>
          <a:prstGeom prst="rect">
            <a:avLst/>
          </a:prstGeom>
          <a:noFill/>
          <a:ln/>
        </p:spPr>
        <p:txBody>
          <a:bodyPr wrap="square" lIns="0" tIns="0" rIns="0" bIns="0" rtlCol="0" anchor="t"/>
          <a:lstStyle/>
          <a:p>
            <a:pPr indent="0" marL="0">
              <a:buNone/>
            </a:pPr>
            <a:r>
              <a:rPr lang="en-US" sz="1400" dirty="0">
                <a:solidFill>
                  <a:schemeClr val="tx1"/>
                </a:solidFill>
              </a:rPr>
              <a:t>giá trị trung bình / đơn</a:t>
            </a:r>
            <a:endParaRPr lang="en-US" sz="1400" dirty="0"/>
          </a:p>
        </p:txBody>
      </p:sp>
      <p:sp>
        <p:nvSpPr>
          <p:cNvPr id="9" name="Text 7"/>
          <p:cNvSpPr txBox="1"/>
          <p:nvPr/>
        </p:nvSpPr>
        <p:spPr>
          <a:xfrm>
            <a:off x="548640" y="4937760"/>
            <a:ext cx="3108960" cy="64008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27/38</a:t>
            </a:r>
            <a:endParaRPr lang="en-US" sz="3000" dirty="0"/>
          </a:p>
        </p:txBody>
      </p:sp>
      <p:sp>
        <p:nvSpPr>
          <p:cNvPr id="10" name="Text 8"/>
          <p:cNvSpPr txBox="1"/>
          <p:nvPr/>
        </p:nvSpPr>
        <p:spPr>
          <a:xfrm>
            <a:off x="548640" y="5559552"/>
            <a:ext cx="3108960" cy="365760"/>
          </a:xfrm>
          <a:prstGeom prst="rect">
            <a:avLst/>
          </a:prstGeom>
          <a:noFill/>
          <a:ln/>
        </p:spPr>
        <p:txBody>
          <a:bodyPr wrap="square" lIns="0" tIns="0" rIns="0" bIns="0" rtlCol="0" anchor="t"/>
          <a:lstStyle/>
          <a:p>
            <a:pPr indent="0" marL="0">
              <a:buNone/>
            </a:pPr>
            <a:r>
              <a:rPr lang="en-US" sz="1400" dirty="0">
                <a:solidFill>
                  <a:schemeClr val="tx1"/>
                </a:solidFill>
              </a:rPr>
              <a:t>khách mua lại</a:t>
            </a:r>
            <a:endParaRPr lang="en-US" sz="1400" dirty="0"/>
          </a:p>
        </p:txBody>
      </p:sp>
      <p:graphicFrame>
        <p:nvGraphicFramePr>
          <p:cNvPr id="11" name="Chart 0" descr=""/>
          <p:cNvGraphicFramePr/>
          <p:nvPr/>
        </p:nvGraphicFramePr>
        <p:xfrm>
          <a:off x="3840480" y="1325880"/>
          <a:ext cx="393192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Chart 1" descr=""/>
          <p:cNvGraphicFramePr/>
          <p:nvPr/>
        </p:nvGraphicFramePr>
        <p:xfrm>
          <a:off x="7955280" y="1325880"/>
          <a:ext cx="3749040" cy="4206240"/>
        </p:xfrm>
        <a:graphic xmlns:a="http://schemas.openxmlformats.org/drawingml/2006/main">
          <a:graphicData uri="http://schemas.openxmlformats.org/drawingml/2006/chart">
            <c:chart xmlns:c="http://schemas.openxmlformats.org/drawingml/2006/chart" r:id="rId2"/>
          </a:graphicData>
        </a:graphic>
      </p:graphicFrame>
      <p:sp>
        <p:nvSpPr>
          <p:cNvPr id="13" name="Text 9"/>
          <p:cNvSpPr txBox="1"/>
          <p:nvPr/>
        </p:nvSpPr>
        <p:spPr>
          <a:xfrm>
            <a:off x="3840480" y="5669280"/>
            <a:ext cx="7818120" cy="548640"/>
          </a:xfrm>
          <a:prstGeom prst="rect">
            <a:avLst/>
          </a:prstGeom>
          <a:noFill/>
          <a:ln/>
        </p:spPr>
        <p:txBody>
          <a:bodyPr wrap="square" lIns="0" tIns="0" rIns="0" bIns="0" rtlCol="0" anchor="t"/>
          <a:lstStyle/>
          <a:p>
            <a:pPr indent="0" marL="0">
              <a:buNone/>
            </a:pPr>
            <a:r>
              <a:rPr lang="en-US" sz="1400" i="1" dirty="0">
                <a:solidFill>
                  <a:schemeClr val="accent1"/>
                </a:solidFill>
              </a:rPr>
              <a:t>Terrarium dẫn đầu nhờ phù hợp làm quà → Bé Sen ưu tiên terrarium khi tư vấn quà tặng. 79,7% đơn ở TP.HCM.</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Kết luận và hướng phát triển</a:t>
            </a:r>
            <a:endParaRPr lang="en-US" sz="3000" dirty="0"/>
          </a:p>
        </p:txBody>
      </p:sp>
      <p:sp>
        <p:nvSpPr>
          <p:cNvPr id="3" name="Text 1"/>
          <p:cNvSpPr txBox="1"/>
          <p:nvPr/>
        </p:nvSpPr>
        <p:spPr>
          <a:xfrm>
            <a:off x="548640" y="1325880"/>
            <a:ext cx="5486400" cy="411480"/>
          </a:xfrm>
          <a:prstGeom prst="rect">
            <a:avLst/>
          </a:prstGeom>
          <a:noFill/>
          <a:ln/>
        </p:spPr>
        <p:txBody>
          <a:bodyPr wrap="square" lIns="0" tIns="0" rIns="0" bIns="0" rtlCol="0" anchor="t"/>
          <a:lstStyle/>
          <a:p>
            <a:pPr indent="0" marL="0">
              <a:buNone/>
            </a:pPr>
            <a:r>
              <a:rPr lang="en-US" sz="2000" b="1" dirty="0">
                <a:solidFill>
                  <a:schemeClr val="tx2"/>
                </a:solidFill>
              </a:rPr>
              <a:t>Đã đạt được</a:t>
            </a:r>
            <a:endParaRPr lang="en-US" sz="2000" dirty="0"/>
          </a:p>
        </p:txBody>
      </p:sp>
      <p:sp>
        <p:nvSpPr>
          <p:cNvPr id="4" name="icon bg Check"/>
          <p:cNvSpPr/>
          <p:nvPr/>
        </p:nvSpPr>
        <p:spPr>
          <a:xfrm>
            <a:off x="548640" y="1874520"/>
            <a:ext cx="457200" cy="457200"/>
          </a:xfrm>
          <a:prstGeom prst="ellipse">
            <a:avLst/>
          </a:prstGeom>
          <a:solidFill>
            <a:schemeClr val="accent1"/>
          </a:solidFill>
          <a:ln/>
        </p:spPr>
      </p:sp>
      <p:pic>
        <p:nvPicPr>
          <p:cNvPr id="5" name="icon Check" descr="Check">    </p:cNvPr>
          <p:cNvPicPr>
            <a:picLocks noChangeAspect="1"/>
          </p:cNvPicPr>
          <p:nvPr/>
        </p:nvPicPr>
        <p:blipFill>
          <a:blip r:embed="rId1"/>
          <a:stretch>
            <a:fillRect/>
          </a:stretch>
        </p:blipFill>
        <p:spPr>
          <a:xfrm>
            <a:off x="658368" y="1984248"/>
            <a:ext cx="237744" cy="237744"/>
          </a:xfrm>
          <a:prstGeom prst="rect">
            <a:avLst/>
          </a:prstGeom>
        </p:spPr>
      </p:pic>
      <p:sp>
        <p:nvSpPr>
          <p:cNvPr id="6" name="Text 3"/>
          <p:cNvSpPr txBox="1"/>
          <p:nvPr/>
        </p:nvSpPr>
        <p:spPr>
          <a:xfrm>
            <a:off x="1188720" y="1874520"/>
            <a:ext cx="4754880" cy="457200"/>
          </a:xfrm>
          <a:prstGeom prst="rect">
            <a:avLst/>
          </a:prstGeom>
          <a:noFill/>
          <a:ln/>
        </p:spPr>
        <p:txBody>
          <a:bodyPr wrap="square" lIns="0" tIns="0" rIns="0" bIns="0" rtlCol="0" anchor="ctr"/>
          <a:lstStyle/>
          <a:p>
            <a:pPr indent="0" marL="0">
              <a:buNone/>
            </a:pPr>
            <a:r>
              <a:rPr lang="en-US" sz="1500" dirty="0">
                <a:solidFill>
                  <a:schemeClr val="tx1"/>
                </a:solidFill>
              </a:rPr>
              <a:t>Website bán hàng hoàn chỉnh, đẹp trên điện thoại</a:t>
            </a:r>
            <a:endParaRPr lang="en-US" sz="1500" dirty="0"/>
          </a:p>
        </p:txBody>
      </p:sp>
      <p:sp>
        <p:nvSpPr>
          <p:cNvPr id="7" name="icon bg Check"/>
          <p:cNvSpPr/>
          <p:nvPr/>
        </p:nvSpPr>
        <p:spPr>
          <a:xfrm>
            <a:off x="548640" y="2651760"/>
            <a:ext cx="457200" cy="457200"/>
          </a:xfrm>
          <a:prstGeom prst="ellipse">
            <a:avLst/>
          </a:prstGeom>
          <a:solidFill>
            <a:schemeClr val="accent1"/>
          </a:solidFill>
          <a:ln/>
        </p:spPr>
      </p:sp>
      <p:pic>
        <p:nvPicPr>
          <p:cNvPr id="8" name="icon Check" descr="Check">    </p:cNvPr>
          <p:cNvPicPr>
            <a:picLocks noChangeAspect="1"/>
          </p:cNvPicPr>
          <p:nvPr/>
        </p:nvPicPr>
        <p:blipFill>
          <a:blip r:embed="rId2"/>
          <a:stretch>
            <a:fillRect/>
          </a:stretch>
        </p:blipFill>
        <p:spPr>
          <a:xfrm>
            <a:off x="658368" y="2761488"/>
            <a:ext cx="237744" cy="237744"/>
          </a:xfrm>
          <a:prstGeom prst="rect">
            <a:avLst/>
          </a:prstGeom>
        </p:spPr>
      </p:pic>
      <p:sp>
        <p:nvSpPr>
          <p:cNvPr id="9" name="Text 5"/>
          <p:cNvSpPr txBox="1"/>
          <p:nvPr/>
        </p:nvSpPr>
        <p:spPr>
          <a:xfrm>
            <a:off x="1188720" y="2651760"/>
            <a:ext cx="4754880" cy="457200"/>
          </a:xfrm>
          <a:prstGeom prst="rect">
            <a:avLst/>
          </a:prstGeom>
          <a:noFill/>
          <a:ln/>
        </p:spPr>
        <p:txBody>
          <a:bodyPr wrap="square" lIns="0" tIns="0" rIns="0" bIns="0" rtlCol="0" anchor="ctr"/>
          <a:lstStyle/>
          <a:p>
            <a:pPr indent="0" marL="0">
              <a:buNone/>
            </a:pPr>
            <a:r>
              <a:rPr lang="en-US" sz="1500" dirty="0">
                <a:solidFill>
                  <a:schemeClr val="tx1"/>
                </a:solidFill>
              </a:rPr>
              <a:t>Quy trình mua 5 bước, thanh toán COD / QR</a:t>
            </a:r>
            <a:endParaRPr lang="en-US" sz="1500" dirty="0"/>
          </a:p>
        </p:txBody>
      </p:sp>
      <p:sp>
        <p:nvSpPr>
          <p:cNvPr id="10" name="icon bg Check"/>
          <p:cNvSpPr/>
          <p:nvPr/>
        </p:nvSpPr>
        <p:spPr>
          <a:xfrm>
            <a:off x="548640" y="3429000"/>
            <a:ext cx="457200" cy="457200"/>
          </a:xfrm>
          <a:prstGeom prst="ellipse">
            <a:avLst/>
          </a:prstGeom>
          <a:solidFill>
            <a:schemeClr val="accent1"/>
          </a:solidFill>
          <a:ln/>
        </p:spPr>
      </p:sp>
      <p:pic>
        <p:nvPicPr>
          <p:cNvPr id="11" name="icon Check" descr="Check">    </p:cNvPr>
          <p:cNvPicPr>
            <a:picLocks noChangeAspect="1"/>
          </p:cNvPicPr>
          <p:nvPr/>
        </p:nvPicPr>
        <p:blipFill>
          <a:blip r:embed="rId3"/>
          <a:stretch>
            <a:fillRect/>
          </a:stretch>
        </p:blipFill>
        <p:spPr>
          <a:xfrm>
            <a:off x="658368" y="3538728"/>
            <a:ext cx="237744" cy="237744"/>
          </a:xfrm>
          <a:prstGeom prst="rect">
            <a:avLst/>
          </a:prstGeom>
        </p:spPr>
      </p:pic>
      <p:sp>
        <p:nvSpPr>
          <p:cNvPr id="12" name="Text 7"/>
          <p:cNvSpPr txBox="1"/>
          <p:nvPr/>
        </p:nvSpPr>
        <p:spPr>
          <a:xfrm>
            <a:off x="1188720" y="3429000"/>
            <a:ext cx="4754880" cy="457200"/>
          </a:xfrm>
          <a:prstGeom prst="rect">
            <a:avLst/>
          </a:prstGeom>
          <a:noFill/>
          <a:ln/>
        </p:spPr>
        <p:txBody>
          <a:bodyPr wrap="square" lIns="0" tIns="0" rIns="0" bIns="0" rtlCol="0" anchor="ctr"/>
          <a:lstStyle/>
          <a:p>
            <a:pPr indent="0" marL="0">
              <a:buNone/>
            </a:pPr>
            <a:r>
              <a:rPr lang="en-US" sz="1500" dirty="0">
                <a:solidFill>
                  <a:schemeClr val="tx1"/>
                </a:solidFill>
              </a:rPr>
              <a:t>Trang quản trị đầy đủ, cập nhật tức thì</a:t>
            </a:r>
            <a:endParaRPr lang="en-US" sz="1500" dirty="0"/>
          </a:p>
        </p:txBody>
      </p:sp>
      <p:sp>
        <p:nvSpPr>
          <p:cNvPr id="13" name="icon bg Check"/>
          <p:cNvSpPr/>
          <p:nvPr/>
        </p:nvSpPr>
        <p:spPr>
          <a:xfrm>
            <a:off x="548640" y="4206240"/>
            <a:ext cx="457200" cy="457200"/>
          </a:xfrm>
          <a:prstGeom prst="ellipse">
            <a:avLst/>
          </a:prstGeom>
          <a:solidFill>
            <a:schemeClr val="accent1"/>
          </a:solidFill>
          <a:ln/>
        </p:spPr>
      </p:sp>
      <p:pic>
        <p:nvPicPr>
          <p:cNvPr id="14" name="icon Check" descr="Check">    </p:cNvPr>
          <p:cNvPicPr>
            <a:picLocks noChangeAspect="1"/>
          </p:cNvPicPr>
          <p:nvPr/>
        </p:nvPicPr>
        <p:blipFill>
          <a:blip r:embed="rId4"/>
          <a:stretch>
            <a:fillRect/>
          </a:stretch>
        </p:blipFill>
        <p:spPr>
          <a:xfrm>
            <a:off x="658368" y="4315968"/>
            <a:ext cx="237744" cy="237744"/>
          </a:xfrm>
          <a:prstGeom prst="rect">
            <a:avLst/>
          </a:prstGeom>
        </p:spPr>
      </p:pic>
      <p:sp>
        <p:nvSpPr>
          <p:cNvPr id="15" name="Text 9"/>
          <p:cNvSpPr txBox="1"/>
          <p:nvPr/>
        </p:nvSpPr>
        <p:spPr>
          <a:xfrm>
            <a:off x="1188720" y="4206240"/>
            <a:ext cx="4754880" cy="457200"/>
          </a:xfrm>
          <a:prstGeom prst="rect">
            <a:avLst/>
          </a:prstGeom>
          <a:noFill/>
          <a:ln/>
        </p:spPr>
        <p:txBody>
          <a:bodyPr wrap="square" lIns="0" tIns="0" rIns="0" bIns="0" rtlCol="0" anchor="ctr"/>
          <a:lstStyle/>
          <a:p>
            <a:pPr indent="0" marL="0">
              <a:buNone/>
            </a:pPr>
            <a:r>
              <a:rPr lang="en-US" sz="1500" dirty="0">
                <a:solidFill>
                  <a:schemeClr val="tx1"/>
                </a:solidFill>
              </a:rPr>
              <a:t>Bé Sen: kiến trúc lai, 46/46 ca kiểm thử</a:t>
            </a:r>
            <a:endParaRPr lang="en-US" sz="1500" dirty="0"/>
          </a:p>
        </p:txBody>
      </p:sp>
      <p:sp>
        <p:nvSpPr>
          <p:cNvPr id="16" name="icon bg Check"/>
          <p:cNvSpPr/>
          <p:nvPr/>
        </p:nvSpPr>
        <p:spPr>
          <a:xfrm>
            <a:off x="548640" y="4983480"/>
            <a:ext cx="457200" cy="457200"/>
          </a:xfrm>
          <a:prstGeom prst="ellipse">
            <a:avLst/>
          </a:prstGeom>
          <a:solidFill>
            <a:schemeClr val="accent1"/>
          </a:solidFill>
          <a:ln/>
        </p:spPr>
      </p:sp>
      <p:pic>
        <p:nvPicPr>
          <p:cNvPr id="17" name="icon Check" descr="Check">    </p:cNvPr>
          <p:cNvPicPr>
            <a:picLocks noChangeAspect="1"/>
          </p:cNvPicPr>
          <p:nvPr/>
        </p:nvPicPr>
        <p:blipFill>
          <a:blip r:embed="rId5"/>
          <a:stretch>
            <a:fillRect/>
          </a:stretch>
        </p:blipFill>
        <p:spPr>
          <a:xfrm>
            <a:off x="658368" y="5093208"/>
            <a:ext cx="237744" cy="237744"/>
          </a:xfrm>
          <a:prstGeom prst="rect">
            <a:avLst/>
          </a:prstGeom>
        </p:spPr>
      </p:pic>
      <p:sp>
        <p:nvSpPr>
          <p:cNvPr id="18" name="Text 11"/>
          <p:cNvSpPr txBox="1"/>
          <p:nvPr/>
        </p:nvSpPr>
        <p:spPr>
          <a:xfrm>
            <a:off x="1188720" y="4983480"/>
            <a:ext cx="4754880" cy="457200"/>
          </a:xfrm>
          <a:prstGeom prst="rect">
            <a:avLst/>
          </a:prstGeom>
          <a:noFill/>
          <a:ln/>
        </p:spPr>
        <p:txBody>
          <a:bodyPr wrap="square" lIns="0" tIns="0" rIns="0" bIns="0" rtlCol="0" anchor="ctr"/>
          <a:lstStyle/>
          <a:p>
            <a:pPr indent="0" marL="0">
              <a:buNone/>
            </a:pPr>
            <a:r>
              <a:rPr lang="en-US" sz="1500" dirty="0">
                <a:solidFill>
                  <a:schemeClr val="tx1"/>
                </a:solidFill>
              </a:rPr>
              <a:t>An toàn tồn kho, OWASP, chuyển trang ~100 ms</a:t>
            </a:r>
            <a:endParaRPr lang="en-US" sz="1500" dirty="0"/>
          </a:p>
        </p:txBody>
      </p:sp>
      <p:sp>
        <p:nvSpPr>
          <p:cNvPr id="19" name="future"/>
          <p:cNvSpPr/>
          <p:nvPr/>
        </p:nvSpPr>
        <p:spPr>
          <a:xfrm>
            <a:off x="6309360" y="1325880"/>
            <a:ext cx="5349240" cy="4800600"/>
          </a:xfrm>
          <a:prstGeom prst="roundRect">
            <a:avLst>
              <a:gd name="adj" fmla="val 2857"/>
            </a:avLst>
          </a:prstGeom>
          <a:solidFill>
            <a:schemeClr val="bg2"/>
          </a:solidFill>
          <a:ln/>
        </p:spPr>
      </p:sp>
      <p:sp>
        <p:nvSpPr>
          <p:cNvPr id="20" name="Text 13"/>
          <p:cNvSpPr txBox="1"/>
          <p:nvPr/>
        </p:nvSpPr>
        <p:spPr>
          <a:xfrm>
            <a:off x="6583680" y="1508760"/>
            <a:ext cx="4846320" cy="411480"/>
          </a:xfrm>
          <a:prstGeom prst="rect">
            <a:avLst/>
          </a:prstGeom>
          <a:noFill/>
          <a:ln/>
        </p:spPr>
        <p:txBody>
          <a:bodyPr wrap="square" lIns="0" tIns="0" rIns="0" bIns="0" rtlCol="0" anchor="t"/>
          <a:lstStyle/>
          <a:p>
            <a:pPr indent="0" marL="0">
              <a:buNone/>
            </a:pPr>
            <a:r>
              <a:rPr lang="en-US" sz="2000" b="1" dirty="0">
                <a:solidFill>
                  <a:schemeClr val="tx2"/>
                </a:solidFill>
              </a:rPr>
              <a:t>Hướng phát triển</a:t>
            </a:r>
            <a:endParaRPr lang="en-US" sz="2000" dirty="0"/>
          </a:p>
        </p:txBody>
      </p:sp>
      <p:sp>
        <p:nvSpPr>
          <p:cNvPr id="21" name="icon bg CreditCard"/>
          <p:cNvSpPr/>
          <p:nvPr/>
        </p:nvSpPr>
        <p:spPr>
          <a:xfrm>
            <a:off x="6583680" y="2103120"/>
            <a:ext cx="502920" cy="502920"/>
          </a:xfrm>
          <a:prstGeom prst="ellipse">
            <a:avLst/>
          </a:prstGeom>
          <a:solidFill>
            <a:schemeClr val="accent1"/>
          </a:solidFill>
          <a:ln/>
        </p:spPr>
      </p:sp>
      <p:pic>
        <p:nvPicPr>
          <p:cNvPr id="22" name="icon CreditCard" descr="CreditCard">    </p:cNvPr>
          <p:cNvPicPr>
            <a:picLocks noChangeAspect="1"/>
          </p:cNvPicPr>
          <p:nvPr/>
        </p:nvPicPr>
        <p:blipFill>
          <a:blip r:embed="rId6"/>
          <a:stretch>
            <a:fillRect/>
          </a:stretch>
        </p:blipFill>
        <p:spPr>
          <a:xfrm>
            <a:off x="6704381" y="2223821"/>
            <a:ext cx="261518" cy="261518"/>
          </a:xfrm>
          <a:prstGeom prst="rect">
            <a:avLst/>
          </a:prstGeom>
        </p:spPr>
      </p:pic>
      <p:sp>
        <p:nvSpPr>
          <p:cNvPr id="23" name="Text 15"/>
          <p:cNvSpPr txBox="1"/>
          <p:nvPr/>
        </p:nvSpPr>
        <p:spPr>
          <a:xfrm>
            <a:off x="7269480" y="2103120"/>
            <a:ext cx="4206240" cy="502920"/>
          </a:xfrm>
          <a:prstGeom prst="rect">
            <a:avLst/>
          </a:prstGeom>
          <a:noFill/>
          <a:ln/>
        </p:spPr>
        <p:txBody>
          <a:bodyPr wrap="square" lIns="0" tIns="0" rIns="0" bIns="0" rtlCol="0" anchor="ctr"/>
          <a:lstStyle/>
          <a:p>
            <a:pPr indent="0" marL="0">
              <a:buNone/>
            </a:pPr>
            <a:r>
              <a:rPr lang="en-US" sz="1400" dirty="0">
                <a:solidFill>
                  <a:schemeClr val="tx1"/>
                </a:solidFill>
              </a:rPr>
              <a:t>VNPay / MoMo, đối soát chuyển khoản tự động</a:t>
            </a:r>
            <a:endParaRPr lang="en-US" sz="1400" dirty="0"/>
          </a:p>
        </p:txBody>
      </p:sp>
      <p:sp>
        <p:nvSpPr>
          <p:cNvPr id="24" name="icon bg Truck"/>
          <p:cNvSpPr/>
          <p:nvPr/>
        </p:nvSpPr>
        <p:spPr>
          <a:xfrm>
            <a:off x="6583680" y="2880360"/>
            <a:ext cx="502920" cy="502920"/>
          </a:xfrm>
          <a:prstGeom prst="ellipse">
            <a:avLst/>
          </a:prstGeom>
          <a:solidFill>
            <a:schemeClr val="accent1"/>
          </a:solidFill>
          <a:ln/>
        </p:spPr>
      </p:sp>
      <p:pic>
        <p:nvPicPr>
          <p:cNvPr id="25" name="icon Truck" descr="Truck">    </p:cNvPr>
          <p:cNvPicPr>
            <a:picLocks noChangeAspect="1"/>
          </p:cNvPicPr>
          <p:nvPr/>
        </p:nvPicPr>
        <p:blipFill>
          <a:blip r:embed="rId7"/>
          <a:stretch>
            <a:fillRect/>
          </a:stretch>
        </p:blipFill>
        <p:spPr>
          <a:xfrm>
            <a:off x="6704381" y="3001061"/>
            <a:ext cx="261518" cy="261518"/>
          </a:xfrm>
          <a:prstGeom prst="rect">
            <a:avLst/>
          </a:prstGeom>
        </p:spPr>
      </p:pic>
      <p:sp>
        <p:nvSpPr>
          <p:cNvPr id="26" name="Text 17"/>
          <p:cNvSpPr txBox="1"/>
          <p:nvPr/>
        </p:nvSpPr>
        <p:spPr>
          <a:xfrm>
            <a:off x="7269480" y="2880360"/>
            <a:ext cx="4206240" cy="502920"/>
          </a:xfrm>
          <a:prstGeom prst="rect">
            <a:avLst/>
          </a:prstGeom>
          <a:noFill/>
          <a:ln/>
        </p:spPr>
        <p:txBody>
          <a:bodyPr wrap="square" lIns="0" tIns="0" rIns="0" bIns="0" rtlCol="0" anchor="ctr"/>
          <a:lstStyle/>
          <a:p>
            <a:pPr indent="0" marL="0">
              <a:buNone/>
            </a:pPr>
            <a:r>
              <a:rPr lang="en-US" sz="1400" dirty="0">
                <a:solidFill>
                  <a:schemeClr val="tx1"/>
                </a:solidFill>
              </a:rPr>
              <a:t>Phí ship theo tỉnh qua API GHN / GHTK</a:t>
            </a:r>
            <a:endParaRPr lang="en-US" sz="1400" dirty="0"/>
          </a:p>
        </p:txBody>
      </p:sp>
      <p:sp>
        <p:nvSpPr>
          <p:cNvPr id="27" name="icon bg Gift"/>
          <p:cNvSpPr/>
          <p:nvPr/>
        </p:nvSpPr>
        <p:spPr>
          <a:xfrm>
            <a:off x="6583680" y="3657600"/>
            <a:ext cx="502920" cy="502920"/>
          </a:xfrm>
          <a:prstGeom prst="ellipse">
            <a:avLst/>
          </a:prstGeom>
          <a:solidFill>
            <a:schemeClr val="accent1"/>
          </a:solidFill>
          <a:ln/>
        </p:spPr>
      </p:sp>
      <p:pic>
        <p:nvPicPr>
          <p:cNvPr id="28" name="icon Gift" descr="Gift">    </p:cNvPr>
          <p:cNvPicPr>
            <a:picLocks noChangeAspect="1"/>
          </p:cNvPicPr>
          <p:nvPr/>
        </p:nvPicPr>
        <p:blipFill>
          <a:blip r:embed="rId8"/>
          <a:stretch>
            <a:fillRect/>
          </a:stretch>
        </p:blipFill>
        <p:spPr>
          <a:xfrm>
            <a:off x="6704381" y="3778301"/>
            <a:ext cx="261518" cy="261518"/>
          </a:xfrm>
          <a:prstGeom prst="rect">
            <a:avLst/>
          </a:prstGeom>
        </p:spPr>
      </p:pic>
      <p:sp>
        <p:nvSpPr>
          <p:cNvPr id="29" name="Text 19"/>
          <p:cNvSpPr txBox="1"/>
          <p:nvPr/>
        </p:nvSpPr>
        <p:spPr>
          <a:xfrm>
            <a:off x="7269480" y="3657600"/>
            <a:ext cx="4206240" cy="502920"/>
          </a:xfrm>
          <a:prstGeom prst="rect">
            <a:avLst/>
          </a:prstGeom>
          <a:noFill/>
          <a:ln/>
        </p:spPr>
        <p:txBody>
          <a:bodyPr wrap="square" lIns="0" tIns="0" rIns="0" bIns="0" rtlCol="0" anchor="ctr"/>
          <a:lstStyle/>
          <a:p>
            <a:pPr indent="0" marL="0">
              <a:buNone/>
            </a:pPr>
            <a:r>
              <a:rPr lang="en-US" sz="1400" dirty="0">
                <a:solidFill>
                  <a:schemeClr val="tx1"/>
                </a:solidFill>
              </a:rPr>
              <a:t>Tài khoản, tích điểm, mã giảm giá, đánh giá</a:t>
            </a:r>
            <a:endParaRPr lang="en-US" sz="1400" dirty="0"/>
          </a:p>
        </p:txBody>
      </p:sp>
      <p:sp>
        <p:nvSpPr>
          <p:cNvPr id="30" name="icon bg Bot"/>
          <p:cNvSpPr/>
          <p:nvPr/>
        </p:nvSpPr>
        <p:spPr>
          <a:xfrm>
            <a:off x="6583680" y="4434840"/>
            <a:ext cx="502920" cy="502920"/>
          </a:xfrm>
          <a:prstGeom prst="ellipse">
            <a:avLst/>
          </a:prstGeom>
          <a:solidFill>
            <a:schemeClr val="accent1"/>
          </a:solidFill>
          <a:ln/>
        </p:spPr>
      </p:sp>
      <p:pic>
        <p:nvPicPr>
          <p:cNvPr id="31" name="icon Bot" descr="Bot">    </p:cNvPr>
          <p:cNvPicPr>
            <a:picLocks noChangeAspect="1"/>
          </p:cNvPicPr>
          <p:nvPr/>
        </p:nvPicPr>
        <p:blipFill>
          <a:blip r:embed="rId9"/>
          <a:stretch>
            <a:fillRect/>
          </a:stretch>
        </p:blipFill>
        <p:spPr>
          <a:xfrm>
            <a:off x="6704381" y="4555541"/>
            <a:ext cx="261518" cy="261518"/>
          </a:xfrm>
          <a:prstGeom prst="rect">
            <a:avLst/>
          </a:prstGeom>
        </p:spPr>
      </p:pic>
      <p:sp>
        <p:nvSpPr>
          <p:cNvPr id="32" name="Text 21"/>
          <p:cNvSpPr txBox="1"/>
          <p:nvPr/>
        </p:nvSpPr>
        <p:spPr>
          <a:xfrm>
            <a:off x="7269480" y="4434840"/>
            <a:ext cx="4206240" cy="502920"/>
          </a:xfrm>
          <a:prstGeom prst="rect">
            <a:avLst/>
          </a:prstGeom>
          <a:noFill/>
          <a:ln/>
        </p:spPr>
        <p:txBody>
          <a:bodyPr wrap="square" lIns="0" tIns="0" rIns="0" bIns="0" rtlCol="0" anchor="ctr"/>
          <a:lstStyle/>
          <a:p>
            <a:pPr indent="0" marL="0">
              <a:buNone/>
            </a:pPr>
            <a:r>
              <a:rPr lang="en-US" sz="1400" dirty="0">
                <a:solidFill>
                  <a:schemeClr val="tx1"/>
                </a:solidFill>
              </a:rPr>
              <a:t>Bé Sen: đặt hàng trong chat, live chat, chẩn đoán ảnh cây bệnh</a:t>
            </a:r>
            <a:endParaRPr lang="en-US" sz="1400" dirty="0"/>
          </a:p>
        </p:txBody>
      </p:sp>
      <p:sp>
        <p:nvSpPr>
          <p:cNvPr id="33" name="icon bg Cloud"/>
          <p:cNvSpPr/>
          <p:nvPr/>
        </p:nvSpPr>
        <p:spPr>
          <a:xfrm>
            <a:off x="6583680" y="5212080"/>
            <a:ext cx="502920" cy="502920"/>
          </a:xfrm>
          <a:prstGeom prst="ellipse">
            <a:avLst/>
          </a:prstGeom>
          <a:solidFill>
            <a:schemeClr val="accent1"/>
          </a:solidFill>
          <a:ln/>
        </p:spPr>
      </p:sp>
      <p:pic>
        <p:nvPicPr>
          <p:cNvPr id="34" name="icon Cloud" descr="Cloud">    </p:cNvPr>
          <p:cNvPicPr>
            <a:picLocks noChangeAspect="1"/>
          </p:cNvPicPr>
          <p:nvPr/>
        </p:nvPicPr>
        <p:blipFill>
          <a:blip r:embed="rId10"/>
          <a:stretch>
            <a:fillRect/>
          </a:stretch>
        </p:blipFill>
        <p:spPr>
          <a:xfrm>
            <a:off x="6704381" y="5332781"/>
            <a:ext cx="261518" cy="261518"/>
          </a:xfrm>
          <a:prstGeom prst="rect">
            <a:avLst/>
          </a:prstGeom>
        </p:spPr>
      </p:pic>
      <p:sp>
        <p:nvSpPr>
          <p:cNvPr id="35" name="Text 23"/>
          <p:cNvSpPr txBox="1"/>
          <p:nvPr/>
        </p:nvSpPr>
        <p:spPr>
          <a:xfrm>
            <a:off x="7269480" y="5212080"/>
            <a:ext cx="4206240" cy="502920"/>
          </a:xfrm>
          <a:prstGeom prst="rect">
            <a:avLst/>
          </a:prstGeom>
          <a:noFill/>
          <a:ln/>
        </p:spPr>
        <p:txBody>
          <a:bodyPr wrap="square" lIns="0" tIns="0" rIns="0" bIns="0" rtlCol="0" anchor="ctr"/>
          <a:lstStyle/>
          <a:p>
            <a:pPr indent="0" marL="0">
              <a:buNone/>
            </a:pPr>
            <a:r>
              <a:rPr lang="en-US" sz="1400" dirty="0">
                <a:solidFill>
                  <a:schemeClr val="tx1"/>
                </a:solidFill>
              </a:rPr>
              <a:t>Triển khai Vercel + PostgreSQL</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822960" y="1828800"/>
            <a:ext cx="7315200" cy="100584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Cảm ơn Thầy đã lắng nghe</a:t>
            </a:r>
            <a:endParaRPr lang="en-US" sz="4400" dirty="0"/>
          </a:p>
        </p:txBody>
      </p:sp>
      <p:sp>
        <p:nvSpPr>
          <p:cNvPr id="3" name="Text 1"/>
          <p:cNvSpPr txBox="1"/>
          <p:nvPr/>
        </p:nvSpPr>
        <p:spPr>
          <a:xfrm>
            <a:off x="822960" y="2834640"/>
            <a:ext cx="7315200" cy="548640"/>
          </a:xfrm>
          <a:prstGeom prst="rect">
            <a:avLst/>
          </a:prstGeom>
          <a:noFill/>
          <a:ln/>
        </p:spPr>
        <p:txBody>
          <a:bodyPr wrap="square" lIns="0" tIns="0" rIns="0" bIns="0" rtlCol="0" anchor="t"/>
          <a:lstStyle/>
          <a:p>
            <a:pPr indent="0" marL="0">
              <a:buNone/>
            </a:pPr>
            <a:r>
              <a:rPr lang="en-US" sz="2000" dirty="0">
                <a:solidFill>
                  <a:schemeClr val="accent3"/>
                </a:solidFill>
              </a:rPr>
              <a:t>Em xin trình diễn trực tiếp và nhận câu hỏi</a:t>
            </a:r>
            <a:endParaRPr lang="en-US" sz="2000" dirty="0"/>
          </a:p>
        </p:txBody>
      </p:sp>
      <p:sp>
        <p:nvSpPr>
          <p:cNvPr id="4" name="Text 2"/>
          <p:cNvSpPr txBox="1"/>
          <p:nvPr/>
        </p:nvSpPr>
        <p:spPr>
          <a:xfrm>
            <a:off x="822960" y="4023360"/>
            <a:ext cx="7315200" cy="1371600"/>
          </a:xfrm>
          <a:prstGeom prst="rect">
            <a:avLst/>
          </a:prstGeom>
          <a:noFill/>
          <a:ln/>
        </p:spPr>
        <p:txBody>
          <a:bodyPr wrap="square" lIns="0" tIns="0" rIns="0" bIns="0" rtlCol="0" anchor="t"/>
          <a:lstStyle/>
          <a:p>
            <a:pPr indent="0" marL="0">
              <a:spcAft>
                <a:spcPts val="600"/>
              </a:spcAft>
              <a:buNone/>
            </a:pPr>
            <a:r>
              <a:rPr lang="en-US" sz="1600" b="1" dirty="0">
                <a:solidFill>
                  <a:schemeClr val="accent3"/>
                </a:solidFill>
              </a:rPr>
              <a:t>Mã nguồn: </a:t>
            </a:r>
            <a:pPr indent="0" marL="0">
              <a:spcAft>
                <a:spcPts val="600"/>
              </a:spcAft>
              <a:buNone/>
            </a:pPr>
            <a:r>
              <a:rPr lang="en-US" sz="1600" dirty="0">
                <a:solidFill>
                  <a:schemeClr val="bg1"/>
                </a:solidFill>
              </a:rPr>
              <a:t>github.com/conghau0401/SenDa-Ecommerce</a:t>
            </a:r>
            <a:endParaRPr lang="en-US" sz="1600" dirty="0"/>
          </a:p>
          <a:p>
            <a:pPr indent="0" marL="0">
              <a:spcAft>
                <a:spcPts val="600"/>
              </a:spcAft>
              <a:buNone/>
            </a:pPr>
            <a:r>
              <a:rPr lang="en-US" sz="1600" b="1" dirty="0">
                <a:solidFill>
                  <a:schemeClr val="accent3"/>
                </a:solidFill>
              </a:rPr>
              <a:t>Tài khoản admin: </a:t>
            </a:r>
            <a:pPr indent="0" marL="0">
              <a:spcAft>
                <a:spcPts val="600"/>
              </a:spcAft>
              <a:buNone/>
            </a:pPr>
            <a:r>
              <a:rPr lang="en-US" sz="1600" dirty="0">
                <a:solidFill>
                  <a:schemeClr val="bg1"/>
                </a:solidFill>
              </a:rPr>
              <a:t>25210281@ms.uit.edu.vn / 25210281</a:t>
            </a:r>
            <a:endParaRPr lang="en-US" sz="1600" dirty="0"/>
          </a:p>
          <a:p>
            <a:pPr indent="0" marL="0">
              <a:spcAft>
                <a:spcPts val="600"/>
              </a:spcAft>
              <a:buNone/>
            </a:pPr>
            <a:r>
              <a:rPr lang="en-US" sz="1600" dirty="0">
                <a:solidFill>
                  <a:schemeClr val="bg1"/>
                </a:solidFill>
              </a:rPr>
              <a:t>Trần Thị Thanh Hương – 25210281 – IE104.F31.CN1.CNTT</a:t>
            </a:r>
            <a:endParaRPr lang="en-US" sz="1600" dirty="0"/>
          </a:p>
        </p:txBody>
      </p:sp>
      <p:sp>
        <p:nvSpPr>
          <p:cNvPr id="5" name="phone"/>
          <p:cNvSpPr/>
          <p:nvPr/>
        </p:nvSpPr>
        <p:spPr>
          <a:xfrm>
            <a:off x="8869680" y="822960"/>
            <a:ext cx="2743200" cy="5212080"/>
          </a:xfrm>
          <a:prstGeom prst="roundRect">
            <a:avLst>
              <a:gd name="adj" fmla="val 6667"/>
            </a:avLst>
          </a:prstGeom>
          <a:solidFill>
            <a:srgbClr val="FFFFFF"/>
          </a:solidFill>
          <a:ln/>
        </p:spPr>
      </p:sp>
      <p:pic>
        <p:nvPicPr>
          <p:cNvPr id="6" name="mobile home" descr="Trang chủ trên điện thoại">    </p:cNvPr>
          <p:cNvPicPr>
            <a:picLocks noChangeAspect="1"/>
          </p:cNvPicPr>
          <p:nvPr/>
        </p:nvPicPr>
        <p:blipFill>
          <a:blip r:embed="rId1"/>
          <a:stretch>
            <a:fillRect/>
          </a:stretch>
        </p:blipFill>
        <p:spPr>
          <a:xfrm>
            <a:off x="8961120" y="1249446"/>
            <a:ext cx="2560320" cy="4359109"/>
          </a:xfrm>
          <a:prstGeom prst="rect">
            <a:avLst/>
          </a:prstGeom>
        </p:spPr>
      </p:pic>
    </p:spTree>
  </p:cSld>
  <p:clrMapOvr>
    <a:masterClrMapping/>
  </p:clrMapOvr>
</p:sld>
</file>

<file path=ppt/theme/theme1.xml><?xml version="1.0" encoding="utf-8"?>
<a:theme xmlns:a="http://schemas.openxmlformats.org/drawingml/2006/main" name="Sen Da Xinh">
  <a:themeElements>
    <a:clrScheme name="Sen Da Xinh">
      <a:dk1>
        <a:srgbClr val="1F2A22"/>
      </a:dk1>
      <a:lt1>
        <a:srgbClr val="FFFFFF"/>
      </a:lt1>
      <a:dk2>
        <a:srgbClr val="2F6B3A"/>
      </a:dk2>
      <a:lt2>
        <a:srgbClr val="EEF6F0"/>
      </a:lt2>
      <a:accent1>
        <a:srgbClr val="2F6B3A"/>
      </a:accent1>
      <a:accent2>
        <a:srgbClr val="4F9D69"/>
      </a:accent2>
      <a:accent3>
        <a:srgbClr val="A8D5BA"/>
      </a:accent3>
      <a:accent4>
        <a:srgbClr val="D9480F"/>
      </a:accent4>
      <a:accent5>
        <a:srgbClr val="1F3D26"/>
      </a:accent5>
      <a:accent6>
        <a:srgbClr val="E9A23B"/>
      </a:accent6>
      <a:hlink>
        <a:srgbClr val="2F6B3A"/>
      </a:hlink>
      <a:folHlink>
        <a:srgbClr val="4F9D69"/>
      </a:folHlink>
    </a:clrScheme>
    <a:fontScheme name="Sen Da Xin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 Đá Xinh – Website TMĐT bán sen đá và trợ lý ảo Bé Sen</dc:title>
  <dc:subject>Đồ án môn học IE104 – Internet và công nghệ Web</dc:subject>
  <dc:creator>Trần Thị Thanh Hương – 25210281</dc:creator>
  <cp:lastModifiedBy>Trần Thị Thanh Hương – 25210281</cp:lastModifiedBy>
  <cp:revision>1</cp:revision>
  <dcterms:created xsi:type="dcterms:W3CDTF">2026-10-04T08:59:48Z</dcterms:created>
  <dcterms:modified xsi:type="dcterms:W3CDTF">2026-10-04T08:59:48Z</dcterms:modified>
</cp:coreProperties>
</file>